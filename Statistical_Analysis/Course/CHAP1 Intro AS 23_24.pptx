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hn3BZ1gxXho7bb2Hhw1DXb3URH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A3A6A0-9626-4E92-88C6-8A900A3FDA7C}">
  <a:tblStyle styleId="{89A3A6A0-9626-4E92-88C6-8A900A3FDA7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fill>
          <a:solidFill>
            <a:srgbClr val="CA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AC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fr-FR" sz="1200">
                <a:latin typeface="Times New Roman"/>
                <a:ea typeface="Times New Roman"/>
                <a:cs typeface="Times New Roman"/>
                <a:sym typeface="Times New Roman"/>
              </a:rPr>
              <a:t>Exemple: installation du package timeSeries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Lors d’une étude statistique, il peut arriver que certaines données ne soient pas disponibles : on dit que </a:t>
            </a:r>
            <a:r>
              <a:rPr b="1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donnée est manquante</a:t>
            </a:r>
            <a:endParaRPr/>
          </a:p>
        </p:txBody>
      </p:sp>
      <p:sp>
        <p:nvSpPr>
          <p:cNvPr id="274" name="Google Shape;274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 défaut la matrice se remplit colonne par colonne, pour la remplir par ligne on ajoute </a:t>
            </a:r>
            <a:r>
              <a:rPr b="1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byrow=T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manipulation des matrice se fait oralement</a:t>
            </a:r>
            <a:endParaRPr/>
          </a:p>
        </p:txBody>
      </p:sp>
      <p:sp>
        <p:nvSpPr>
          <p:cNvPr id="308" name="Google Shape;308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R vous donne alors la main de pouvoir taper les valeurs d’un jeu de données une par une :</a:t>
            </a:r>
            <a:endParaRPr/>
          </a:p>
        </p:txBody>
      </p:sp>
      <p:sp>
        <p:nvSpPr>
          <p:cNvPr id="370" name="Google Shape;370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50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5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50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5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4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5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5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8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cran.r-project.org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251520" y="1412776"/>
            <a:ext cx="8458200" cy="216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857250" lvl="0" marL="8572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Times New Roman"/>
              <a:buNone/>
            </a:pPr>
            <a:r>
              <a:rPr lang="fr-FR" sz="6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à l’Analyse Statistique</a:t>
            </a:r>
            <a:endParaRPr b="0" sz="6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851920" y="4081002"/>
            <a:ext cx="30963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4ERP-BI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292080" y="6488668"/>
            <a:ext cx="385192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Année universitaire 202</a:t>
            </a:r>
            <a:r>
              <a:rPr b="1"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/202</a:t>
            </a:r>
            <a:r>
              <a:rPr b="1"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4150" y="451072"/>
            <a:ext cx="2335700" cy="86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b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Pour commencer…</a:t>
            </a:r>
            <a:b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Statistique des données</a:t>
            </a:r>
            <a:br>
              <a:rPr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294675" y="2518175"/>
            <a:ext cx="2625300" cy="194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890050" y="2598550"/>
            <a:ext cx="2625300" cy="194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3259350" y="4313025"/>
            <a:ext cx="2625300" cy="194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522375" y="3147725"/>
            <a:ext cx="2397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fr-FR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Analyse descriptive</a:t>
            </a:r>
            <a:endParaRPr b="1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3384450" y="4951875"/>
            <a:ext cx="307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fr-FR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Analyse inférentielle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174000" y="3228900"/>
            <a:ext cx="2057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fr-FR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Analyse prédictive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b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Pour commencer…</a:t>
            </a:r>
            <a:b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Statistique des données</a:t>
            </a:r>
            <a:br>
              <a:rPr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294675" y="2518175"/>
            <a:ext cx="2625300" cy="19422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890050" y="2598550"/>
            <a:ext cx="2625300" cy="194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259350" y="4313025"/>
            <a:ext cx="2625300" cy="1942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522375" y="3147725"/>
            <a:ext cx="2397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fr-FR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Analyse descriptive</a:t>
            </a:r>
            <a:endParaRPr b="1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3384450" y="4951875"/>
            <a:ext cx="307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fr-FR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Analyse inférentielle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6174000" y="3228900"/>
            <a:ext cx="2057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fr-FR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Analyse prédictive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714075" y="52389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fr-FR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Objectifs du module: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403648" y="3645024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44952" y="2167112"/>
            <a:ext cx="84249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Comprendre les concepts liés aux outils quantitatifs de base pour l'aide à la décision : statistique descriptive et l’inférence statistique.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Faire l’analyse  exploratoire des données statistiques 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Pratiquer les techniques statistiques à travers une familiarisation avec les outils </a:t>
            </a:r>
            <a:r>
              <a:rPr b="1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d’un environnement statistique </a:t>
            </a: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(R,Python,Excel…)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Savoir interpréter les résultats numériques et graphiques liés à la statistique élémentaire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3131840" y="945454"/>
            <a:ext cx="24416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fr-FR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vs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4499992" y="1844824"/>
            <a:ext cx="0" cy="374441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Dot"/>
            <a:miter lim="800000"/>
            <a:headEnd len="sm" w="sm" type="none"/>
            <a:tailEnd len="sm" w="sm" type="none"/>
          </a:ln>
        </p:spPr>
      </p:cxnSp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1844824"/>
            <a:ext cx="1671663" cy="616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Python Logo | Python Software Foundation" id="132" name="Google Shape;1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2120" y="1844824"/>
            <a:ext cx="2008726" cy="67848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4725783" y="2804199"/>
            <a:ext cx="381642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est plus adapté à la manipulation de données et aux tâches répétitives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66224" y="2834718"/>
            <a:ext cx="430577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est meilleur pour l’analyse et l’exploration d’ensembles de données.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40888" y="4116208"/>
            <a:ext cx="435644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est plus adapté pour les projets lourds en statistiques et les explorations ponctuelles d’ensembles de données.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572000" y="4223673"/>
            <a:ext cx="457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permet de créer de site web et d’automatiser les processus.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688" y="2348880"/>
            <a:ext cx="2428875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685513"/>
            <a:ext cx="3660715" cy="121268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/>
        </p:nvSpPr>
        <p:spPr>
          <a:xfrm>
            <a:off x="975407" y="1484784"/>
            <a:ext cx="73999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 Principal</a:t>
            </a: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Effectuer des analyses statistiques sur les données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>
            <p:ph type="title"/>
          </p:nvPr>
        </p:nvSpPr>
        <p:spPr>
          <a:xfrm>
            <a:off x="457200" y="274638"/>
            <a:ext cx="8229600" cy="545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Times New Roman"/>
              <a:buNone/>
            </a:pPr>
            <a:r>
              <a:rPr b="1" lang="fr-FR" sz="4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Partie 1:</a:t>
            </a:r>
            <a:br>
              <a:rPr b="1" lang="fr-FR" sz="4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fr-FR" sz="4400">
                <a:latin typeface="Times New Roman"/>
                <a:ea typeface="Times New Roman"/>
                <a:cs typeface="Times New Roman"/>
                <a:sym typeface="Times New Roman"/>
              </a:rPr>
              <a:t>Présentation du logiciel R: les concepts de base, l’organisation des données.</a:t>
            </a:r>
            <a:endParaRPr b="1"/>
          </a:p>
        </p:txBody>
      </p:sp>
      <p:sp>
        <p:nvSpPr>
          <p:cNvPr id="150" name="Google Shape;150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Qu’est ce que R ?</a:t>
            </a:r>
            <a:endParaRPr/>
          </a:p>
        </p:txBody>
      </p:sp>
      <p:sp>
        <p:nvSpPr>
          <p:cNvPr id="157" name="Google Shape;157;p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En deux mots: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R est un langage de développement scientifique libre spécialisé dans le calcul et </a:t>
            </a:r>
            <a:r>
              <a:rPr lang="fr-FR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l’analyse statistique</a:t>
            </a: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C’est un clone du logiciel S-plus , qui était crée par Ross Ihaka &amp; Robert Gentleman 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Pourquoi R ?</a:t>
            </a:r>
            <a:endParaRPr/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395536" y="1844824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Disponible gratuitement.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Ouvert aux contribution de tous.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Langage de programmation complet et performant.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Syntaxe intuitive ,compact et programme court.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Logiciel multi-platforme.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Développements rapide(langage des script).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Installer R:</a:t>
            </a:r>
            <a:endParaRPr/>
          </a:p>
        </p:txBody>
      </p:sp>
      <p:sp>
        <p:nvSpPr>
          <p:cNvPr id="172" name="Google Shape;172;p1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1" marL="68580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Rendez vous sur la page du </a:t>
            </a:r>
            <a:r>
              <a:rPr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CRAN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 (Comprehensive R Archive Network): </a:t>
            </a:r>
            <a:endParaRPr/>
          </a:p>
          <a:p>
            <a:pPr indent="-228600" lvl="1" marL="68580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ts val="2800"/>
              <a:buNone/>
            </a:pPr>
            <a:r>
              <a:rPr lang="fr-FR" sz="2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http://cran.r-project.org/</a:t>
            </a:r>
            <a:endParaRPr sz="2800" u="sng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 u="sng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Notez également que les fonctions disponibles sont stockées dans une bibliothèque appelées </a:t>
            </a:r>
            <a:r>
              <a:rPr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packages.</a:t>
            </a:r>
            <a:endParaRPr sz="28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Lancer</a:t>
            </a:r>
            <a:r>
              <a:rPr lang="fr-FR"/>
              <a:t> R :</a:t>
            </a:r>
            <a:endParaRPr/>
          </a:p>
        </p:txBody>
      </p:sp>
      <p:sp>
        <p:nvSpPr>
          <p:cNvPr id="179" name="Google Shape;179;p11"/>
          <p:cNvSpPr txBox="1"/>
          <p:nvPr>
            <p:ph idx="1" type="body"/>
          </p:nvPr>
        </p:nvSpPr>
        <p:spPr>
          <a:xfrm>
            <a:off x="179512" y="1481328"/>
            <a:ext cx="850728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Vous devez alors vous rendre sous une fenêtre de la sorte: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81" name="Google Shape;1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2276872"/>
            <a:ext cx="4464496" cy="378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1"/>
          <p:cNvSpPr txBox="1"/>
          <p:nvPr/>
        </p:nvSpPr>
        <p:spPr>
          <a:xfrm>
            <a:off x="5724128" y="2636912"/>
            <a:ext cx="341987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Cette fenêtre s’appelle</a:t>
            </a:r>
            <a:r>
              <a:rPr b="1" i="0" lang="fr-FR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console.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</a:t>
            </a: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i="0" lang="fr-FR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c’est l’invite de commande qui apparait  automatiquement au début de chaque ligne de commande.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apparait en début de ligne si la ligne précédente est incomplète</a:t>
            </a:r>
            <a:r>
              <a:rPr b="0" i="0" lang="fr-F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 txBox="1"/>
          <p:nvPr>
            <p:ph type="title"/>
          </p:nvPr>
        </p:nvSpPr>
        <p:spPr>
          <a:xfrm>
            <a:off x="395536" y="260648"/>
            <a:ext cx="8229600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fr-FR" sz="4800">
                <a:latin typeface="Times New Roman"/>
                <a:ea typeface="Times New Roman"/>
                <a:cs typeface="Times New Roman"/>
                <a:sym typeface="Times New Roman"/>
              </a:rPr>
              <a:t>Installer et utiliser un package:</a:t>
            </a:r>
            <a:endParaRPr/>
          </a:p>
        </p:txBody>
      </p:sp>
      <p:pic>
        <p:nvPicPr>
          <p:cNvPr id="189" name="Google Shape;189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1800" y="1340768"/>
            <a:ext cx="3600400" cy="230425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191" name="Google Shape;191;p12"/>
          <p:cNvCxnSpPr/>
          <p:nvPr/>
        </p:nvCxnSpPr>
        <p:spPr>
          <a:xfrm>
            <a:off x="2339752" y="1556792"/>
            <a:ext cx="792088" cy="2880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92" name="Google Shape;192;p12"/>
          <p:cNvSpPr txBox="1"/>
          <p:nvPr/>
        </p:nvSpPr>
        <p:spPr>
          <a:xfrm>
            <a:off x="0" y="1268760"/>
            <a:ext cx="27718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Voir si le package est déjà installé, si oui inutile de le télécharger de nouveau.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12"/>
          <p:cNvCxnSpPr/>
          <p:nvPr/>
        </p:nvCxnSpPr>
        <p:spPr>
          <a:xfrm flipH="1" rot="10800000">
            <a:off x="2483768" y="2708920"/>
            <a:ext cx="648072" cy="3600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94" name="Google Shape;194;p12"/>
          <p:cNvSpPr txBox="1"/>
          <p:nvPr/>
        </p:nvSpPr>
        <p:spPr>
          <a:xfrm>
            <a:off x="0" y="2780928"/>
            <a:ext cx="262778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Installer via internet, si le package n’existe pas dans la liste.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3808" y="3212976"/>
            <a:ext cx="2200275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2"/>
          <p:cNvSpPr txBox="1"/>
          <p:nvPr/>
        </p:nvSpPr>
        <p:spPr>
          <a:xfrm>
            <a:off x="0" y="4221088"/>
            <a:ext cx="291581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Sélectionner le package à installer puis « OK 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5696" y="5157192"/>
            <a:ext cx="3024336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 txBox="1"/>
          <p:nvPr/>
        </p:nvSpPr>
        <p:spPr>
          <a:xfrm>
            <a:off x="0" y="5301208"/>
            <a:ext cx="19797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Téléchargement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Organiser un travail R</a:t>
            </a:r>
            <a:endParaRPr/>
          </a:p>
        </p:txBody>
      </p:sp>
      <p:sp>
        <p:nvSpPr>
          <p:cNvPr id="204" name="Google Shape;204;p13"/>
          <p:cNvSpPr txBox="1"/>
          <p:nvPr>
            <p:ph idx="1" type="body"/>
          </p:nvPr>
        </p:nvSpPr>
        <p:spPr>
          <a:xfrm>
            <a:off x="457200" y="1628800"/>
            <a:ext cx="8229600" cy="4378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Apprenez toujours à stocker vos fichiers dans un dossier réservé à cet usage (nommé </a:t>
            </a: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TravauxEspritR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Tapez toutes vos instructions R dans une fenêtre de script appelée script ou R Editor.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06" name="Google Shape;2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3212976"/>
            <a:ext cx="2808312" cy="364502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3"/>
          <p:cNvSpPr/>
          <p:nvPr/>
        </p:nvSpPr>
        <p:spPr>
          <a:xfrm>
            <a:off x="611560" y="3717032"/>
            <a:ext cx="576064" cy="2160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5896" y="3212976"/>
            <a:ext cx="4608512" cy="364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/>
          <p:nvPr>
            <p:ph type="title"/>
          </p:nvPr>
        </p:nvSpPr>
        <p:spPr>
          <a:xfrm>
            <a:off x="620175" y="546350"/>
            <a:ext cx="7041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6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Affectation et affichage des variables:</a:t>
            </a:r>
            <a:endParaRPr sz="2760"/>
          </a:p>
        </p:txBody>
      </p:sp>
      <p:pic>
        <p:nvPicPr>
          <p:cNvPr id="214" name="Google Shape;214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9850" y="2249400"/>
            <a:ext cx="5270400" cy="273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683578" y="5363061"/>
            <a:ext cx="8460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fait la différence entre la majuscule et la minuscule.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nom de variable ne peut pas contenir des espaces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 commencer par un chiffre, sauf s'il est encadré  de guillemets.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Première prise en main:</a:t>
            </a:r>
            <a:endParaRPr/>
          </a:p>
        </p:txBody>
      </p:sp>
      <p:pic>
        <p:nvPicPr>
          <p:cNvPr id="222" name="Google Shape;2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8038" y="3284538"/>
            <a:ext cx="203041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24" name="Google Shape;224;p15"/>
          <p:cNvSpPr txBox="1"/>
          <p:nvPr/>
        </p:nvSpPr>
        <p:spPr>
          <a:xfrm>
            <a:off x="611560" y="1628800"/>
            <a:ext cx="806489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L'indice de masse corporelle (IMC) permet de déterminer la corpulence  d'une personne. Il se calcule au moyen de la formule suivante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1680" y="4293096"/>
            <a:ext cx="6219825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Utilisation des fonctions</a:t>
            </a:r>
            <a:endParaRPr/>
          </a:p>
        </p:txBody>
      </p:sp>
      <p:sp>
        <p:nvSpPr>
          <p:cNvPr id="231" name="Google Shape;231;p16"/>
          <p:cNvSpPr txBox="1"/>
          <p:nvPr>
            <p:ph idx="1" type="body"/>
          </p:nvPr>
        </p:nvSpPr>
        <p:spPr>
          <a:xfrm>
            <a:off x="457200" y="1481328"/>
            <a:ext cx="84352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 sz="2800"/>
              <a:t> 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Le logiciel R contient de nombreuses autres fonctions dans sa version de base, et on peut en ajouter des milliers d'autres.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Exemple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: On peut nous même créer la fonction </a:t>
            </a: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combinaison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à partir de la fonction </a:t>
            </a: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factorial</a:t>
            </a:r>
            <a:r>
              <a:rPr b="1" lang="fr-FR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232" name="Google Shape;232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33" name="Google Shape;2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2348880"/>
            <a:ext cx="8009384" cy="53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9632" y="4365104"/>
            <a:ext cx="4968552" cy="1656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5856" y="3645024"/>
            <a:ext cx="1872208" cy="792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/>
          <p:nvPr>
            <p:ph type="title"/>
          </p:nvPr>
        </p:nvSpPr>
        <p:spPr>
          <a:xfrm>
            <a:off x="395536" y="278092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Les données sur R</a:t>
            </a:r>
            <a:endParaRPr/>
          </a:p>
        </p:txBody>
      </p:sp>
      <p:sp>
        <p:nvSpPr>
          <p:cNvPr id="241" name="Google Shape;241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3534536" y="1988840"/>
            <a:ext cx="226696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fr-FR" sz="4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Partie 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755576" y="1556792"/>
            <a:ext cx="2160240" cy="1728192"/>
          </a:xfrm>
          <a:prstGeom prst="ellipse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5076056" y="1556792"/>
            <a:ext cx="2160240" cy="1728192"/>
          </a:xfrm>
          <a:prstGeom prst="ellipse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1907704" y="908720"/>
            <a:ext cx="1368152" cy="936104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2026400" y="1201894"/>
            <a:ext cx="9252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2051616" y="2816932"/>
            <a:ext cx="1368152" cy="936104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2172311" y="3132316"/>
            <a:ext cx="12474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Numérique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71500" y="2708920"/>
            <a:ext cx="1368152" cy="936104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186800" y="2847144"/>
            <a:ext cx="11737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Chaîne 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caractères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5868144" y="862720"/>
            <a:ext cx="1368152" cy="936104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Matrice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6543732" y="2806584"/>
            <a:ext cx="1368152" cy="936104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4067944" y="1880828"/>
            <a:ext cx="1368152" cy="936104"/>
          </a:xfrm>
          <a:prstGeom prst="ellipse">
            <a:avLst/>
          </a:prstGeom>
          <a:solidFill>
            <a:srgbClr val="7F7F7F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Vecteur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8034" y="4653136"/>
            <a:ext cx="2901318" cy="201791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8"/>
          <p:cNvSpPr/>
          <p:nvPr/>
        </p:nvSpPr>
        <p:spPr>
          <a:xfrm>
            <a:off x="5416664" y="3791116"/>
            <a:ext cx="360040" cy="792088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3042568" y="3791116"/>
            <a:ext cx="360040" cy="792088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"/>
          <p:cNvSpPr txBox="1"/>
          <p:nvPr>
            <p:ph type="title"/>
          </p:nvPr>
        </p:nvSpPr>
        <p:spPr>
          <a:xfrm>
            <a:off x="395536" y="0"/>
            <a:ext cx="8229600" cy="778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Natures des données </a:t>
            </a:r>
            <a:endParaRPr/>
          </a:p>
        </p:txBody>
      </p:sp>
      <p:sp>
        <p:nvSpPr>
          <p:cNvPr id="268" name="Google Shape;268;p19"/>
          <p:cNvSpPr txBox="1"/>
          <p:nvPr>
            <p:ph idx="1" type="body"/>
          </p:nvPr>
        </p:nvSpPr>
        <p:spPr>
          <a:xfrm>
            <a:off x="914400" y="836712"/>
            <a:ext cx="8229600" cy="576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Les différentes natures de données sont :</a:t>
            </a:r>
            <a:endParaRPr/>
          </a:p>
          <a:p>
            <a:pPr indent="-177800" lvl="0" marL="4492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  numeric: 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les entiers (integer) et les réels (real)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5587" lvl="0" marL="6207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character: </a:t>
            </a:r>
            <a:r>
              <a:rPr lang="fr-FR" sz="2600">
                <a:latin typeface="Times New Roman"/>
                <a:ea typeface="Times New Roman"/>
                <a:cs typeface="Times New Roman"/>
                <a:sym typeface="Times New Roman"/>
              </a:rPr>
              <a:t>Toute information mise entre guillemets (simple' ou double ") correspond à une chaine de caractères</a:t>
            </a:r>
            <a:endParaRPr/>
          </a:p>
          <a:p>
            <a:pPr indent="-177800" lvl="0" marL="3651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 logical 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3651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 complex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La fonction </a:t>
            </a:r>
            <a:r>
              <a:rPr b="1"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mode()</a:t>
            </a: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 permettent de donner la nature d’un élément.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70" name="Google Shape;2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1800" y="3356992"/>
            <a:ext cx="1676400" cy="1656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"/>
          <p:cNvSpPr txBox="1"/>
          <p:nvPr>
            <p:ph type="title"/>
          </p:nvPr>
        </p:nvSpPr>
        <p:spPr>
          <a:xfrm>
            <a:off x="-828600" y="332656"/>
            <a:ext cx="8229600" cy="778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572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Les données manquantes</a:t>
            </a:r>
            <a:endParaRPr/>
          </a:p>
        </p:txBody>
      </p:sp>
      <p:sp>
        <p:nvSpPr>
          <p:cNvPr id="277" name="Google Shape;277;p20"/>
          <p:cNvSpPr txBox="1"/>
          <p:nvPr>
            <p:ph idx="1" type="body"/>
          </p:nvPr>
        </p:nvSpPr>
        <p:spPr>
          <a:xfrm>
            <a:off x="457200" y="980728"/>
            <a:ext cx="8229600" cy="5877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       -  NA :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symbole des valeurs manquantes.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na.rm</a:t>
            </a:r>
            <a:r>
              <a:rPr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: permet d’enlever les valeurs manquantes avant de manipuler les données.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na.omit 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: fonction permet d’éliminer les éléments d’un vecteur ou les lignes d’une matrice qui contiennent des valeurs manquantes.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79" name="Google Shape;2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3728" y="2204864"/>
            <a:ext cx="3891880" cy="1296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776" y="4365104"/>
            <a:ext cx="4392488" cy="2492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"/>
          <p:cNvSpPr txBox="1"/>
          <p:nvPr>
            <p:ph type="title"/>
          </p:nvPr>
        </p:nvSpPr>
        <p:spPr>
          <a:xfrm>
            <a:off x="467544" y="2606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fr-FR" sz="6000">
                <a:latin typeface="Times New Roman"/>
                <a:ea typeface="Times New Roman"/>
                <a:cs typeface="Times New Roman"/>
                <a:sym typeface="Times New Roman"/>
              </a:rPr>
              <a:t>Les fonctions is/as</a:t>
            </a:r>
            <a:endParaRPr/>
          </a:p>
        </p:txBody>
      </p:sp>
      <p:sp>
        <p:nvSpPr>
          <p:cNvPr id="287" name="Google Shape;287;p2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is.xxx(objet) 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: pour tester si un objet est de type xxx. Avec xxx=(numeric, character, logical, etc).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fr-FR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as.xxx(objet)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 : convertir un objet au type d’objet xxx. Avec xxx=(numeric, character, logical, etc).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Exemple: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89" name="Google Shape;2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776" y="3789040"/>
            <a:ext cx="3600400" cy="2520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"/>
          <p:cNvSpPr txBox="1"/>
          <p:nvPr>
            <p:ph type="title"/>
          </p:nvPr>
        </p:nvSpPr>
        <p:spPr>
          <a:xfrm>
            <a:off x="827584" y="33265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Les structures des données :</a:t>
            </a:r>
            <a:endParaRPr/>
          </a:p>
        </p:txBody>
      </p:sp>
      <p:sp>
        <p:nvSpPr>
          <p:cNvPr id="295" name="Google Shape;295;p2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Les différents structures de données sont: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    - Les vecteurs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       -Les matrices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          -Les listes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            -Les data. Frame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On utilise </a:t>
            </a:r>
            <a:r>
              <a:rPr b="1" lang="fr-FR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class() </a:t>
            </a: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pour  connaître la structure d’un objet R.</a:t>
            </a:r>
            <a:endParaRPr/>
          </a:p>
        </p:txBody>
      </p:sp>
      <p:sp>
        <p:nvSpPr>
          <p:cNvPr id="296" name="Google Shape;296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Times New Roman"/>
              <a:buNone/>
            </a:pPr>
            <a:r>
              <a:rPr lang="fr-FR" sz="6600">
                <a:latin typeface="Times New Roman"/>
                <a:ea typeface="Times New Roman"/>
                <a:cs typeface="Times New Roman"/>
                <a:sym typeface="Times New Roman"/>
              </a:rPr>
              <a:t>1. Les vecteurs</a:t>
            </a:r>
            <a:endParaRPr/>
          </a:p>
        </p:txBody>
      </p:sp>
      <p:sp>
        <p:nvSpPr>
          <p:cNvPr id="302" name="Google Shape;302;p2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Tous les éléments d’un vecteur sont de même type.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Les fonctions les plus utilisées pour créer des vecteurs sont </a:t>
            </a: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« c », « rep »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et</a:t>
            </a: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 « seq »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304" name="Google Shape;3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3728" y="3429000"/>
            <a:ext cx="4248472" cy="295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 txBox="1"/>
          <p:nvPr>
            <p:ph type="title"/>
          </p:nvPr>
        </p:nvSpPr>
        <p:spPr>
          <a:xfrm>
            <a:off x="457200" y="274638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Times New Roman"/>
              <a:buNone/>
            </a:pPr>
            <a:r>
              <a:rPr lang="fr-FR" sz="7200">
                <a:latin typeface="Times New Roman"/>
                <a:ea typeface="Times New Roman"/>
                <a:cs typeface="Times New Roman"/>
                <a:sym typeface="Times New Roman"/>
              </a:rPr>
              <a:t>2. Les </a:t>
            </a:r>
            <a:r>
              <a:rPr lang="fr-FR" sz="6600">
                <a:latin typeface="Times New Roman"/>
                <a:ea typeface="Times New Roman"/>
                <a:cs typeface="Times New Roman"/>
                <a:sym typeface="Times New Roman"/>
              </a:rPr>
              <a:t>matrices</a:t>
            </a:r>
            <a:endParaRPr/>
          </a:p>
        </p:txBody>
      </p:sp>
      <p:sp>
        <p:nvSpPr>
          <p:cNvPr id="311" name="Google Shape;311;p24"/>
          <p:cNvSpPr txBox="1"/>
          <p:nvPr>
            <p:ph idx="1" type="body"/>
          </p:nvPr>
        </p:nvSpPr>
        <p:spPr>
          <a:xfrm>
            <a:off x="457200" y="1196752"/>
            <a:ext cx="8229600" cy="4810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Les matrices sont créées avec la fonction </a:t>
            </a:r>
            <a:r>
              <a:rPr lang="fr-FR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matrix() </a:t>
            </a: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à partir d'un vecteur.</a:t>
            </a:r>
            <a:r>
              <a:rPr lang="fr-FR" sz="36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On doit fixer le nombre de colonnes </a:t>
            </a:r>
            <a:r>
              <a:rPr lang="fr-FR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ncol </a:t>
            </a: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et/ou le nombre de lignes </a:t>
            </a:r>
            <a:r>
              <a:rPr lang="fr-FR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nrow.</a:t>
            </a:r>
            <a:endParaRPr sz="3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8191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3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Pour concaténer deux ou plusieurs matrices on utilise les fonctions 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1" lang="fr-FR" sz="3600">
                <a:latin typeface="Times New Roman"/>
                <a:ea typeface="Times New Roman"/>
                <a:cs typeface="Times New Roman"/>
                <a:sym typeface="Times New Roman"/>
              </a:rPr>
              <a:t>rbind()</a:t>
            </a: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 pour la concaténation verticale des matrices.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1" lang="fr-FR" sz="3600">
                <a:latin typeface="Times New Roman"/>
                <a:ea typeface="Times New Roman"/>
                <a:cs typeface="Times New Roman"/>
                <a:sym typeface="Times New Roman"/>
              </a:rPr>
              <a:t>cbind()</a:t>
            </a: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 pour la concaténation horizontale des matrices.</a:t>
            </a:r>
            <a:endParaRPr/>
          </a:p>
          <a:p>
            <a:pPr indent="-6857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600"/>
          </a:p>
        </p:txBody>
      </p:sp>
      <p:sp>
        <p:nvSpPr>
          <p:cNvPr id="312" name="Google Shape;312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313" name="Google Shape;3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712" y="2204864"/>
            <a:ext cx="3744416" cy="1944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"/>
          <p:cNvSpPr txBox="1"/>
          <p:nvPr>
            <p:ph type="title"/>
          </p:nvPr>
        </p:nvSpPr>
        <p:spPr>
          <a:xfrm>
            <a:off x="467544" y="260648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 New Roman"/>
              <a:buNone/>
            </a:pPr>
            <a:r>
              <a:rPr lang="fr-FR" sz="8000">
                <a:latin typeface="Times New Roman"/>
                <a:ea typeface="Times New Roman"/>
                <a:cs typeface="Times New Roman"/>
                <a:sym typeface="Times New Roman"/>
              </a:rPr>
              <a:t>3. Les listes </a:t>
            </a:r>
            <a:endParaRPr/>
          </a:p>
        </p:txBody>
      </p:sp>
      <p:sp>
        <p:nvSpPr>
          <p:cNvPr id="319" name="Google Shape;319;p25"/>
          <p:cNvSpPr txBox="1"/>
          <p:nvPr>
            <p:ph idx="1" type="body"/>
          </p:nvPr>
        </p:nvSpPr>
        <p:spPr>
          <a:xfrm>
            <a:off x="539552" y="1196752"/>
            <a:ext cx="8229600" cy="4882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Les listes est une structure de données très flexible et très utilisée dans R. Elles peuvent regrouper des données de différents types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La constitution d’une liste passe par la fonction suivante       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list(nom1=el1,nom2=el2,...),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20" name="Google Shape;320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321" name="Google Shape;3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696" y="3356992"/>
            <a:ext cx="4608512" cy="2664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"/>
          <p:cNvSpPr txBox="1"/>
          <p:nvPr>
            <p:ph type="title"/>
          </p:nvPr>
        </p:nvSpPr>
        <p:spPr>
          <a:xfrm>
            <a:off x="467544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Times New Roman"/>
              <a:buNone/>
            </a:pPr>
            <a:r>
              <a:rPr lang="fr-FR" sz="6600">
                <a:latin typeface="Times New Roman"/>
                <a:ea typeface="Times New Roman"/>
                <a:cs typeface="Times New Roman"/>
                <a:sym typeface="Times New Roman"/>
              </a:rPr>
              <a:t>4. Data Frame</a:t>
            </a:r>
            <a:endParaRPr sz="6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26"/>
          <p:cNvSpPr txBox="1"/>
          <p:nvPr>
            <p:ph idx="1" type="body"/>
          </p:nvPr>
        </p:nvSpPr>
        <p:spPr>
          <a:xfrm>
            <a:off x="457200" y="1196752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Ce type de structure de données est consacré au stockage des données destinées</a:t>
            </a: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à l’analyse.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Conceptuellement, c'est une matrice dont les lignes correspondent aux individus et les colonnes aux variables (ou caractères) mesurées sur ces derniers.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La syntaxe de création d’un tableau de données est le suivant 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                     </a:t>
            </a: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data.frame(nom1=var1,nom2=var2,...)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28" name="Google Shape;328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329" name="Google Shape;32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149080"/>
            <a:ext cx="8280920" cy="2708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335" name="Google Shape;33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25" y="1493425"/>
            <a:ext cx="8953325" cy="468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/>
          <p:nvPr>
            <p:ph type="title"/>
          </p:nvPr>
        </p:nvSpPr>
        <p:spPr>
          <a:xfrm>
            <a:off x="539552" y="0"/>
            <a:ext cx="8229600" cy="90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Ce qu’il faut retenir</a:t>
            </a:r>
            <a:endParaRPr/>
          </a:p>
        </p:txBody>
      </p:sp>
      <p:graphicFrame>
        <p:nvGraphicFramePr>
          <p:cNvPr id="341" name="Google Shape;341;p28"/>
          <p:cNvGraphicFramePr/>
          <p:nvPr/>
        </p:nvGraphicFramePr>
        <p:xfrm>
          <a:off x="1115616" y="9807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{89A3A6A0-9626-4E92-88C6-8A900A3FDA7C}</a:tableStyleId>
              </a:tblPr>
              <a:tblGrid>
                <a:gridCol w="3453125"/>
                <a:gridCol w="4035725"/>
              </a:tblGrid>
              <a:tr h="39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Fonction</a:t>
                      </a:r>
                      <a:endParaRPr b="1" sz="18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Description</a:t>
                      </a:r>
                      <a:endParaRPr b="1" sz="18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4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a &lt;- valeur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Affecter valeur  à la variable a.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4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typeof(), mode()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Récupérer la nature d’un objet.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4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class()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Connaitre la nature des données.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4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is.xxx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Demander si l’objet est de type xxx.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4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as.xxx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Convertir un objet au type xxx.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4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NA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Valeur manquante.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61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is.na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Déterminer s’il existe des valeurs manquantes.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4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c()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Créer un vecteur.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61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seq(m, n, i)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Créer une suite de nombre de m à n en incrémentant par i.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4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rep(m,n)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Créer une suite contenant m, n fois.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4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matrix()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Créer une matrice.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4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list()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Créer une liste.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4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data.frame()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800" u="none" cap="none" strike="noStrike"/>
                        <a:t>Créer un tableau de données.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42" name="Google Shape;342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 txBox="1"/>
          <p:nvPr>
            <p:ph type="ctrTitle"/>
          </p:nvPr>
        </p:nvSpPr>
        <p:spPr>
          <a:xfrm>
            <a:off x="-252536" y="2031728"/>
            <a:ext cx="9649072" cy="19442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b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fr-FR" sz="4400">
                <a:latin typeface="Times New Roman"/>
                <a:ea typeface="Times New Roman"/>
                <a:cs typeface="Times New Roman"/>
                <a:sym typeface="Times New Roman"/>
              </a:rPr>
              <a:t>Manipulation des données sous R</a:t>
            </a:r>
            <a:endParaRPr/>
          </a:p>
        </p:txBody>
      </p:sp>
      <p:sp>
        <p:nvSpPr>
          <p:cNvPr id="348" name="Google Shape;348;p29"/>
          <p:cNvSpPr/>
          <p:nvPr/>
        </p:nvSpPr>
        <p:spPr>
          <a:xfrm>
            <a:off x="2915816" y="2276872"/>
            <a:ext cx="269016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fr-FR" sz="4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Partie 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Objectifs:</a:t>
            </a:r>
            <a:endParaRPr/>
          </a:p>
        </p:txBody>
      </p:sp>
      <p:sp>
        <p:nvSpPr>
          <p:cNvPr id="354" name="Google Shape;354;p3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Importer des données à partir d’un fichier texte.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Exporter des données en dehors de 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Manipuler les différents types de données.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Réaliser des graphes avec R.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Environnement de travail </a:t>
            </a:r>
            <a:endParaRPr/>
          </a:p>
        </p:txBody>
      </p:sp>
      <p:sp>
        <p:nvSpPr>
          <p:cNvPr id="360" name="Google Shape;360;p31"/>
          <p:cNvSpPr txBox="1"/>
          <p:nvPr>
            <p:ph idx="1" type="body"/>
          </p:nvPr>
        </p:nvSpPr>
        <p:spPr>
          <a:xfrm>
            <a:off x="457200" y="1481328"/>
            <a:ext cx="850728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getwd()</a:t>
            </a: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 :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pour connaitre le répertoire de travail actuel.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setwd()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:  pour changer le répertoire courant. Ou bien </a:t>
            </a:r>
            <a:r>
              <a:rPr b="1" i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«Fichier/Changer le répertoire courant»</a:t>
            </a: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et choisissez le répertoire adéquat.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ls()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: pour lister les variables existantes dans la session de travail.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rm()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: pour supprimer une variable.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Trouver de l’aide </a:t>
            </a:r>
            <a:endParaRPr/>
          </a:p>
        </p:txBody>
      </p:sp>
      <p:sp>
        <p:nvSpPr>
          <p:cNvPr id="366" name="Google Shape;366;p3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 sz="3200">
                <a:latin typeface="Times New Roman"/>
                <a:ea typeface="Times New Roman"/>
                <a:cs typeface="Times New Roman"/>
                <a:sym typeface="Times New Roman"/>
              </a:rPr>
              <a:t>help(str)</a:t>
            </a: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 : lance l’aide associée à la commande str.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 sz="3200">
                <a:latin typeface="Times New Roman"/>
                <a:ea typeface="Times New Roman"/>
                <a:cs typeface="Times New Roman"/>
                <a:sym typeface="Times New Roman"/>
              </a:rPr>
              <a:t>?str </a:t>
            </a: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: lance aussi l’aide associée à la commande str.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 sz="3200">
                <a:latin typeface="Times New Roman"/>
                <a:ea typeface="Times New Roman"/>
                <a:cs typeface="Times New Roman"/>
                <a:sym typeface="Times New Roman"/>
              </a:rPr>
              <a:t>apropos() </a:t>
            </a: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lang="fr-FR" sz="3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si on connait pas le nom exacte de la commande en indiquant un mot clé.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fr-FR" sz="3200">
                <a:latin typeface="Times New Roman"/>
                <a:ea typeface="Times New Roman"/>
                <a:cs typeface="Times New Roman"/>
                <a:sym typeface="Times New Roman"/>
              </a:rPr>
              <a:t>help.start()</a:t>
            </a: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lang="fr-FR" sz="3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lance l’aide en ligne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"/>
          <p:cNvSpPr txBox="1"/>
          <p:nvPr>
            <p:ph type="title"/>
          </p:nvPr>
        </p:nvSpPr>
        <p:spPr>
          <a:xfrm>
            <a:off x="611560" y="548680"/>
            <a:ext cx="8229600" cy="70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1. Saisie Manuelle des données</a:t>
            </a:r>
            <a:endParaRPr/>
          </a:p>
        </p:txBody>
      </p:sp>
      <p:sp>
        <p:nvSpPr>
          <p:cNvPr id="373" name="Google Shape;373;p33"/>
          <p:cNvSpPr txBox="1"/>
          <p:nvPr>
            <p:ph idx="1" type="body"/>
          </p:nvPr>
        </p:nvSpPr>
        <p:spPr>
          <a:xfrm>
            <a:off x="467544" y="1268760"/>
            <a:ext cx="8229600" cy="5376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En utilisant la fonction </a:t>
            </a: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scan()</a:t>
            </a:r>
            <a:r>
              <a:rPr b="1" lang="fr-FR" sz="24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la saisie d’une série de données peut être assurée par la main. R vous donne alors la main de pouvoir taper les valeurs d’un jeu de données une par une.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Le premier retour-chariot après une chaine vide met fin à la saisie.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74" name="Google Shape;37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640" y="2276872"/>
            <a:ext cx="2952328" cy="2736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"/>
          <p:cNvSpPr txBox="1"/>
          <p:nvPr>
            <p:ph idx="1" type="body"/>
          </p:nvPr>
        </p:nvSpPr>
        <p:spPr>
          <a:xfrm>
            <a:off x="539552" y="126876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Les fonctions </a:t>
            </a:r>
            <a:r>
              <a:rPr b="1" lang="fr-FR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data.entry</a:t>
            </a: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 et </a:t>
            </a:r>
            <a:r>
              <a:rPr b="1" lang="fr-FR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de() </a:t>
            </a: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permettent la saisie manuelle d’un ensemble de données directement sous R.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3600">
                <a:latin typeface="Times New Roman"/>
                <a:ea typeface="Times New Roman"/>
                <a:cs typeface="Times New Roman"/>
                <a:sym typeface="Times New Roman"/>
              </a:rPr>
              <a:t>La création de données se fait directement dans un tableau qui s’ouvre dans une fenêtre auxiliaire 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Times New Roman"/>
              <a:buNone/>
            </a:pPr>
            <a:r>
              <a:rPr lang="fr-FR" sz="4900">
                <a:latin typeface="Times New Roman"/>
                <a:ea typeface="Times New Roman"/>
                <a:cs typeface="Times New Roman"/>
                <a:sym typeface="Times New Roman"/>
              </a:rPr>
              <a:t>2.Importation des données</a:t>
            </a:r>
            <a:endParaRPr/>
          </a:p>
        </p:txBody>
      </p:sp>
      <p:sp>
        <p:nvSpPr>
          <p:cNvPr id="385" name="Google Shape;385;p35"/>
          <p:cNvSpPr txBox="1"/>
          <p:nvPr>
            <p:ph idx="1" type="body"/>
          </p:nvPr>
        </p:nvSpPr>
        <p:spPr>
          <a:xfrm>
            <a:off x="457200" y="1481328"/>
            <a:ext cx="8229600" cy="4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Lorsque  les données sont  volumineuses, il n’est pas très utile d’utiliser R comme outil de saisie.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</a:pPr>
            <a:r>
              <a:rPr b="1" lang="fr-FR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read.table()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On utilise la fonction read.table() qui assure l’importation des tableaux de données externes enregistrés sous un éditeur texte.</a:t>
            </a:r>
            <a:endParaRPr/>
          </a:p>
        </p:txBody>
      </p:sp>
      <p:pic>
        <p:nvPicPr>
          <p:cNvPr id="386" name="Google Shape;38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57" y="5139542"/>
            <a:ext cx="8784976" cy="1152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827584" y="836712"/>
            <a:ext cx="8640960" cy="85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fr-FR" sz="3600">
                <a:latin typeface="Times New Roman"/>
                <a:ea typeface="Times New Roman"/>
                <a:cs typeface="Times New Roman"/>
                <a:sym typeface="Times New Roman"/>
              </a:rPr>
              <a:t>Paramètres de la fonction read.table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36"/>
          <p:cNvSpPr txBox="1"/>
          <p:nvPr>
            <p:ph idx="1" type="body"/>
          </p:nvPr>
        </p:nvSpPr>
        <p:spPr>
          <a:xfrm>
            <a:off x="467544" y="1700808"/>
            <a:ext cx="8229600" cy="4594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file= file.choose :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emplacement et nom du fichier à lire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header=T</a:t>
            </a: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Valeur logique indiquant si le fichier contient le nom des variables sur la première ligne.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: Les valeurs sur chaque ligne sont séparées par ce type de caractère.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</a:t>
            </a: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séparateur décimal pour les nombres.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98" name="Google Shape;398;p37"/>
          <p:cNvSpPr/>
          <p:nvPr/>
        </p:nvSpPr>
        <p:spPr>
          <a:xfrm>
            <a:off x="284549" y="2954650"/>
            <a:ext cx="86409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fonctions </a:t>
            </a:r>
            <a:r>
              <a:rPr b="1" i="0" lang="fr-FR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read.csv()</a:t>
            </a: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et compagnie sont en fait des dérivées de la fonction plus générique </a:t>
            </a:r>
            <a:r>
              <a:rPr b="1" i="0" lang="fr-FR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read.table()</a:t>
            </a: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7"/>
          <p:cNvSpPr txBox="1"/>
          <p:nvPr/>
        </p:nvSpPr>
        <p:spPr>
          <a:xfrm>
            <a:off x="179197" y="4058525"/>
            <a:ext cx="197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fr-F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Depuis Excel: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7"/>
          <p:cNvSpPr txBox="1"/>
          <p:nvPr/>
        </p:nvSpPr>
        <p:spPr>
          <a:xfrm>
            <a:off x="284550" y="4607975"/>
            <a:ext cx="8341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-FR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read.csv():</a:t>
            </a: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colonnes sont séparées par des virgules, et les unités et décimales sont séparées par un point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-FR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read.csv2():</a:t>
            </a: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les colonnes sont séparées par des points-virgules, et les décimales par des virgules.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37"/>
          <p:cNvSpPr txBox="1"/>
          <p:nvPr/>
        </p:nvSpPr>
        <p:spPr>
          <a:xfrm>
            <a:off x="305850" y="1500175"/>
            <a:ext cx="8532300" cy="1046700"/>
          </a:xfrm>
          <a:prstGeom prst="rect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csv</a:t>
            </a: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Comma Separated Value. Les colonnes sont séparées par des virgules.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37"/>
          <p:cNvSpPr txBox="1"/>
          <p:nvPr>
            <p:ph idx="4294967295" type="title"/>
          </p:nvPr>
        </p:nvSpPr>
        <p:spPr>
          <a:xfrm>
            <a:off x="907959" y="515237"/>
            <a:ext cx="86409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fr-FR" sz="3600">
                <a:latin typeface="Times New Roman"/>
                <a:ea typeface="Times New Roman"/>
                <a:cs typeface="Times New Roman"/>
                <a:sym typeface="Times New Roman"/>
              </a:rPr>
              <a:t>read.csv()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2780928"/>
            <a:ext cx="7019925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8"/>
          <p:cNvSpPr txBox="1"/>
          <p:nvPr/>
        </p:nvSpPr>
        <p:spPr>
          <a:xfrm>
            <a:off x="611560" y="1700808"/>
            <a:ext cx="69127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fonction read.ftable() permet de lire un tableau de contingence.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576" y="4005064"/>
            <a:ext cx="8044543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8"/>
          <p:cNvSpPr/>
          <p:nvPr/>
        </p:nvSpPr>
        <p:spPr>
          <a:xfrm>
            <a:off x="1043608" y="890437"/>
            <a:ext cx="235250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fr-FR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read.ftable()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fr-FR" sz="5400">
                <a:latin typeface="Times New Roman"/>
                <a:ea typeface="Times New Roman"/>
                <a:cs typeface="Times New Roman"/>
                <a:sym typeface="Times New Roman"/>
              </a:rPr>
              <a:t>Prise en main</a:t>
            </a:r>
            <a:endParaRPr/>
          </a:p>
        </p:txBody>
      </p:sp>
      <p:sp>
        <p:nvSpPr>
          <p:cNvPr id="416" name="Google Shape;416;p3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Dans votre dossier </a:t>
            </a: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TravauxEspritR ,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 commencez par enregistrer le fichier </a:t>
            </a:r>
            <a:r>
              <a:rPr b="1" i="1" lang="fr-FR" sz="2800">
                <a:latin typeface="Times New Roman"/>
                <a:ea typeface="Times New Roman"/>
                <a:cs typeface="Times New Roman"/>
                <a:sym typeface="Times New Roman"/>
              </a:rPr>
              <a:t>IntMedia.txt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  reçu dans votre boîte mail.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A travers le help chercher l’utilité de la fonction readLines()</a:t>
            </a:r>
            <a:endParaRPr/>
          </a:p>
          <a:p>
            <a:pPr indent="-30607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Taper readLines (’’IntMedia.txt’’,n=5)</a:t>
            </a:r>
            <a:endParaRPr/>
          </a:p>
          <a:p>
            <a:pPr indent="-30607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Préciser alors les paramètres à utiliser pour l’importation de ce fichier à travers la commande read.table()</a:t>
            </a:r>
            <a:endParaRPr/>
          </a:p>
          <a:p>
            <a:pPr indent="-30607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Accéder aux variables du tableau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Times New Roman"/>
              <a:buNone/>
            </a:pPr>
            <a:r>
              <a:rPr lang="fr-FR" sz="4900">
                <a:latin typeface="Times New Roman"/>
                <a:ea typeface="Times New Roman"/>
                <a:cs typeface="Times New Roman"/>
                <a:sym typeface="Times New Roman"/>
              </a:rPr>
              <a:t>3. Exportation des données</a:t>
            </a:r>
            <a:endParaRPr/>
          </a:p>
        </p:txBody>
      </p:sp>
      <p:sp>
        <p:nvSpPr>
          <p:cNvPr id="422" name="Google Shape;422;p40"/>
          <p:cNvSpPr txBox="1"/>
          <p:nvPr>
            <p:ph idx="1" type="body"/>
          </p:nvPr>
        </p:nvSpPr>
        <p:spPr>
          <a:xfrm>
            <a:off x="467544" y="177281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Une fois saisie, toutes les données définies sous R, peuvent être exportées de la console et sauvegardées dans un fichier texte pour qu’il soit utilisé ultérieurement.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La fonction  </a:t>
            </a:r>
            <a:r>
              <a:rPr b="1" lang="fr-FR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write.table(données, " nom_fichier ", sep= " \t") </a:t>
            </a:r>
            <a:r>
              <a:rPr lang="fr-FR" sz="3200">
                <a:latin typeface="Times New Roman"/>
                <a:ea typeface="Times New Roman"/>
                <a:cs typeface="Times New Roman"/>
                <a:sym typeface="Times New Roman"/>
              </a:rPr>
              <a:t>assure l’exportation des données.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28" name="Google Shape;428;p41"/>
          <p:cNvSpPr/>
          <p:nvPr/>
        </p:nvSpPr>
        <p:spPr>
          <a:xfrm>
            <a:off x="871779" y="349841"/>
            <a:ext cx="8064896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propose également des autres fonctions permettant d'exporter des données vers des formats variés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-FR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write.foreign</a:t>
            </a: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 l'extension foreign, permet d'exporter des données aux formats </a:t>
            </a:r>
            <a:r>
              <a:rPr b="0" i="0" lang="fr-FR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SAS</a:t>
            </a: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 </a:t>
            </a:r>
            <a:r>
              <a:rPr b="0" i="0" lang="fr-FR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SPSS</a:t>
            </a: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ou </a:t>
            </a:r>
            <a:r>
              <a:rPr b="0" i="0" lang="fr-FR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Stata</a:t>
            </a: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-FR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write.dbf</a:t>
            </a: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 l'extension foreign, permet d'exporter des données au format </a:t>
            </a:r>
            <a:r>
              <a:rPr b="0" i="0" lang="fr-FR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dBase</a:t>
            </a: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-FR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mls.export</a:t>
            </a: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 l'extension rgrs, permet d'exporter des données à destination de </a:t>
            </a:r>
            <a:r>
              <a:rPr b="0" i="0" lang="fr-FR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Modalisa</a:t>
            </a: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-FR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</a:t>
            </a:r>
            <a:r>
              <a:rPr b="0" i="0" lang="fr-F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: permet d'enregistrer des objets R sur le disque pour récupération ultérieure ou sur un autre système.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2"/>
          <p:cNvSpPr txBox="1"/>
          <p:nvPr>
            <p:ph idx="1" type="body"/>
          </p:nvPr>
        </p:nvSpPr>
        <p:spPr>
          <a:xfrm>
            <a:off x="467544" y="177281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() 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: renvoie la longueur d'un vecteur.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 ()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: permet d'ordonner les éléments d'un vecteur, par valeurs croissantes ou décroissantes.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 ()  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: réarrange les éléments d'un vecteur en sens inverse.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()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: comme son nom l'indique, enlève les doublons d'un vecteur.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names()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: attribuer un nom à chaque élément du vecteur.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duplicated () 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: indique les valeurs qui commencent à être répétées (parcourues de gauche a droite).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34" name="Google Shape;434;p4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fr-FR" sz="4400">
                <a:latin typeface="Times New Roman"/>
                <a:ea typeface="Times New Roman"/>
                <a:cs typeface="Times New Roman"/>
                <a:sym typeface="Times New Roman"/>
              </a:rPr>
              <a:t>4. Quelques commandes utiles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fr-FR" sz="4400">
                <a:latin typeface="Times New Roman"/>
                <a:ea typeface="Times New Roman"/>
                <a:cs typeface="Times New Roman"/>
                <a:sym typeface="Times New Roman"/>
              </a:rPr>
              <a:t>4. Quelques commandes utiles</a:t>
            </a:r>
            <a:endParaRPr/>
          </a:p>
        </p:txBody>
      </p:sp>
      <p:sp>
        <p:nvSpPr>
          <p:cNvPr id="440" name="Google Shape;440;p43"/>
          <p:cNvSpPr txBox="1"/>
          <p:nvPr>
            <p:ph idx="1" type="body"/>
          </p:nvPr>
        </p:nvSpPr>
        <p:spPr>
          <a:xfrm>
            <a:off x="467544" y="177281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 () :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taille de la matrice ou du data.frame.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nrow():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nombre de lignes.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ncol () :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nombre de colonnes.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dimnames () :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noms des lignes et des colonnes (sous la forme d'une liste).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names (), colnames () :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noms des colonnes.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fr-F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rownames () : 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noms des lignes.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