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sz="1200">
                <a:solidFill>
                  <a:schemeClr val="dk1"/>
                </a:solidFill>
                <a:latin typeface="Calibri"/>
                <a:ea typeface="Calibri"/>
                <a:cs typeface="Calibri"/>
                <a:sym typeface="Calibri"/>
              </a:rPr>
              <a:t>Le cours comporte deux volets :</a:t>
            </a:r>
            <a:endParaRPr/>
          </a:p>
          <a:p>
            <a:pPr indent="0" lvl="0" marL="0" rtl="0" algn="l">
              <a:lnSpc>
                <a:spcPct val="100000"/>
              </a:lnSpc>
              <a:spcBef>
                <a:spcPts val="0"/>
              </a:spcBef>
              <a:spcAft>
                <a:spcPts val="0"/>
              </a:spcAft>
              <a:buSzPts val="1400"/>
              <a:buNone/>
            </a:pPr>
            <a:r>
              <a:rPr lang="fr-FR" sz="1200">
                <a:solidFill>
                  <a:schemeClr val="dk1"/>
                </a:solidFill>
                <a:latin typeface="Calibri"/>
                <a:ea typeface="Calibri"/>
                <a:cs typeface="Calibri"/>
                <a:sym typeface="Calibri"/>
              </a:rPr>
              <a:t>Des chapitres de cours abordant des notions de statistiques et des connaissances essentielles sur le logiciel R.</a:t>
            </a:r>
            <a:endParaRPr/>
          </a:p>
          <a:p>
            <a:pPr indent="0" lvl="0" marL="0" rtl="0" algn="l">
              <a:lnSpc>
                <a:spcPct val="100000"/>
              </a:lnSpc>
              <a:spcBef>
                <a:spcPts val="0"/>
              </a:spcBef>
              <a:spcAft>
                <a:spcPts val="0"/>
              </a:spcAft>
              <a:buSzPts val="1400"/>
              <a:buNone/>
            </a:pPr>
            <a:r>
              <a:rPr lang="fr-FR" sz="1200">
                <a:solidFill>
                  <a:schemeClr val="dk1"/>
                </a:solidFill>
                <a:latin typeface="Calibri"/>
                <a:ea typeface="Calibri"/>
                <a:cs typeface="Calibri"/>
                <a:sym typeface="Calibri"/>
              </a:rPr>
              <a:t>Des travaux pratiques réalisés sur ordinateur. </a:t>
            </a:r>
            <a:endParaRPr/>
          </a:p>
          <a:p>
            <a:pPr indent="0" lvl="0" marL="0" rtl="0" algn="l">
              <a:lnSpc>
                <a:spcPct val="100000"/>
              </a:lnSpc>
              <a:spcBef>
                <a:spcPts val="0"/>
              </a:spcBef>
              <a:spcAft>
                <a:spcPts val="0"/>
              </a:spcAft>
              <a:buSzPts val="1400"/>
              <a:buNone/>
            </a:pPr>
            <a:r>
              <a:t/>
            </a:r>
            <a:endParaRPr/>
          </a:p>
        </p:txBody>
      </p:sp>
      <p:sp>
        <p:nvSpPr>
          <p:cNvPr id="364" name="Google Shape;36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118040" y="1477170"/>
            <a:ext cx="10266226" cy="2160240"/>
          </a:xfrm>
          <a:prstGeom prst="rect">
            <a:avLst/>
          </a:prstGeom>
          <a:noFill/>
          <a:ln>
            <a:noFill/>
          </a:ln>
        </p:spPr>
        <p:txBody>
          <a:bodyPr anchorCtr="0" anchor="b" bIns="45700" lIns="91425" spcFirstLastPara="1" rIns="91425" wrap="square" tIns="45700">
            <a:noAutofit/>
          </a:bodyPr>
          <a:lstStyle/>
          <a:p>
            <a:pPr indent="-857250" lvl="0" marL="857250" rtl="0" algn="ctr">
              <a:lnSpc>
                <a:spcPct val="90000"/>
              </a:lnSpc>
              <a:spcBef>
                <a:spcPts val="0"/>
              </a:spcBef>
              <a:spcAft>
                <a:spcPts val="0"/>
              </a:spcAft>
              <a:buClr>
                <a:schemeClr val="dk1"/>
              </a:buClr>
              <a:buSzPts val="8000"/>
              <a:buFont typeface="Times New Roman"/>
              <a:buNone/>
            </a:pPr>
            <a:r>
              <a:rPr lang="fr-FR" sz="8000">
                <a:latin typeface="Times New Roman"/>
                <a:ea typeface="Times New Roman"/>
                <a:cs typeface="Times New Roman"/>
                <a:sym typeface="Times New Roman"/>
              </a:rPr>
              <a:t>Préparation des données</a:t>
            </a:r>
            <a:endParaRPr sz="3200">
              <a:latin typeface="Times New Roman"/>
              <a:ea typeface="Times New Roman"/>
              <a:cs typeface="Times New Roman"/>
              <a:sym typeface="Times New Roman"/>
            </a:endParaRPr>
          </a:p>
        </p:txBody>
      </p:sp>
      <p:sp>
        <p:nvSpPr>
          <p:cNvPr id="89" name="Google Shape;89;p13"/>
          <p:cNvSpPr txBox="1"/>
          <p:nvPr/>
        </p:nvSpPr>
        <p:spPr>
          <a:xfrm>
            <a:off x="4320989" y="3976015"/>
            <a:ext cx="309634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Times New Roman"/>
                <a:ea typeface="Times New Roman"/>
                <a:cs typeface="Times New Roman"/>
                <a:sym typeface="Times New Roman"/>
              </a:rPr>
              <a:t>4ERP-BI</a:t>
            </a:r>
            <a:endParaRPr b="0" i="0" sz="2400" u="none" cap="none" strike="noStrike">
              <a:solidFill>
                <a:schemeClr val="dk1"/>
              </a:solidFill>
              <a:latin typeface="Calibri"/>
              <a:ea typeface="Calibri"/>
              <a:cs typeface="Calibri"/>
              <a:sym typeface="Calibri"/>
            </a:endParaRPr>
          </a:p>
        </p:txBody>
      </p:sp>
      <p:sp>
        <p:nvSpPr>
          <p:cNvPr id="90" name="Google Shape;90;p13"/>
          <p:cNvSpPr txBox="1"/>
          <p:nvPr/>
        </p:nvSpPr>
        <p:spPr>
          <a:xfrm>
            <a:off x="7563055" y="6288613"/>
            <a:ext cx="38519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Times New Roman"/>
                <a:ea typeface="Times New Roman"/>
                <a:cs typeface="Times New Roman"/>
                <a:sym typeface="Times New Roman"/>
              </a:rPr>
              <a:t>Année universitaire 202</a:t>
            </a:r>
            <a:r>
              <a:rPr lang="fr-FR" sz="2000">
                <a:solidFill>
                  <a:schemeClr val="dk1"/>
                </a:solidFill>
                <a:latin typeface="Times New Roman"/>
                <a:ea typeface="Times New Roman"/>
                <a:cs typeface="Times New Roman"/>
                <a:sym typeface="Times New Roman"/>
              </a:rPr>
              <a:t>3</a:t>
            </a:r>
            <a:r>
              <a:rPr b="0" i="0" lang="fr-FR" sz="2000" u="none" cap="none" strike="noStrike">
                <a:solidFill>
                  <a:schemeClr val="dk1"/>
                </a:solidFill>
                <a:latin typeface="Times New Roman"/>
                <a:ea typeface="Times New Roman"/>
                <a:cs typeface="Times New Roman"/>
                <a:sym typeface="Times New Roman"/>
              </a:rPr>
              <a:t>/</a:t>
            </a:r>
            <a:r>
              <a:rPr b="0" i="0" lang="fr-FR" sz="2000" u="none" cap="none" strike="noStrike">
                <a:solidFill>
                  <a:schemeClr val="dk1"/>
                </a:solidFill>
                <a:latin typeface="Times New Roman"/>
                <a:ea typeface="Times New Roman"/>
                <a:cs typeface="Times New Roman"/>
                <a:sym typeface="Times New Roman"/>
              </a:rPr>
              <a:t>202</a:t>
            </a:r>
            <a:r>
              <a:rPr lang="fr-FR" sz="2000">
                <a:solidFill>
                  <a:schemeClr val="dk1"/>
                </a:solidFill>
                <a:latin typeface="Times New Roman"/>
                <a:ea typeface="Times New Roman"/>
                <a:cs typeface="Times New Roman"/>
                <a:sym typeface="Times New Roman"/>
              </a:rPr>
              <a:t>4</a:t>
            </a:r>
            <a:endParaRPr b="0" i="0" sz="2000" u="none" cap="none" strike="noStrike">
              <a:solidFill>
                <a:schemeClr val="dk1"/>
              </a:solidFill>
              <a:latin typeface="Times New Roman"/>
              <a:ea typeface="Times New Roman"/>
              <a:cs typeface="Times New Roman"/>
              <a:sym typeface="Times New Roman"/>
            </a:endParaRPr>
          </a:p>
        </p:txBody>
      </p:sp>
      <p:pic>
        <p:nvPicPr>
          <p:cNvPr id="91" name="Google Shape;91;p13"/>
          <p:cNvPicPr preferRelativeResize="0"/>
          <p:nvPr/>
        </p:nvPicPr>
        <p:blipFill rotWithShape="1">
          <a:blip r:embed="rId3">
            <a:alphaModFix/>
          </a:blip>
          <a:srcRect b="0" l="0" r="0" t="0"/>
          <a:stretch/>
        </p:blipFill>
        <p:spPr>
          <a:xfrm>
            <a:off x="4797200" y="518047"/>
            <a:ext cx="2335700" cy="862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nvSpPr>
        <p:spPr>
          <a:xfrm>
            <a:off x="540914" y="1210614"/>
            <a:ext cx="11165982" cy="4154984"/>
          </a:xfrm>
          <a:prstGeom prst="rect">
            <a:avLst/>
          </a:prstGeom>
          <a:noFill/>
          <a:ln>
            <a:noFill/>
          </a:ln>
        </p:spPr>
        <p:txBody>
          <a:bodyPr anchorCtr="0" anchor="t" bIns="45700" lIns="91425" spcFirstLastPara="1" rIns="91425" wrap="square" tIns="45700">
            <a:spAutoFit/>
          </a:bodyPr>
          <a:lstStyle/>
          <a:p>
            <a:pPr indent="-400050" lvl="0" marL="400050" marR="0" rtl="0" algn="l">
              <a:lnSpc>
                <a:spcPct val="100000"/>
              </a:lnSpc>
              <a:spcBef>
                <a:spcPts val="0"/>
              </a:spcBef>
              <a:spcAft>
                <a:spcPts val="0"/>
              </a:spcAft>
              <a:buClr>
                <a:schemeClr val="dk1"/>
              </a:buClr>
              <a:buSzPts val="4400"/>
              <a:buFont typeface="Calibri"/>
              <a:buAutoNum type="romanUcPeriod"/>
            </a:pPr>
            <a:r>
              <a:rPr b="0" i="0" lang="fr-FR" sz="4400" u="none" cap="none" strike="noStrike">
                <a:solidFill>
                  <a:schemeClr val="dk1"/>
                </a:solidFill>
                <a:latin typeface="Calibri"/>
                <a:ea typeface="Calibri"/>
                <a:cs typeface="Calibri"/>
                <a:sym typeface="Calibri"/>
              </a:rPr>
              <a:t>Vue Globale/Compréhension des données </a:t>
            </a:r>
            <a:endParaRPr b="0" i="0" sz="4400" u="none" cap="none" strike="noStrike">
              <a:solidFill>
                <a:schemeClr val="dk1"/>
              </a:solidFill>
              <a:latin typeface="Calibri"/>
              <a:ea typeface="Calibri"/>
              <a:cs typeface="Calibri"/>
              <a:sym typeface="Calibri"/>
            </a:endParaRPr>
          </a:p>
          <a:p>
            <a:pPr indent="-120650" lvl="0" marL="400050" marR="0" rtl="0" algn="l">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a:p>
            <a:pPr indent="-400050" lvl="0" marL="400050" marR="0" rtl="0" algn="l">
              <a:lnSpc>
                <a:spcPct val="100000"/>
              </a:lnSpc>
              <a:spcBef>
                <a:spcPts val="0"/>
              </a:spcBef>
              <a:spcAft>
                <a:spcPts val="0"/>
              </a:spcAft>
              <a:buClr>
                <a:schemeClr val="dk1"/>
              </a:buClr>
              <a:buSzPts val="4400"/>
              <a:buFont typeface="Calibri"/>
              <a:buAutoNum type="romanUcPeriod"/>
            </a:pPr>
            <a:r>
              <a:rPr b="0" i="0" lang="fr-FR" sz="4400" u="none" cap="none" strike="noStrike">
                <a:solidFill>
                  <a:schemeClr val="dk1"/>
                </a:solidFill>
                <a:latin typeface="Calibri"/>
                <a:ea typeface="Calibri"/>
                <a:cs typeface="Calibri"/>
                <a:sym typeface="Calibri"/>
              </a:rPr>
              <a:t>Transformations des données</a:t>
            </a:r>
            <a:endParaRPr b="0" i="0" sz="1400" u="none" cap="none" strike="noStrike">
              <a:solidFill>
                <a:srgbClr val="000000"/>
              </a:solidFill>
              <a:latin typeface="Arial"/>
              <a:ea typeface="Arial"/>
              <a:cs typeface="Arial"/>
              <a:sym typeface="Arial"/>
            </a:endParaRPr>
          </a:p>
          <a:p>
            <a:pPr indent="-120650" lvl="0" marL="400050" marR="0" rtl="0" algn="l">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a:p>
            <a:pPr indent="-120650" lvl="0" marL="400050" marR="0" rtl="0" algn="l">
              <a:lnSpc>
                <a:spcPct val="10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a:p>
            <a:pPr indent="-400050" lvl="0" marL="400050" marR="0" rtl="0" algn="l">
              <a:lnSpc>
                <a:spcPct val="100000"/>
              </a:lnSpc>
              <a:spcBef>
                <a:spcPts val="0"/>
              </a:spcBef>
              <a:spcAft>
                <a:spcPts val="0"/>
              </a:spcAft>
              <a:buClr>
                <a:schemeClr val="dk1"/>
              </a:buClr>
              <a:buSzPts val="4400"/>
              <a:buFont typeface="Calibri"/>
              <a:buAutoNum type="romanUcPeriod"/>
            </a:pPr>
            <a:r>
              <a:rPr b="0" i="0" lang="fr-FR" sz="4400" u="none" cap="none" strike="noStrike">
                <a:solidFill>
                  <a:schemeClr val="dk1"/>
                </a:solidFill>
                <a:latin typeface="Calibri"/>
                <a:ea typeface="Calibri"/>
                <a:cs typeface="Calibri"/>
                <a:sym typeface="Calibri"/>
              </a:rPr>
              <a:t>Données Aberrantes/Manquantes/Spéciales</a:t>
            </a:r>
            <a:endParaRPr b="0" i="0" sz="4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5"/>
          <p:cNvPicPr preferRelativeResize="0"/>
          <p:nvPr/>
        </p:nvPicPr>
        <p:blipFill rotWithShape="1">
          <a:blip r:embed="rId3">
            <a:alphaModFix/>
          </a:blip>
          <a:srcRect b="0" l="0" r="0" t="0"/>
          <a:stretch/>
        </p:blipFill>
        <p:spPr>
          <a:xfrm>
            <a:off x="6912156" y="3098375"/>
            <a:ext cx="4691708" cy="3122119"/>
          </a:xfrm>
          <a:prstGeom prst="rect">
            <a:avLst/>
          </a:prstGeom>
          <a:noFill/>
          <a:ln>
            <a:noFill/>
          </a:ln>
        </p:spPr>
      </p:pic>
      <p:sp>
        <p:nvSpPr>
          <p:cNvPr id="102" name="Google Shape;102;p15"/>
          <p:cNvSpPr/>
          <p:nvPr/>
        </p:nvSpPr>
        <p:spPr>
          <a:xfrm>
            <a:off x="188392" y="2106741"/>
            <a:ext cx="10951833"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chemeClr val="dk1"/>
                </a:solidFill>
                <a:latin typeface="Calibri"/>
                <a:ea typeface="Calibri"/>
                <a:cs typeface="Calibri"/>
                <a:sym typeface="Calibri"/>
              </a:rPr>
              <a:t>Vue Globale/Compréhension des données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p:nvPr/>
        </p:nvSpPr>
        <p:spPr>
          <a:xfrm>
            <a:off x="-1240354" y="52555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Les structures des données:</a:t>
            </a:r>
            <a:endParaRPr b="0" i="0" sz="4400" u="none" cap="none" strike="noStrike">
              <a:solidFill>
                <a:srgbClr val="C00000"/>
              </a:solidFill>
              <a:latin typeface="Calibri"/>
              <a:ea typeface="Calibri"/>
              <a:cs typeface="Calibri"/>
              <a:sym typeface="Calibri"/>
            </a:endParaRPr>
          </a:p>
        </p:txBody>
      </p:sp>
      <p:sp>
        <p:nvSpPr>
          <p:cNvPr id="108" name="Google Shape;108;p16"/>
          <p:cNvSpPr/>
          <p:nvPr/>
        </p:nvSpPr>
        <p:spPr>
          <a:xfrm>
            <a:off x="352425" y="1409699"/>
            <a:ext cx="11558588" cy="5210175"/>
          </a:xfrm>
          <a:prstGeom prst="roundRect">
            <a:avLst>
              <a:gd fmla="val 16667" name="adj"/>
            </a:avLst>
          </a:prstGeom>
          <a:blipFill rotWithShape="1">
            <a:blip r:embed="rId3">
              <a:alphaModFix/>
            </a:blip>
            <a:stretch>
              <a:fillRect b="0" l="0" r="0" t="0"/>
            </a:stretch>
          </a:blip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p:nvPr/>
        </p:nvSpPr>
        <p:spPr>
          <a:xfrm>
            <a:off x="573110" y="494630"/>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800"/>
              <a:buFont typeface="Arial"/>
              <a:buNone/>
            </a:pPr>
            <a:r>
              <a:rPr b="1" i="0" lang="fr-FR" sz="4800" u="none" cap="none" strike="noStrike">
                <a:solidFill>
                  <a:srgbClr val="C00000"/>
                </a:solidFill>
                <a:latin typeface="Calibri"/>
                <a:ea typeface="Calibri"/>
                <a:cs typeface="Calibri"/>
                <a:sym typeface="Calibri"/>
              </a:rPr>
              <a:t>     Concepts de base</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314325" y="1743075"/>
            <a:ext cx="11630025" cy="43434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1" i="0" lang="fr-FR" sz="3600" u="none" cap="none" strike="noStrike">
                <a:solidFill>
                  <a:schemeClr val="dk1"/>
                </a:solidFill>
                <a:latin typeface="Calibri"/>
                <a:ea typeface="Calibri"/>
                <a:cs typeface="Calibri"/>
                <a:sym typeface="Calibri"/>
              </a:rPr>
              <a:t>Population</a:t>
            </a:r>
            <a:r>
              <a:rPr b="0" i="0" lang="fr-FR" sz="3600" u="none" cap="none" strike="noStrike">
                <a:solidFill>
                  <a:schemeClr val="dk1"/>
                </a:solidFill>
                <a:latin typeface="Calibri"/>
                <a:ea typeface="Calibri"/>
                <a:cs typeface="Calibri"/>
                <a:sym typeface="Calibri"/>
              </a:rPr>
              <a:t> : ensemble des unités statistiques observées.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fr-FR" sz="3600" u="none" cap="none" strike="noStrike">
                <a:solidFill>
                  <a:schemeClr val="dk1"/>
                </a:solidFill>
                <a:latin typeface="Calibri"/>
                <a:ea typeface="Calibri"/>
                <a:cs typeface="Calibri"/>
                <a:sym typeface="Calibri"/>
              </a:rPr>
              <a:t>Individu</a:t>
            </a:r>
            <a:r>
              <a:rPr b="0" i="0" lang="fr-FR" sz="3600" u="none" cap="none" strike="noStrike">
                <a:solidFill>
                  <a:schemeClr val="dk1"/>
                </a:solidFill>
                <a:latin typeface="Calibri"/>
                <a:ea typeface="Calibri"/>
                <a:cs typeface="Calibri"/>
                <a:sym typeface="Calibri"/>
              </a:rPr>
              <a:t> : unité statistique de base ou élément de la population étudiées.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fr-FR" sz="3600" u="none" cap="none" strike="noStrike">
                <a:solidFill>
                  <a:schemeClr val="dk1"/>
                </a:solidFill>
                <a:latin typeface="Calibri"/>
                <a:ea typeface="Calibri"/>
                <a:cs typeface="Calibri"/>
                <a:sym typeface="Calibri"/>
              </a:rPr>
              <a:t>Caractère ou variable </a:t>
            </a:r>
            <a:r>
              <a:rPr b="0" i="0" lang="fr-FR" sz="3600" u="none" cap="none" strike="noStrike">
                <a:solidFill>
                  <a:schemeClr val="dk1"/>
                </a:solidFill>
                <a:latin typeface="Calibri"/>
                <a:ea typeface="Calibri"/>
                <a:cs typeface="Calibri"/>
                <a:sym typeface="Calibri"/>
              </a:rPr>
              <a:t>: aspect particulier de l’individu auquel on s’intéresse et qui pourra prendre différentes valeurs selon l’individu concerné.</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8"/>
          <p:cNvPicPr preferRelativeResize="0"/>
          <p:nvPr/>
        </p:nvPicPr>
        <p:blipFill rotWithShape="1">
          <a:blip r:embed="rId3">
            <a:alphaModFix/>
          </a:blip>
          <a:srcRect b="0" l="0" r="0" t="0"/>
          <a:stretch/>
        </p:blipFill>
        <p:spPr>
          <a:xfrm>
            <a:off x="2846231" y="1417532"/>
            <a:ext cx="5678644" cy="4932626"/>
          </a:xfrm>
          <a:prstGeom prst="rect">
            <a:avLst/>
          </a:prstGeom>
          <a:noFill/>
          <a:ln>
            <a:noFill/>
          </a:ln>
        </p:spPr>
      </p:pic>
      <p:sp>
        <p:nvSpPr>
          <p:cNvPr id="120" name="Google Shape;120;p18"/>
          <p:cNvSpPr/>
          <p:nvPr/>
        </p:nvSpPr>
        <p:spPr>
          <a:xfrm rot="5400000">
            <a:off x="5318505" y="-1731354"/>
            <a:ext cx="734096" cy="5563676"/>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18"/>
          <p:cNvSpPr txBox="1"/>
          <p:nvPr/>
        </p:nvSpPr>
        <p:spPr>
          <a:xfrm>
            <a:off x="5988676" y="566671"/>
            <a:ext cx="222644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C00000"/>
                </a:solidFill>
                <a:latin typeface="Calibri"/>
                <a:ea typeface="Calibri"/>
                <a:cs typeface="Calibri"/>
                <a:sym typeface="Calibri"/>
              </a:rPr>
              <a:t>Variables Statistiques</a:t>
            </a:r>
            <a:endParaRPr b="1" i="0" sz="1800" u="none" cap="none" strike="noStrike">
              <a:solidFill>
                <a:srgbClr val="C00000"/>
              </a:solidFill>
              <a:latin typeface="Calibri"/>
              <a:ea typeface="Calibri"/>
              <a:cs typeface="Calibri"/>
              <a:sym typeface="Calibri"/>
            </a:endParaRPr>
          </a:p>
        </p:txBody>
      </p:sp>
      <p:sp>
        <p:nvSpPr>
          <p:cNvPr id="122" name="Google Shape;122;p18"/>
          <p:cNvSpPr/>
          <p:nvPr/>
        </p:nvSpPr>
        <p:spPr>
          <a:xfrm>
            <a:off x="1967852" y="2055901"/>
            <a:ext cx="734096" cy="2606251"/>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18"/>
          <p:cNvSpPr txBox="1"/>
          <p:nvPr/>
        </p:nvSpPr>
        <p:spPr>
          <a:xfrm>
            <a:off x="0" y="2805449"/>
            <a:ext cx="22135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C00000"/>
                </a:solidFill>
                <a:latin typeface="Calibri"/>
                <a:ea typeface="Calibri"/>
                <a:cs typeface="Calibri"/>
                <a:sym typeface="Calibri"/>
              </a:rPr>
              <a:t>individus Statistiques</a:t>
            </a:r>
            <a:endParaRPr b="1" i="0" sz="1800" u="none" cap="none" strike="noStrike">
              <a:solidFill>
                <a:srgbClr val="C00000"/>
              </a:solidFill>
              <a:latin typeface="Calibri"/>
              <a:ea typeface="Calibri"/>
              <a:cs typeface="Calibri"/>
              <a:sym typeface="Calibri"/>
            </a:endParaRPr>
          </a:p>
        </p:txBody>
      </p:sp>
      <p:sp>
        <p:nvSpPr>
          <p:cNvPr id="124" name="Google Shape;124;p18"/>
          <p:cNvSpPr/>
          <p:nvPr/>
        </p:nvSpPr>
        <p:spPr>
          <a:xfrm>
            <a:off x="4430331" y="2805448"/>
            <a:ext cx="540913" cy="369333"/>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 name="Google Shape;125;p18"/>
          <p:cNvCxnSpPr/>
          <p:nvPr/>
        </p:nvCxnSpPr>
        <p:spPr>
          <a:xfrm flipH="1" rot="10800000">
            <a:off x="3245474" y="3174781"/>
            <a:ext cx="1184857" cy="1951011"/>
          </a:xfrm>
          <a:prstGeom prst="straightConnector1">
            <a:avLst/>
          </a:prstGeom>
          <a:noFill/>
          <a:ln cap="flat" cmpd="sng" w="19050">
            <a:solidFill>
              <a:schemeClr val="dk1"/>
            </a:solidFill>
            <a:prstDash val="solid"/>
            <a:miter lim="800000"/>
            <a:headEnd len="sm" w="sm" type="none"/>
            <a:tailEnd len="med" w="med" type="stealth"/>
          </a:ln>
        </p:spPr>
      </p:cxnSp>
      <p:sp>
        <p:nvSpPr>
          <p:cNvPr id="126" name="Google Shape;126;p18"/>
          <p:cNvSpPr txBox="1"/>
          <p:nvPr/>
        </p:nvSpPr>
        <p:spPr>
          <a:xfrm>
            <a:off x="1031919" y="5136311"/>
            <a:ext cx="242855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rgbClr val="C00000"/>
                </a:solidFill>
                <a:latin typeface="Calibri"/>
                <a:ea typeface="Calibri"/>
                <a:cs typeface="Calibri"/>
                <a:sym typeface="Calibri"/>
              </a:rPr>
              <a:t>Observation Statistique</a:t>
            </a:r>
            <a:endParaRPr b="1" i="0" sz="1800" u="none" cap="none" strike="noStrike">
              <a:solidFill>
                <a:srgbClr val="C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p:nvPr/>
        </p:nvSpPr>
        <p:spPr>
          <a:xfrm>
            <a:off x="257174" y="443114"/>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fr-FR" sz="4800" u="none" cap="none" strike="noStrike">
                <a:solidFill>
                  <a:srgbClr val="C00000"/>
                </a:solidFill>
                <a:latin typeface="Calibri"/>
                <a:ea typeface="Calibri"/>
                <a:cs typeface="Calibri"/>
                <a:sym typeface="Calibri"/>
              </a:rPr>
              <a:t>Types de variables statistiques </a:t>
            </a:r>
            <a:endParaRPr b="0" i="0" sz="1400" u="none" cap="none" strike="noStrike">
              <a:solidFill>
                <a:srgbClr val="000000"/>
              </a:solidFill>
              <a:latin typeface="Arial"/>
              <a:ea typeface="Arial"/>
              <a:cs typeface="Arial"/>
              <a:sym typeface="Arial"/>
            </a:endParaRPr>
          </a:p>
        </p:txBody>
      </p:sp>
      <p:sp>
        <p:nvSpPr>
          <p:cNvPr id="132" name="Google Shape;132;p19"/>
          <p:cNvSpPr/>
          <p:nvPr/>
        </p:nvSpPr>
        <p:spPr>
          <a:xfrm>
            <a:off x="457200" y="1676399"/>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Qualitative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33" name="Google Shape;133;p19"/>
          <p:cNvSpPr/>
          <p:nvPr/>
        </p:nvSpPr>
        <p:spPr>
          <a:xfrm>
            <a:off x="9401175" y="1676398"/>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Quantitative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34" name="Google Shape;134;p19"/>
          <p:cNvSpPr/>
          <p:nvPr/>
        </p:nvSpPr>
        <p:spPr>
          <a:xfrm>
            <a:off x="457199" y="3505199"/>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Qualité</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35" name="Google Shape;135;p19"/>
          <p:cNvSpPr/>
          <p:nvPr/>
        </p:nvSpPr>
        <p:spPr>
          <a:xfrm>
            <a:off x="1588293" y="2638423"/>
            <a:ext cx="280988" cy="790575"/>
          </a:xfrm>
          <a:prstGeom prst="down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19"/>
          <p:cNvSpPr/>
          <p:nvPr/>
        </p:nvSpPr>
        <p:spPr>
          <a:xfrm>
            <a:off x="10603707" y="2638422"/>
            <a:ext cx="280988" cy="790575"/>
          </a:xfrm>
          <a:prstGeom prst="down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7" name="Google Shape;137;p19"/>
          <p:cNvSpPr/>
          <p:nvPr/>
        </p:nvSpPr>
        <p:spPr>
          <a:xfrm>
            <a:off x="9401175" y="3495673"/>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Quantité</a:t>
            </a:r>
            <a:r>
              <a:rPr b="0" i="0" lang="fr-FR"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38" name="Google Shape;138;p19"/>
          <p:cNvSpPr/>
          <p:nvPr/>
        </p:nvSpPr>
        <p:spPr>
          <a:xfrm>
            <a:off x="1588293" y="4467225"/>
            <a:ext cx="280988" cy="790575"/>
          </a:xfrm>
          <a:prstGeom prst="down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19"/>
          <p:cNvSpPr/>
          <p:nvPr/>
        </p:nvSpPr>
        <p:spPr>
          <a:xfrm>
            <a:off x="10603707" y="4467225"/>
            <a:ext cx="280988" cy="790575"/>
          </a:xfrm>
          <a:prstGeom prst="down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 name="Google Shape;140;p19"/>
          <p:cNvSpPr/>
          <p:nvPr/>
        </p:nvSpPr>
        <p:spPr>
          <a:xfrm>
            <a:off x="9401175" y="5333999"/>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taille/chiffre d’affaire...</a:t>
            </a:r>
            <a:r>
              <a:rPr b="0" i="0" lang="fr-FR"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41" name="Google Shape;141;p19"/>
          <p:cNvSpPr/>
          <p:nvPr/>
        </p:nvSpPr>
        <p:spPr>
          <a:xfrm>
            <a:off x="457198" y="5386385"/>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Couleur des yeux/sexe…</a:t>
            </a:r>
            <a:endParaRPr b="0" i="0" sz="1400" u="none" cap="none" strike="noStrike">
              <a:solidFill>
                <a:srgbClr val="000000"/>
              </a:solidFill>
              <a:latin typeface="Arial"/>
              <a:ea typeface="Arial"/>
              <a:cs typeface="Arial"/>
              <a:sym typeface="Arial"/>
            </a:endParaRPr>
          </a:p>
        </p:txBody>
      </p:sp>
      <p:sp>
        <p:nvSpPr>
          <p:cNvPr id="142" name="Google Shape;142;p19"/>
          <p:cNvSpPr/>
          <p:nvPr/>
        </p:nvSpPr>
        <p:spPr>
          <a:xfrm>
            <a:off x="4238625" y="3509960"/>
            <a:ext cx="3714750" cy="962024"/>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Modalité: valeur possible prise par la variable </a:t>
            </a:r>
            <a:endParaRPr b="0" i="0" sz="1400" u="none" cap="none" strike="noStrike">
              <a:solidFill>
                <a:srgbClr val="000000"/>
              </a:solidFill>
              <a:latin typeface="Arial"/>
              <a:ea typeface="Arial"/>
              <a:cs typeface="Arial"/>
              <a:sym typeface="Arial"/>
            </a:endParaRPr>
          </a:p>
        </p:txBody>
      </p:sp>
      <p:sp>
        <p:nvSpPr>
          <p:cNvPr id="143" name="Google Shape;143;p19"/>
          <p:cNvSpPr/>
          <p:nvPr/>
        </p:nvSpPr>
        <p:spPr>
          <a:xfrm>
            <a:off x="4729162" y="1638295"/>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Variable statistique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44" name="Google Shape;144;p19"/>
          <p:cNvSpPr/>
          <p:nvPr/>
        </p:nvSpPr>
        <p:spPr>
          <a:xfrm>
            <a:off x="7272337" y="1790693"/>
            <a:ext cx="1226344" cy="581027"/>
          </a:xfrm>
          <a:prstGeom prst="right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5" name="Google Shape;145;p19"/>
          <p:cNvSpPr/>
          <p:nvPr/>
        </p:nvSpPr>
        <p:spPr>
          <a:xfrm>
            <a:off x="3502818" y="1790695"/>
            <a:ext cx="1226344" cy="581027"/>
          </a:xfrm>
          <a:prstGeom prst="left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19"/>
          <p:cNvSpPr/>
          <p:nvPr/>
        </p:nvSpPr>
        <p:spPr>
          <a:xfrm>
            <a:off x="5919786" y="2514594"/>
            <a:ext cx="481013" cy="914403"/>
          </a:xfrm>
          <a:prstGeom prst="downArrow">
            <a:avLst>
              <a:gd fmla="val 50000" name="adj1"/>
              <a:gd fmla="val 50000" name="adj2"/>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833639" y="250599"/>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Variables qualitative: </a:t>
            </a:r>
            <a:r>
              <a:rPr b="0" i="0" lang="fr-FR" sz="2800" u="none" cap="none" strike="noStrike">
                <a:solidFill>
                  <a:schemeClr val="dk1"/>
                </a:solidFill>
                <a:latin typeface="Calibri"/>
                <a:ea typeface="Calibri"/>
                <a:cs typeface="Calibri"/>
                <a:sym typeface="Calibri"/>
              </a:rPr>
              <a:t>une variable dont les modalités sont des mots </a:t>
            </a:r>
            <a:endParaRPr b="0" i="0" sz="1400" u="none" cap="none" strike="noStrike">
              <a:solidFill>
                <a:srgbClr val="000000"/>
              </a:solidFill>
              <a:latin typeface="Arial"/>
              <a:ea typeface="Arial"/>
              <a:cs typeface="Arial"/>
              <a:sym typeface="Arial"/>
            </a:endParaRPr>
          </a:p>
        </p:txBody>
      </p:sp>
      <p:sp>
        <p:nvSpPr>
          <p:cNvPr id="152" name="Google Shape;152;p20"/>
          <p:cNvSpPr/>
          <p:nvPr/>
        </p:nvSpPr>
        <p:spPr>
          <a:xfrm>
            <a:off x="1095376" y="2219324"/>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Nominale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53" name="Google Shape;153;p20"/>
          <p:cNvSpPr/>
          <p:nvPr/>
        </p:nvSpPr>
        <p:spPr>
          <a:xfrm>
            <a:off x="8553450" y="2219324"/>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ordinale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54" name="Google Shape;154;p20"/>
          <p:cNvSpPr/>
          <p:nvPr/>
        </p:nvSpPr>
        <p:spPr>
          <a:xfrm>
            <a:off x="1943100" y="1128712"/>
            <a:ext cx="619125" cy="1000125"/>
          </a:xfrm>
          <a:prstGeom prst="downArrow">
            <a:avLst>
              <a:gd fmla="val 50000" name="adj1"/>
              <a:gd fmla="val 50000" name="adj2"/>
            </a:avLst>
          </a:prstGeom>
          <a:solidFill>
            <a:srgbClr val="C00000"/>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20"/>
          <p:cNvSpPr/>
          <p:nvPr/>
        </p:nvSpPr>
        <p:spPr>
          <a:xfrm>
            <a:off x="9629775" y="1128711"/>
            <a:ext cx="619125" cy="1000125"/>
          </a:xfrm>
          <a:prstGeom prst="downArrow">
            <a:avLst>
              <a:gd fmla="val 50000" name="adj1"/>
              <a:gd fmla="val 50000" name="adj2"/>
            </a:avLst>
          </a:prstGeom>
          <a:solidFill>
            <a:srgbClr val="C00000"/>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20"/>
          <p:cNvSpPr/>
          <p:nvPr/>
        </p:nvSpPr>
        <p:spPr>
          <a:xfrm>
            <a:off x="457200" y="3657600"/>
            <a:ext cx="3933825" cy="71437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Calibri"/>
                <a:ea typeface="Calibri"/>
                <a:cs typeface="Calibri"/>
                <a:sym typeface="Calibri"/>
              </a:rPr>
              <a:t>Les modalités ne peuvent pas être ordonnées selon leur sens </a:t>
            </a:r>
            <a:endParaRPr b="0" i="0" sz="1400" u="none" cap="none" strike="noStrike">
              <a:solidFill>
                <a:srgbClr val="000000"/>
              </a:solidFill>
              <a:latin typeface="Arial"/>
              <a:ea typeface="Arial"/>
              <a:cs typeface="Arial"/>
              <a:sym typeface="Arial"/>
            </a:endParaRPr>
          </a:p>
        </p:txBody>
      </p:sp>
      <p:sp>
        <p:nvSpPr>
          <p:cNvPr id="157" name="Google Shape;157;p20"/>
          <p:cNvSpPr/>
          <p:nvPr/>
        </p:nvSpPr>
        <p:spPr>
          <a:xfrm>
            <a:off x="8010525" y="3629025"/>
            <a:ext cx="3933825" cy="71437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Calibri"/>
                <a:ea typeface="Calibri"/>
                <a:cs typeface="Calibri"/>
                <a:sym typeface="Calibri"/>
              </a:rPr>
              <a:t>Les modalités sont ordonnées selon leur sens </a:t>
            </a:r>
            <a:endParaRPr b="0" i="0" sz="1400" u="none" cap="none" strike="noStrike">
              <a:solidFill>
                <a:srgbClr val="000000"/>
              </a:solidFill>
              <a:latin typeface="Arial"/>
              <a:ea typeface="Arial"/>
              <a:cs typeface="Arial"/>
              <a:sym typeface="Arial"/>
            </a:endParaRPr>
          </a:p>
        </p:txBody>
      </p:sp>
      <p:sp>
        <p:nvSpPr>
          <p:cNvPr id="158" name="Google Shape;158;p20"/>
          <p:cNvSpPr/>
          <p:nvPr/>
        </p:nvSpPr>
        <p:spPr>
          <a:xfrm>
            <a:off x="8705849" y="4924426"/>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Degré de satisfaction: très satisfait, satisfait, insatisfait</a:t>
            </a:r>
            <a:endParaRPr b="0" i="0" sz="1400" u="none" cap="none" strike="noStrike">
              <a:solidFill>
                <a:srgbClr val="000000"/>
              </a:solidFill>
              <a:latin typeface="Arial"/>
              <a:ea typeface="Arial"/>
              <a:cs typeface="Arial"/>
              <a:sym typeface="Arial"/>
            </a:endParaRPr>
          </a:p>
        </p:txBody>
      </p:sp>
      <p:sp>
        <p:nvSpPr>
          <p:cNvPr id="159" name="Google Shape;159;p20"/>
          <p:cNvSpPr/>
          <p:nvPr/>
        </p:nvSpPr>
        <p:spPr>
          <a:xfrm>
            <a:off x="1152524" y="4924426"/>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état civil: célibataire, marié, divorcé, veuf</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p:nvPr/>
        </p:nvSpPr>
        <p:spPr>
          <a:xfrm>
            <a:off x="457200" y="247650"/>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Variables quantitative: </a:t>
            </a:r>
            <a:r>
              <a:rPr b="0" i="0" lang="fr-FR" sz="2800" u="none" cap="none" strike="noStrike">
                <a:solidFill>
                  <a:schemeClr val="dk1"/>
                </a:solidFill>
                <a:latin typeface="Calibri"/>
                <a:ea typeface="Calibri"/>
                <a:cs typeface="Calibri"/>
                <a:sym typeface="Calibri"/>
              </a:rPr>
              <a:t>une variable dont les modalités sont des nombres. </a:t>
            </a:r>
            <a:endParaRPr b="0" i="0" sz="1400" u="none" cap="none" strike="noStrike">
              <a:solidFill>
                <a:srgbClr val="000000"/>
              </a:solidFill>
              <a:latin typeface="Arial"/>
              <a:ea typeface="Arial"/>
              <a:cs typeface="Arial"/>
              <a:sym typeface="Arial"/>
            </a:endParaRPr>
          </a:p>
        </p:txBody>
      </p:sp>
      <p:sp>
        <p:nvSpPr>
          <p:cNvPr id="165" name="Google Shape;165;p21"/>
          <p:cNvSpPr/>
          <p:nvPr/>
        </p:nvSpPr>
        <p:spPr>
          <a:xfrm>
            <a:off x="1095376" y="2219324"/>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Discrète </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6" name="Google Shape;166;p21"/>
          <p:cNvSpPr/>
          <p:nvPr/>
        </p:nvSpPr>
        <p:spPr>
          <a:xfrm>
            <a:off x="8553450" y="2219324"/>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Continue</a:t>
            </a:r>
            <a:r>
              <a:rPr b="0" i="0" lang="fr-FR" sz="18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7" name="Google Shape;167;p21"/>
          <p:cNvSpPr/>
          <p:nvPr/>
        </p:nvSpPr>
        <p:spPr>
          <a:xfrm>
            <a:off x="1943100" y="1128712"/>
            <a:ext cx="619125" cy="1000125"/>
          </a:xfrm>
          <a:prstGeom prst="downArrow">
            <a:avLst>
              <a:gd fmla="val 50000" name="adj1"/>
              <a:gd fmla="val 50000" name="adj2"/>
            </a:avLst>
          </a:prstGeom>
          <a:solidFill>
            <a:srgbClr val="C00000"/>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21"/>
          <p:cNvSpPr/>
          <p:nvPr/>
        </p:nvSpPr>
        <p:spPr>
          <a:xfrm>
            <a:off x="9629775" y="1128711"/>
            <a:ext cx="619125" cy="1000125"/>
          </a:xfrm>
          <a:prstGeom prst="downArrow">
            <a:avLst>
              <a:gd fmla="val 50000" name="adj1"/>
              <a:gd fmla="val 50000" name="adj2"/>
            </a:avLst>
          </a:prstGeom>
          <a:solidFill>
            <a:srgbClr val="C00000"/>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21"/>
          <p:cNvSpPr/>
          <p:nvPr/>
        </p:nvSpPr>
        <p:spPr>
          <a:xfrm>
            <a:off x="457200" y="3657600"/>
            <a:ext cx="3933825" cy="857250"/>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Calibri"/>
                <a:ea typeface="Calibri"/>
                <a:cs typeface="Calibri"/>
                <a:sym typeface="Calibri"/>
              </a:rPr>
              <a:t>Les modalités sont des nombres précis, isolés et dans la plupart du temps des entiers </a:t>
            </a:r>
            <a:endParaRPr b="0" i="0" sz="1400" u="none" cap="none" strike="noStrike">
              <a:solidFill>
                <a:srgbClr val="000000"/>
              </a:solidFill>
              <a:latin typeface="Arial"/>
              <a:ea typeface="Arial"/>
              <a:cs typeface="Arial"/>
              <a:sym typeface="Arial"/>
            </a:endParaRPr>
          </a:p>
        </p:txBody>
      </p:sp>
      <p:sp>
        <p:nvSpPr>
          <p:cNvPr id="170" name="Google Shape;170;p21"/>
          <p:cNvSpPr/>
          <p:nvPr/>
        </p:nvSpPr>
        <p:spPr>
          <a:xfrm>
            <a:off x="8010525" y="3629025"/>
            <a:ext cx="393382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fr-FR" sz="2000" u="none" cap="none" strike="noStrike">
                <a:solidFill>
                  <a:schemeClr val="dk1"/>
                </a:solidFill>
                <a:latin typeface="Calibri"/>
                <a:ea typeface="Calibri"/>
                <a:cs typeface="Calibri"/>
                <a:sym typeface="Calibri"/>
              </a:rPr>
              <a:t>Les modalités sont des nombres issues d’un intervalle de nombres réels </a:t>
            </a:r>
            <a:endParaRPr b="0" i="0" sz="1400" u="none" cap="none" strike="noStrike">
              <a:solidFill>
                <a:srgbClr val="000000"/>
              </a:solidFill>
              <a:latin typeface="Arial"/>
              <a:ea typeface="Arial"/>
              <a:cs typeface="Arial"/>
              <a:sym typeface="Arial"/>
            </a:endParaRPr>
          </a:p>
        </p:txBody>
      </p:sp>
      <p:sp>
        <p:nvSpPr>
          <p:cNvPr id="171" name="Google Shape;171;p21"/>
          <p:cNvSpPr/>
          <p:nvPr/>
        </p:nvSpPr>
        <p:spPr>
          <a:xfrm>
            <a:off x="8705849" y="4924426"/>
            <a:ext cx="2543175" cy="885825"/>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Tranche d'âge: [10,20[,[20,30[,[30,40[.. </a:t>
            </a:r>
            <a:endParaRPr b="0" i="0" sz="1400" u="none" cap="none" strike="noStrike">
              <a:solidFill>
                <a:srgbClr val="000000"/>
              </a:solidFill>
              <a:latin typeface="Arial"/>
              <a:ea typeface="Arial"/>
              <a:cs typeface="Arial"/>
              <a:sym typeface="Arial"/>
            </a:endParaRPr>
          </a:p>
        </p:txBody>
      </p:sp>
      <p:sp>
        <p:nvSpPr>
          <p:cNvPr id="172" name="Google Shape;172;p21"/>
          <p:cNvSpPr/>
          <p:nvPr/>
        </p:nvSpPr>
        <p:spPr>
          <a:xfrm>
            <a:off x="1152524" y="4924426"/>
            <a:ext cx="2543175" cy="1095374"/>
          </a:xfrm>
          <a:prstGeom prst="roundRect">
            <a:avLst>
              <a:gd fmla="val 16667" name="adj"/>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Nombre d’années de scolarité achevées: 9,10,11,12,13…</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p:nvPr/>
        </p:nvSpPr>
        <p:spPr>
          <a:xfrm>
            <a:off x="457200" y="1562099"/>
            <a:ext cx="11314090" cy="4505325"/>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Les différents types de variables vont conditionner le choix des techniques, des paramètres et des tests utilisés.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Variable quantitative: </a:t>
            </a:r>
            <a:r>
              <a:rPr b="0" i="0" lang="fr-FR" sz="3200" u="none" cap="none" strike="noStrike">
                <a:solidFill>
                  <a:schemeClr val="dk1"/>
                </a:solidFill>
                <a:latin typeface="Calibri"/>
                <a:ea typeface="Calibri"/>
                <a:cs typeface="Calibri"/>
                <a:sym typeface="Calibri"/>
              </a:rPr>
              <a:t>tous les indicateurs numériques (moyenne, variance, corrélation…)la régression linéaire-ACP…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Variable qualitative: </a:t>
            </a:r>
            <a:r>
              <a:rPr b="0" i="0" lang="fr-FR" sz="3200" u="none" cap="none" strike="noStrike">
                <a:solidFill>
                  <a:schemeClr val="dk1"/>
                </a:solidFill>
                <a:latin typeface="Calibri"/>
                <a:ea typeface="Calibri"/>
                <a:cs typeface="Calibri"/>
                <a:sym typeface="Calibri"/>
              </a:rPr>
              <a:t>test de khi-deux-ACM…</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78" name="Google Shape;178;p22"/>
          <p:cNvSpPr/>
          <p:nvPr/>
        </p:nvSpPr>
        <p:spPr>
          <a:xfrm>
            <a:off x="257174" y="443114"/>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Arial"/>
              <a:buNone/>
            </a:pPr>
            <a:r>
              <a:rPr b="1" i="0" lang="fr-FR" sz="4800" u="none" cap="none" strike="noStrike">
                <a:solidFill>
                  <a:srgbClr val="C00000"/>
                </a:solidFill>
                <a:latin typeface="Calibri"/>
                <a:ea typeface="Calibri"/>
                <a:cs typeface="Calibri"/>
                <a:sym typeface="Calibri"/>
              </a:rPr>
              <a:t>Choix des techniques statistiques</a:t>
            </a:r>
            <a:endParaRPr b="1" i="0" sz="4800" u="none" cap="none" strike="noStrike">
              <a:solidFill>
                <a:srgbClr val="C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3"/>
          <p:cNvPicPr preferRelativeResize="0"/>
          <p:nvPr/>
        </p:nvPicPr>
        <p:blipFill rotWithShape="1">
          <a:blip r:embed="rId3">
            <a:alphaModFix/>
          </a:blip>
          <a:srcRect b="0" l="0" r="0" t="0"/>
          <a:stretch/>
        </p:blipFill>
        <p:spPr>
          <a:xfrm>
            <a:off x="862012" y="1576387"/>
            <a:ext cx="6181725" cy="4333875"/>
          </a:xfrm>
          <a:prstGeom prst="rect">
            <a:avLst/>
          </a:prstGeom>
          <a:noFill/>
          <a:ln>
            <a:noFill/>
          </a:ln>
        </p:spPr>
      </p:pic>
      <p:sp>
        <p:nvSpPr>
          <p:cNvPr id="184" name="Google Shape;184;p23"/>
          <p:cNvSpPr/>
          <p:nvPr/>
        </p:nvSpPr>
        <p:spPr>
          <a:xfrm>
            <a:off x="7515225" y="3000374"/>
            <a:ext cx="4324350" cy="1685925"/>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1. Rentrer les valeur du tableau dans une structure R la plus appropriée.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2. Retrouver le type de variable de chaque colonne du tableau suivant.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5" name="Google Shape;185;p23"/>
          <p:cNvSpPr/>
          <p:nvPr/>
        </p:nvSpPr>
        <p:spPr>
          <a:xfrm>
            <a:off x="-1023870" y="491744"/>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A vous maintenant</a:t>
            </a:r>
            <a:endParaRPr b="0" i="0" sz="4000" u="none" cap="none" strike="noStrike">
              <a:solidFill>
                <a:srgbClr val="C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descr="2 : Transformation | Expertise ETL FME, SIG &amp; BI" id="190" name="Google Shape;190;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1" name="Google Shape;191;p24"/>
          <p:cNvPicPr preferRelativeResize="0"/>
          <p:nvPr/>
        </p:nvPicPr>
        <p:blipFill rotWithShape="1">
          <a:blip r:embed="rId3">
            <a:alphaModFix/>
          </a:blip>
          <a:srcRect b="0" l="0" r="0" t="0"/>
          <a:stretch/>
        </p:blipFill>
        <p:spPr>
          <a:xfrm>
            <a:off x="7971956" y="2174114"/>
            <a:ext cx="3657667" cy="3020907"/>
          </a:xfrm>
          <a:prstGeom prst="rect">
            <a:avLst/>
          </a:prstGeom>
          <a:noFill/>
          <a:ln>
            <a:noFill/>
          </a:ln>
        </p:spPr>
      </p:pic>
      <p:sp>
        <p:nvSpPr>
          <p:cNvPr id="192" name="Google Shape;192;p24"/>
          <p:cNvSpPr/>
          <p:nvPr/>
        </p:nvSpPr>
        <p:spPr>
          <a:xfrm>
            <a:off x="460375" y="2897108"/>
            <a:ext cx="706430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chemeClr val="dk1"/>
                </a:solidFill>
                <a:latin typeface="Calibri"/>
                <a:ea typeface="Calibri"/>
                <a:cs typeface="Calibri"/>
                <a:sym typeface="Calibri"/>
              </a:rPr>
              <a:t>Transformations des données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p:nvPr/>
        </p:nvSpPr>
        <p:spPr>
          <a:xfrm>
            <a:off x="-1778989" y="534165"/>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1. Codage des variables </a:t>
            </a:r>
            <a:endParaRPr b="0" i="0" sz="4000" u="none" cap="none" strike="noStrike">
              <a:solidFill>
                <a:srgbClr val="C00000"/>
              </a:solidFill>
              <a:latin typeface="Calibri"/>
              <a:ea typeface="Calibri"/>
              <a:cs typeface="Calibri"/>
              <a:sym typeface="Calibri"/>
            </a:endParaRPr>
          </a:p>
        </p:txBody>
      </p:sp>
      <p:sp>
        <p:nvSpPr>
          <p:cNvPr id="198" name="Google Shape;198;p25"/>
          <p:cNvSpPr/>
          <p:nvPr/>
        </p:nvSpPr>
        <p:spPr>
          <a:xfrm>
            <a:off x="280987" y="1664460"/>
            <a:ext cx="11630025" cy="43434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Le codage des données consiste à classer en catégories numériques les diverses modalités d’une variable statistique.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rgbClr val="C00000"/>
                </a:solidFill>
                <a:latin typeface="Calibri"/>
                <a:ea typeface="Calibri"/>
                <a:cs typeface="Calibri"/>
                <a:sym typeface="Calibri"/>
              </a:rPr>
              <a:t>Etapes: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 Etablir un code spécifique pour désigner chaque variable ou modalité</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 Réfléchir aux types d'échelles auxquelles on a à faire</a:t>
            </a:r>
            <a:br>
              <a:rPr b="0" i="0" lang="fr-FR" sz="3200" u="none" cap="none" strike="noStrike">
                <a:solidFill>
                  <a:schemeClr val="dk1"/>
                </a:solidFill>
                <a:latin typeface="Calibri"/>
                <a:ea typeface="Calibri"/>
                <a:cs typeface="Calibri"/>
                <a:sym typeface="Calibri"/>
              </a:rPr>
            </a:br>
            <a:r>
              <a:rPr b="0" i="0" lang="fr-FR" sz="3200" u="none" cap="none" strike="noStrike">
                <a:solidFill>
                  <a:schemeClr val="dk1"/>
                </a:solidFill>
                <a:latin typeface="Calibri"/>
                <a:ea typeface="Calibri"/>
                <a:cs typeface="Calibri"/>
                <a:sym typeface="Calibri"/>
              </a:rPr>
              <a:t>- Créer le tableau de données ou matrice générale.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p:nvPr/>
        </p:nvSpPr>
        <p:spPr>
          <a:xfrm>
            <a:off x="-817808" y="532725"/>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Codage des variables qualitatives </a:t>
            </a:r>
            <a:endParaRPr b="0" i="0" sz="4000" u="none" cap="none" strike="noStrike">
              <a:solidFill>
                <a:srgbClr val="C00000"/>
              </a:solidFill>
              <a:latin typeface="Calibri"/>
              <a:ea typeface="Calibri"/>
              <a:cs typeface="Calibri"/>
              <a:sym typeface="Calibri"/>
            </a:endParaRPr>
          </a:p>
        </p:txBody>
      </p:sp>
      <p:sp>
        <p:nvSpPr>
          <p:cNvPr id="204" name="Google Shape;204;p26"/>
          <p:cNvSpPr/>
          <p:nvPr/>
        </p:nvSpPr>
        <p:spPr>
          <a:xfrm>
            <a:off x="280987" y="1664460"/>
            <a:ext cx="11630025" cy="434340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Certains traitements et analyses sur des </a:t>
            </a:r>
            <a:r>
              <a:rPr b="0" i="0" lang="fr-FR" sz="3200" u="none" cap="none" strike="noStrike">
                <a:solidFill>
                  <a:srgbClr val="C00000"/>
                </a:solidFill>
                <a:latin typeface="Calibri"/>
                <a:ea typeface="Calibri"/>
                <a:cs typeface="Calibri"/>
                <a:sym typeface="Calibri"/>
              </a:rPr>
              <a:t>variables qualitatives </a:t>
            </a:r>
            <a:r>
              <a:rPr b="0" i="0" lang="fr-FR" sz="3200" u="none" cap="none" strike="noStrike">
                <a:solidFill>
                  <a:schemeClr val="dk1"/>
                </a:solidFill>
                <a:latin typeface="Calibri"/>
                <a:ea typeface="Calibri"/>
                <a:cs typeface="Calibri"/>
                <a:sym typeface="Calibri"/>
              </a:rPr>
              <a:t>nécessitent que ces dernières présentent une forme « </a:t>
            </a:r>
            <a:r>
              <a:rPr b="1" i="0" lang="fr-FR" sz="3200" u="none" cap="none" strike="noStrike">
                <a:solidFill>
                  <a:srgbClr val="C00000"/>
                </a:solidFill>
                <a:latin typeface="Calibri"/>
                <a:ea typeface="Calibri"/>
                <a:cs typeface="Calibri"/>
                <a:sym typeface="Calibri"/>
              </a:rPr>
              <a:t>pseudo quantitative </a:t>
            </a:r>
            <a:r>
              <a:rPr b="0" i="0" lang="fr-FR" sz="3200" u="none" cap="none" strike="noStrike">
                <a:solidFill>
                  <a:schemeClr val="dk1"/>
                </a:solidFill>
                <a:latin typeface="Calibri"/>
                <a:ea typeface="Calibri"/>
                <a:cs typeface="Calibri"/>
                <a:sym typeface="Calibri"/>
              </a:rPr>
              <a:t>» en lieu et place de leur forme « </a:t>
            </a:r>
            <a:r>
              <a:rPr b="1" i="0" lang="fr-FR" sz="3200" u="none" cap="none" strike="noStrike">
                <a:solidFill>
                  <a:srgbClr val="C00000"/>
                </a:solidFill>
                <a:latin typeface="Calibri"/>
                <a:ea typeface="Calibri"/>
                <a:cs typeface="Calibri"/>
                <a:sym typeface="Calibri"/>
              </a:rPr>
              <a:t>nominale</a:t>
            </a:r>
            <a:r>
              <a:rPr b="0" i="0" lang="fr-FR" sz="3200" u="none" cap="none" strike="noStrike">
                <a:solidFill>
                  <a:schemeClr val="dk1"/>
                </a:solidFill>
                <a:latin typeface="Calibri"/>
                <a:ea typeface="Calibri"/>
                <a:cs typeface="Calibri"/>
                <a:sym typeface="Calibri"/>
              </a:rPr>
              <a:t>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C'est notamment le cas lorsqu'il s'agit d'utiliser des variables qualitatives dans un traitement multivarié (faire une régression linéaire etc…)ou simplement lorsque l'on désire les rendre manipulables et compatibles avec des logiciels statistiques.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p:nvPr/>
        </p:nvSpPr>
        <p:spPr>
          <a:xfrm>
            <a:off x="1332963" y="444187"/>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fr-FR" sz="4000" u="none" cap="none" strike="noStrike">
                <a:solidFill>
                  <a:schemeClr val="dk1"/>
                </a:solidFill>
                <a:latin typeface="Calibri"/>
                <a:ea typeface="Calibri"/>
                <a:cs typeface="Calibri"/>
                <a:sym typeface="Calibri"/>
              </a:rPr>
              <a:t>Les types de codage:</a:t>
            </a:r>
            <a:endParaRPr b="0" i="0" sz="4000" u="none" cap="none" strike="noStrike">
              <a:solidFill>
                <a:schemeClr val="dk1"/>
              </a:solidFill>
              <a:latin typeface="Calibri"/>
              <a:ea typeface="Calibri"/>
              <a:cs typeface="Calibri"/>
              <a:sym typeface="Calibri"/>
            </a:endParaRPr>
          </a:p>
        </p:txBody>
      </p:sp>
      <p:sp>
        <p:nvSpPr>
          <p:cNvPr id="210" name="Google Shape;210;p27"/>
          <p:cNvSpPr/>
          <p:nvPr/>
        </p:nvSpPr>
        <p:spPr>
          <a:xfrm>
            <a:off x="280987" y="1381125"/>
            <a:ext cx="11630025" cy="523875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Les échelles nominales</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Elles correspondent à des valeurs qualitatives nominales (masculin/féminin). Les modalités de réponses sont une série de catégories, de classes non hiérarchisées.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La mesure utilisée est une valeur arbitraire qui correspondent au fait de posséder ou non la propriété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1" lang="fr-FR" sz="2400" u="none" cap="none" strike="noStrike">
                <a:solidFill>
                  <a:schemeClr val="dk1"/>
                </a:solidFill>
                <a:latin typeface="Calibri"/>
                <a:ea typeface="Calibri"/>
                <a:cs typeface="Calibri"/>
                <a:sym typeface="Calibri"/>
              </a:rPr>
              <a:t>Exemples</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Sexe: Masculin Féminin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Codage: 1 pour masculin et 2 pour féminin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Etes vous pour l'euthanasie?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Codage: 1 pour « oui » et 0 pour « non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p:nvPr/>
        </p:nvSpPr>
        <p:spPr>
          <a:xfrm>
            <a:off x="280987" y="1381125"/>
            <a:ext cx="11630025" cy="523875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Les échelles nominales</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Elles correspondent à des valeurs qualitatives nominales (masculin/féminin). Les modalités de réponses sont une série de catégories, de classes non hiérarchisées.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La mesure utilisée est une valeur arbitraire qui correspondent au fait de posséder ou non la propriété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1" lang="fr-FR" sz="2400" u="none" cap="none" strike="noStrike">
                <a:solidFill>
                  <a:schemeClr val="dk1"/>
                </a:solidFill>
                <a:latin typeface="Calibri"/>
                <a:ea typeface="Calibri"/>
                <a:cs typeface="Calibri"/>
                <a:sym typeface="Calibri"/>
              </a:rPr>
              <a:t>Exemples</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Sexe: Masculin Féminin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Codage: 1 pour masculin et 2 pour féminin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Etes vous pour l'euthanasie?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Codage: 1 pour « oui » et 0 pour « non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16" name="Google Shape;216;p28"/>
          <p:cNvSpPr/>
          <p:nvPr/>
        </p:nvSpPr>
        <p:spPr>
          <a:xfrm>
            <a:off x="1332963" y="482824"/>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fr-FR" sz="4000" u="none" cap="none" strike="noStrike">
                <a:solidFill>
                  <a:schemeClr val="dk1"/>
                </a:solidFill>
                <a:latin typeface="Calibri"/>
                <a:ea typeface="Calibri"/>
                <a:cs typeface="Calibri"/>
                <a:sym typeface="Calibri"/>
              </a:rPr>
              <a:t>Les types de codage:</a:t>
            </a:r>
            <a:endParaRPr b="0" i="0" sz="4000" u="none" cap="none" strike="noStrike">
              <a:solidFill>
                <a:schemeClr val="dk1"/>
              </a:solidFill>
              <a:latin typeface="Calibri"/>
              <a:ea typeface="Calibri"/>
              <a:cs typeface="Calibri"/>
              <a:sym typeface="Calibri"/>
            </a:endParaRPr>
          </a:p>
        </p:txBody>
      </p:sp>
      <p:sp>
        <p:nvSpPr>
          <p:cNvPr id="217" name="Google Shape;217;p28"/>
          <p:cNvSpPr/>
          <p:nvPr/>
        </p:nvSpPr>
        <p:spPr>
          <a:xfrm>
            <a:off x="247649" y="1381125"/>
            <a:ext cx="11630025" cy="5238750"/>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Les échelles ordinales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Les modalités de réponses sont des catégories ordonnées logiquement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Ces catégories sont représentées par des valeurs numériques ou des lettres, non arbitraires et ordonnées.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Exemple: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Comment envisagez vous votre avenir professionnel?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Très précis  Précis  Assez précis Peu précis Imprécis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1                2                3                 4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Les échelles d'opinion, d'attitudes (Likert) sont les plus connues des échelles ordinales.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18" name="Google Shape;218;p28"/>
          <p:cNvSpPr/>
          <p:nvPr/>
        </p:nvSpPr>
        <p:spPr>
          <a:xfrm>
            <a:off x="423862" y="238125"/>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p:nvPr/>
        </p:nvSpPr>
        <p:spPr>
          <a:xfrm>
            <a:off x="352425" y="1409699"/>
            <a:ext cx="11558588" cy="5210175"/>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Les échelles d'intervalles</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Les modalités de réponses sont des catégories, des classes ordonnées logiquement et qui présentent en plus des distances, des intervalles clairement définis entre les catégories.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Il s'agit de variables quantitatives (ou numériques).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24" name="Google Shape;224;p29"/>
          <p:cNvSpPr/>
          <p:nvPr/>
        </p:nvSpPr>
        <p:spPr>
          <a:xfrm>
            <a:off x="-689020" y="490335"/>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Codage des variables quantitatives </a:t>
            </a:r>
            <a:endParaRPr b="0" i="0" sz="4000" u="none" cap="none" strike="noStrike">
              <a:solidFill>
                <a:srgbClr val="C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p:nvPr/>
        </p:nvSpPr>
        <p:spPr>
          <a:xfrm>
            <a:off x="-1253796" y="526482"/>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2.Normalisation des données</a:t>
            </a:r>
            <a:endParaRPr b="0" i="0" sz="4000" u="none" cap="none" strike="noStrike">
              <a:solidFill>
                <a:srgbClr val="C00000"/>
              </a:solidFill>
              <a:latin typeface="Calibri"/>
              <a:ea typeface="Calibri"/>
              <a:cs typeface="Calibri"/>
              <a:sym typeface="Calibri"/>
            </a:endParaRPr>
          </a:p>
        </p:txBody>
      </p:sp>
      <p:sp>
        <p:nvSpPr>
          <p:cNvPr id="230" name="Google Shape;230;p30"/>
          <p:cNvSpPr txBox="1"/>
          <p:nvPr/>
        </p:nvSpPr>
        <p:spPr>
          <a:xfrm>
            <a:off x="457199" y="1481328"/>
            <a:ext cx="10327341" cy="4525963"/>
          </a:xfrm>
          <a:prstGeom prst="rect">
            <a:avLst/>
          </a:prstGeom>
          <a:noFill/>
          <a:ln>
            <a:noFill/>
          </a:ln>
        </p:spPr>
        <p:txBody>
          <a:bodyPr anchorCtr="0" anchor="t" bIns="45700" lIns="91425" spcFirstLastPara="1" rIns="91425" wrap="square" tIns="45700">
            <a:normAutofit/>
          </a:bodyPr>
          <a:lstStyle/>
          <a:p>
            <a:pPr indent="-228600" lvl="0" marL="228600" marR="0" rtl="0" algn="just">
              <a:lnSpc>
                <a:spcPct val="9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Il</a:t>
            </a:r>
            <a:r>
              <a:rPr b="0" i="0" lang="fr-FR" sz="3600" u="none" cap="none" strike="noStrike">
                <a:solidFill>
                  <a:schemeClr val="dk1"/>
                </a:solidFill>
                <a:latin typeface="Times New Roman"/>
                <a:ea typeface="Times New Roman"/>
                <a:cs typeface="Times New Roman"/>
                <a:sym typeface="Times New Roman"/>
              </a:rPr>
              <a:t> </a:t>
            </a:r>
            <a:r>
              <a:rPr b="0" i="0" lang="fr-FR" sz="2800" u="none" cap="none" strike="noStrike">
                <a:solidFill>
                  <a:schemeClr val="dk1"/>
                </a:solidFill>
                <a:latin typeface="Calibri"/>
                <a:ea typeface="Calibri"/>
                <a:cs typeface="Calibri"/>
                <a:sym typeface="Calibri"/>
              </a:rPr>
              <a:t>existe plusieurs transformations utilisées. Par exemple l'analyse centrée qui consiste à modifier les données d’un tableau </a:t>
            </a:r>
            <a:r>
              <a:rPr b="1" i="0" lang="fr-FR" sz="2800" u="none" cap="none" strike="noStrike">
                <a:solidFill>
                  <a:srgbClr val="0070C0"/>
                </a:solidFill>
                <a:latin typeface="Calibri"/>
                <a:ea typeface="Calibri"/>
                <a:cs typeface="Calibri"/>
                <a:sym typeface="Calibri"/>
              </a:rPr>
              <a:t>X</a:t>
            </a:r>
            <a:r>
              <a:rPr b="0" i="0" lang="fr-FR" sz="2800" u="none" cap="none" strike="noStrike">
                <a:solidFill>
                  <a:schemeClr val="dk1"/>
                </a:solidFill>
                <a:latin typeface="Calibri"/>
                <a:ea typeface="Calibri"/>
                <a:cs typeface="Calibri"/>
                <a:sym typeface="Calibri"/>
              </a:rPr>
              <a:t> en remplaçant les valeurs des  </a:t>
            </a:r>
            <a:r>
              <a:rPr b="1" i="0" lang="fr-FR" sz="2800" u="none" cap="none" strike="noStrike">
                <a:solidFill>
                  <a:srgbClr val="C00000"/>
                </a:solidFill>
                <a:latin typeface="Calibri"/>
                <a:ea typeface="Calibri"/>
                <a:cs typeface="Calibri"/>
                <a:sym typeface="Calibri"/>
              </a:rPr>
              <a:t>x</a:t>
            </a:r>
            <a:r>
              <a:rPr b="1" i="0" lang="fr-FR" sz="1400" u="none" cap="none" strike="noStrike">
                <a:solidFill>
                  <a:srgbClr val="C00000"/>
                </a:solidFill>
                <a:latin typeface="Calibri"/>
                <a:ea typeface="Calibri"/>
                <a:cs typeface="Calibri"/>
                <a:sym typeface="Calibri"/>
              </a:rPr>
              <a:t>ik</a:t>
            </a:r>
            <a:r>
              <a:rPr b="0" i="0" lang="fr-FR" sz="2800" u="none" cap="none" strike="noStrike">
                <a:solidFill>
                  <a:schemeClr val="dk1"/>
                </a:solidFill>
                <a:latin typeface="Calibri"/>
                <a:ea typeface="Calibri"/>
                <a:cs typeface="Calibri"/>
                <a:sym typeface="Calibri"/>
              </a:rPr>
              <a:t> par des valeurs dans l’intervalle 0 et 1 pour ne pas privilégier les attributs ayant les plus grands domaines de variation (par exemple salaire/age)</a:t>
            </a:r>
            <a:endParaRPr b="0" i="0" sz="1400" u="none" cap="none" strike="noStrike">
              <a:solidFill>
                <a:srgbClr val="000000"/>
              </a:solidFill>
              <a:latin typeface="Arial"/>
              <a:ea typeface="Arial"/>
              <a:cs typeface="Arial"/>
              <a:sym typeface="Aria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1" name="Google Shape;231;p30"/>
          <p:cNvSpPr/>
          <p:nvPr/>
        </p:nvSpPr>
        <p:spPr>
          <a:xfrm>
            <a:off x="457199" y="3950331"/>
            <a:ext cx="10327341" cy="224676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L'analyse </a:t>
            </a:r>
            <a:r>
              <a:rPr b="1" i="0" lang="fr-FR" sz="2800" u="sng" cap="none" strike="noStrike">
                <a:solidFill>
                  <a:schemeClr val="dk1"/>
                </a:solidFill>
                <a:latin typeface="Calibri"/>
                <a:ea typeface="Calibri"/>
                <a:cs typeface="Calibri"/>
                <a:sym typeface="Calibri"/>
              </a:rPr>
              <a:t>centrée réduite </a:t>
            </a:r>
            <a:r>
              <a:rPr b="0" i="0" lang="fr-FR" sz="2800" u="none" cap="none" strike="noStrike">
                <a:solidFill>
                  <a:schemeClr val="dk1"/>
                </a:solidFill>
                <a:latin typeface="Calibri"/>
                <a:ea typeface="Calibri"/>
                <a:cs typeface="Calibri"/>
                <a:sym typeface="Calibri"/>
              </a:rPr>
              <a:t>ou encore </a:t>
            </a:r>
            <a:r>
              <a:rPr b="1" i="0" lang="fr-FR" sz="2800" u="sng" cap="none" strike="noStrike">
                <a:solidFill>
                  <a:schemeClr val="dk1"/>
                </a:solidFill>
                <a:latin typeface="Calibri"/>
                <a:ea typeface="Calibri"/>
                <a:cs typeface="Calibri"/>
                <a:sym typeface="Calibri"/>
              </a:rPr>
              <a:t>normée</a:t>
            </a:r>
            <a:r>
              <a:rPr b="0" i="0" lang="fr-FR" sz="2800" u="none" cap="none" strike="noStrike">
                <a:solidFill>
                  <a:schemeClr val="dk1"/>
                </a:solidFill>
                <a:latin typeface="Calibri"/>
                <a:ea typeface="Calibri"/>
                <a:cs typeface="Calibri"/>
                <a:sym typeface="Calibri"/>
              </a:rPr>
              <a:t> est liée à la transformation des données du tableau </a:t>
            </a:r>
            <a:r>
              <a:rPr b="1" i="0" lang="fr-FR" sz="2800" u="none" cap="none" strike="noStrike">
                <a:solidFill>
                  <a:srgbClr val="0070C0"/>
                </a:solidFill>
                <a:latin typeface="Calibri"/>
                <a:ea typeface="Calibri"/>
                <a:cs typeface="Calibri"/>
                <a:sym typeface="Calibri"/>
              </a:rPr>
              <a:t>X</a:t>
            </a:r>
            <a:r>
              <a:rPr b="0" i="0" lang="fr-FR" sz="2800" u="none" cap="none" strike="noStrike">
                <a:solidFill>
                  <a:schemeClr val="dk1"/>
                </a:solidFill>
                <a:latin typeface="Calibri"/>
                <a:ea typeface="Calibri"/>
                <a:cs typeface="Calibri"/>
                <a:sym typeface="Calibri"/>
              </a:rPr>
              <a:t> en remplaçant les valeurs des </a:t>
            </a:r>
            <a:r>
              <a:rPr b="1" i="0" lang="fr-FR" sz="2800" u="none" cap="none" strike="noStrike">
                <a:solidFill>
                  <a:srgbClr val="C00000"/>
                </a:solidFill>
                <a:latin typeface="Calibri"/>
                <a:ea typeface="Calibri"/>
                <a:cs typeface="Calibri"/>
                <a:sym typeface="Calibri"/>
              </a:rPr>
              <a:t>x</a:t>
            </a:r>
            <a:r>
              <a:rPr b="1" i="0" lang="fr-FR" sz="1800" u="none" cap="none" strike="noStrike">
                <a:solidFill>
                  <a:srgbClr val="C00000"/>
                </a:solidFill>
                <a:latin typeface="Calibri"/>
                <a:ea typeface="Calibri"/>
                <a:cs typeface="Calibri"/>
                <a:sym typeface="Calibri"/>
              </a:rPr>
              <a:t>ik</a:t>
            </a:r>
            <a:r>
              <a:rPr b="0" i="0" lang="fr-FR" sz="2800" u="none" cap="none" strike="noStrike">
                <a:solidFill>
                  <a:schemeClr val="dk1"/>
                </a:solidFill>
                <a:latin typeface="Calibri"/>
                <a:ea typeface="Calibri"/>
                <a:cs typeface="Calibri"/>
                <a:sym typeface="Calibri"/>
              </a:rPr>
              <a:t> par </a:t>
            </a:r>
            <a:r>
              <a:rPr b="1" i="0" lang="fr-FR" sz="2800" u="none" cap="none" strike="noStrike">
                <a:solidFill>
                  <a:srgbClr val="C00000"/>
                </a:solidFill>
                <a:latin typeface="Calibri"/>
                <a:ea typeface="Calibri"/>
                <a:cs typeface="Calibri"/>
                <a:sym typeface="Calibri"/>
              </a:rPr>
              <a:t>((x</a:t>
            </a:r>
            <a:r>
              <a:rPr b="1" i="0" lang="fr-FR" sz="1800" u="none" cap="none" strike="noStrike">
                <a:solidFill>
                  <a:srgbClr val="C00000"/>
                </a:solidFill>
                <a:latin typeface="Calibri"/>
                <a:ea typeface="Calibri"/>
                <a:cs typeface="Calibri"/>
                <a:sym typeface="Calibri"/>
              </a:rPr>
              <a:t>ik</a:t>
            </a:r>
            <a:r>
              <a:rPr b="1" i="0" lang="fr-FR" sz="2800" u="none" cap="none" strike="noStrike">
                <a:solidFill>
                  <a:srgbClr val="C00000"/>
                </a:solidFill>
                <a:latin typeface="Calibri"/>
                <a:ea typeface="Calibri"/>
                <a:cs typeface="Calibri"/>
                <a:sym typeface="Calibri"/>
              </a:rPr>
              <a:t> – moyenne)/écart type).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C00000"/>
              </a:solidFill>
              <a:latin typeface="Calibri"/>
              <a:ea typeface="Calibri"/>
              <a:cs typeface="Calibri"/>
              <a:sym typeface="Calibri"/>
            </a:endParaRPr>
          </a:p>
          <a:p>
            <a:pPr indent="-457200" lvl="0" marL="566928"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Réduire les données permet d'uniformiser les unités de mesures. </a:t>
            </a:r>
            <a:endParaRPr b="0" i="0" sz="1400" u="none" cap="none" strike="noStrike">
              <a:solidFill>
                <a:srgbClr val="000000"/>
              </a:solidFill>
              <a:latin typeface="Arial"/>
              <a:ea typeface="Arial"/>
              <a:cs typeface="Arial"/>
              <a:sym typeface="Arial"/>
            </a:endParaRPr>
          </a:p>
        </p:txBody>
      </p:sp>
      <p:sp>
        <p:nvSpPr>
          <p:cNvPr id="232" name="Google Shape;232;p30"/>
          <p:cNvSpPr/>
          <p:nvPr/>
        </p:nvSpPr>
        <p:spPr>
          <a:xfrm>
            <a:off x="352425" y="1409699"/>
            <a:ext cx="11558588" cy="521017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352425" y="1751804"/>
            <a:ext cx="11470482" cy="4525963"/>
          </a:xfrm>
          <a:prstGeom prst="rect">
            <a:avLst/>
          </a:prstGeom>
          <a:noFill/>
          <a:ln>
            <a:noFill/>
          </a:ln>
        </p:spPr>
        <p:txBody>
          <a:bodyPr anchorCtr="0" anchor="t" bIns="45700" lIns="91425" spcFirstLastPara="1" rIns="91425" wrap="square" tIns="45700">
            <a:noAutofit/>
          </a:bodyPr>
          <a:lstStyle/>
          <a:p>
            <a:pPr indent="0" lvl="0" marL="109728" marR="0" rtl="0" algn="l">
              <a:lnSpc>
                <a:spcPct val="90000"/>
              </a:lnSpc>
              <a:spcBef>
                <a:spcPts val="0"/>
              </a:spcBef>
              <a:spcAft>
                <a:spcPts val="0"/>
              </a:spcAft>
              <a:buClr>
                <a:srgbClr val="C00000"/>
              </a:buClr>
              <a:buSzPts val="2800"/>
              <a:buFont typeface="Arial"/>
              <a:buNone/>
            </a:pPr>
            <a:r>
              <a:rPr b="1" i="0" lang="fr-FR" sz="2800" u="none" cap="none" strike="noStrike">
                <a:solidFill>
                  <a:srgbClr val="C00000"/>
                </a:solidFill>
                <a:latin typeface="Calibri"/>
                <a:ea typeface="Calibri"/>
                <a:cs typeface="Calibri"/>
                <a:sym typeface="Calibri"/>
              </a:rPr>
              <a:t>scale()</a:t>
            </a:r>
            <a:r>
              <a:rPr b="0" i="0" lang="fr-FR" sz="2800" u="none" cap="none" strike="noStrike">
                <a:solidFill>
                  <a:schemeClr val="dk1"/>
                </a:solidFill>
                <a:latin typeface="Calibri"/>
                <a:ea typeface="Calibri"/>
                <a:cs typeface="Calibri"/>
                <a:sym typeface="Calibri"/>
              </a:rPr>
              <a:t>: permet de normaliser par colonne les valeurs numériques dans une matrice ou un data frame.</a:t>
            </a:r>
            <a:endParaRPr b="0" i="0" sz="1400" u="none" cap="none" strike="noStrike">
              <a:solidFill>
                <a:srgbClr val="000000"/>
              </a:solidFill>
              <a:latin typeface="Arial"/>
              <a:ea typeface="Arial"/>
              <a:cs typeface="Arial"/>
              <a:sym typeface="Arial"/>
            </a:endParaRPr>
          </a:p>
          <a:p>
            <a:pPr indent="0" lvl="0" marL="109728"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90000"/>
              </a:lnSpc>
              <a:spcBef>
                <a:spcPts val="1000"/>
              </a:spcBef>
              <a:spcAft>
                <a:spcPts val="0"/>
              </a:spcAft>
              <a:buClr>
                <a:schemeClr val="dk1"/>
              </a:buClr>
              <a:buSzPts val="2800"/>
              <a:buFont typeface="Arial"/>
              <a:buNone/>
            </a:pPr>
            <a:r>
              <a:rPr b="1" i="0" lang="fr-FR" sz="2800" u="sng" cap="none" strike="noStrike">
                <a:solidFill>
                  <a:schemeClr val="dk1"/>
                </a:solidFill>
                <a:latin typeface="Calibri"/>
                <a:ea typeface="Calibri"/>
                <a:cs typeface="Calibri"/>
                <a:sym typeface="Calibri"/>
              </a:rPr>
              <a:t>Exemple:</a:t>
            </a:r>
            <a:r>
              <a:rPr b="0" i="0" lang="fr-FR" sz="2800" u="none" cap="none" strike="noStrike">
                <a:solidFill>
                  <a:schemeClr val="dk1"/>
                </a:solidFill>
                <a:latin typeface="Calibri"/>
                <a:ea typeface="Calibri"/>
                <a:cs typeface="Calibri"/>
                <a:sym typeface="Calibri"/>
              </a:rPr>
              <a:t>  Standardisons les valeurs du jeu de donnes Data avec la fonction </a:t>
            </a:r>
            <a:r>
              <a:rPr b="1" i="0" lang="fr-FR" sz="2800" u="none" cap="none" strike="noStrike">
                <a:solidFill>
                  <a:srgbClr val="C00000"/>
                </a:solidFill>
                <a:latin typeface="Calibri"/>
                <a:ea typeface="Calibri"/>
                <a:cs typeface="Calibri"/>
                <a:sym typeface="Calibri"/>
              </a:rPr>
              <a:t>scale().</a:t>
            </a:r>
            <a:endParaRPr b="0" i="0" sz="1400" u="none" cap="none" strike="noStrike">
              <a:solidFill>
                <a:srgbClr val="000000"/>
              </a:solidFill>
              <a:latin typeface="Arial"/>
              <a:ea typeface="Arial"/>
              <a:cs typeface="Arial"/>
              <a:sym typeface="Arial"/>
            </a:endParaRPr>
          </a:p>
          <a:p>
            <a:pPr indent="0" lvl="0" marL="109728" marR="0" rtl="0" algn="l">
              <a:lnSpc>
                <a:spcPct val="90000"/>
              </a:lnSpc>
              <a:spcBef>
                <a:spcPts val="1000"/>
              </a:spcBef>
              <a:spcAft>
                <a:spcPts val="0"/>
              </a:spcAft>
              <a:buClr>
                <a:srgbClr val="0070C0"/>
              </a:buClr>
              <a:buSzPts val="2800"/>
              <a:buFont typeface="Arial"/>
              <a:buNone/>
            </a:pPr>
            <a:r>
              <a:rPr b="0" i="0" lang="fr-FR" sz="2800" u="none" cap="none" strike="noStrike">
                <a:solidFill>
                  <a:srgbClr val="0070C0"/>
                </a:solidFill>
                <a:latin typeface="Calibri"/>
                <a:ea typeface="Calibri"/>
                <a:cs typeface="Calibri"/>
                <a:sym typeface="Calibri"/>
              </a:rPr>
              <a:t>Data&lt;-matrix(c(1,0,3,0,5,0,3,2,5,3,7,2,4,9,0),3,5)</a:t>
            </a:r>
            <a:endParaRPr b="0" i="0" sz="1400" u="none" cap="none" strike="noStrike">
              <a:solidFill>
                <a:srgbClr val="000000"/>
              </a:solidFill>
              <a:latin typeface="Arial"/>
              <a:ea typeface="Arial"/>
              <a:cs typeface="Arial"/>
              <a:sym typeface="Arial"/>
            </a:endParaRPr>
          </a:p>
          <a:p>
            <a:pPr indent="0" lvl="0" marL="109728" marR="0" rtl="0" algn="l">
              <a:lnSpc>
                <a:spcPct val="90000"/>
              </a:lnSpc>
              <a:spcBef>
                <a:spcPts val="1000"/>
              </a:spcBef>
              <a:spcAft>
                <a:spcPts val="0"/>
              </a:spcAft>
              <a:buClr>
                <a:srgbClr val="0070C0"/>
              </a:buClr>
              <a:buSzPts val="2800"/>
              <a:buFont typeface="Arial"/>
              <a:buNone/>
            </a:pPr>
            <a:r>
              <a:rPr b="0" i="0" lang="fr-FR" sz="2800" u="none" cap="none" strike="noStrike">
                <a:solidFill>
                  <a:srgbClr val="0070C0"/>
                </a:solidFill>
                <a:latin typeface="Calibri"/>
                <a:ea typeface="Calibri"/>
                <a:cs typeface="Calibri"/>
                <a:sym typeface="Calibri"/>
              </a:rPr>
              <a:t>Data_standard &lt;- scale(Data)</a:t>
            </a:r>
            <a:endParaRPr b="0" i="0" sz="1400" u="none" cap="none" strike="noStrike">
              <a:solidFill>
                <a:srgbClr val="000000"/>
              </a:solidFill>
              <a:latin typeface="Arial"/>
              <a:ea typeface="Arial"/>
              <a:cs typeface="Arial"/>
              <a:sym typeface="Arial"/>
            </a:endParaRPr>
          </a:p>
          <a:p>
            <a:pPr indent="0" lvl="0" marL="109728"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90000"/>
              </a:lnSpc>
              <a:spcBef>
                <a:spcPts val="1000"/>
              </a:spcBef>
              <a:spcAft>
                <a:spcPts val="0"/>
              </a:spcAft>
              <a:buClr>
                <a:schemeClr val="dk1"/>
              </a:buClr>
              <a:buSzPts val="2800"/>
              <a:buFont typeface="Arial"/>
              <a:buNone/>
            </a:pPr>
            <a:r>
              <a:rPr b="0" i="0" lang="fr-FR" sz="2800" u="none" cap="none" strike="noStrike">
                <a:solidFill>
                  <a:schemeClr val="dk1"/>
                </a:solidFill>
                <a:latin typeface="Calibri"/>
                <a:ea typeface="Calibri"/>
                <a:cs typeface="Calibri"/>
                <a:sym typeface="Calibri"/>
              </a:rPr>
              <a:t>Les valeurs dans chacune des colonnes de Data_standard ont une moyenne de 0 et un écart-type de 1. Elles sont donc sur la même échelle.</a:t>
            </a:r>
            <a:endParaRPr b="0" i="0" sz="1400" u="none" cap="none" strike="noStrike">
              <a:solidFill>
                <a:srgbClr val="000000"/>
              </a:solidFill>
              <a:latin typeface="Arial"/>
              <a:ea typeface="Arial"/>
              <a:cs typeface="Arial"/>
              <a:sym typeface="Arial"/>
            </a:endParaRPr>
          </a:p>
        </p:txBody>
      </p:sp>
      <p:sp>
        <p:nvSpPr>
          <p:cNvPr id="238" name="Google Shape;238;p31"/>
          <p:cNvSpPr/>
          <p:nvPr/>
        </p:nvSpPr>
        <p:spPr>
          <a:xfrm>
            <a:off x="-487313" y="511547"/>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2.Normalisation des données (Sous R)</a:t>
            </a:r>
            <a:endParaRPr b="0" i="0" sz="4000" u="none" cap="none" strike="noStrike">
              <a:solidFill>
                <a:srgbClr val="C00000"/>
              </a:solidFill>
              <a:latin typeface="Calibri"/>
              <a:ea typeface="Calibri"/>
              <a:cs typeface="Calibri"/>
              <a:sym typeface="Calibri"/>
            </a:endParaRPr>
          </a:p>
        </p:txBody>
      </p:sp>
      <p:sp>
        <p:nvSpPr>
          <p:cNvPr id="239" name="Google Shape;239;p31"/>
          <p:cNvSpPr/>
          <p:nvPr/>
        </p:nvSpPr>
        <p:spPr>
          <a:xfrm>
            <a:off x="352425" y="1409699"/>
            <a:ext cx="11558588" cy="521017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p:nvPr/>
        </p:nvSpPr>
        <p:spPr>
          <a:xfrm>
            <a:off x="-487313" y="511547"/>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2.Normalisation des données (Sous R)</a:t>
            </a:r>
            <a:endParaRPr b="0" i="0" sz="4000" u="none" cap="none" strike="noStrike">
              <a:solidFill>
                <a:srgbClr val="C00000"/>
              </a:solidFill>
              <a:latin typeface="Calibri"/>
              <a:ea typeface="Calibri"/>
              <a:cs typeface="Calibri"/>
              <a:sym typeface="Calibri"/>
            </a:endParaRPr>
          </a:p>
        </p:txBody>
      </p:sp>
      <p:sp>
        <p:nvSpPr>
          <p:cNvPr id="245" name="Google Shape;245;p32"/>
          <p:cNvSpPr/>
          <p:nvPr/>
        </p:nvSpPr>
        <p:spPr>
          <a:xfrm>
            <a:off x="352425" y="1409699"/>
            <a:ext cx="11558588" cy="521017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46" name="Google Shape;246;p32"/>
          <p:cNvSpPr txBox="1"/>
          <p:nvPr/>
        </p:nvSpPr>
        <p:spPr>
          <a:xfrm>
            <a:off x="690299" y="1751804"/>
            <a:ext cx="10309538" cy="4525963"/>
          </a:xfrm>
          <a:prstGeom prst="rect">
            <a:avLst/>
          </a:prstGeom>
          <a:noFill/>
          <a:ln>
            <a:noFill/>
          </a:ln>
        </p:spPr>
        <p:txBody>
          <a:bodyPr anchorCtr="0" anchor="t" bIns="45700" lIns="91425" spcFirstLastPara="1" rIns="91425" wrap="square" tIns="45700">
            <a:normAutofit/>
          </a:bodyPr>
          <a:lstStyle/>
          <a:p>
            <a:pPr indent="0" lvl="0" marL="109728" marR="0" rtl="0" algn="just">
              <a:lnSpc>
                <a:spcPct val="90000"/>
              </a:lnSpc>
              <a:spcBef>
                <a:spcPts val="0"/>
              </a:spcBef>
              <a:spcAft>
                <a:spcPts val="0"/>
              </a:spcAft>
              <a:buClr>
                <a:schemeClr val="dk1"/>
              </a:buClr>
              <a:buSzPts val="3600"/>
              <a:buFont typeface="Arial"/>
              <a:buNone/>
            </a:pPr>
            <a:r>
              <a:rPr b="0" i="0" lang="fr-FR" sz="3600" u="none" cap="none" strike="noStrike">
                <a:solidFill>
                  <a:schemeClr val="dk1"/>
                </a:solidFill>
                <a:latin typeface="Calibri"/>
                <a:ea typeface="Calibri"/>
                <a:cs typeface="Calibri"/>
                <a:sym typeface="Calibri"/>
              </a:rPr>
              <a:t>Les arguments center et scale de la fonction scale() permettent de contrôler, respectivement, les valeurs soustraites par colonnes et les valeurs par lesquelles les colonnes sont divisées. Il est possible, par exemple, de centrer sans réduire avec:</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chemeClr val="dk1"/>
              </a:buClr>
              <a:buSzPts val="3600"/>
              <a:buFont typeface="Arial"/>
              <a:buNone/>
            </a:pPr>
            <a:r>
              <a:rPr b="0" i="0" lang="fr-FR" sz="3600" u="none" cap="none" strike="noStrike">
                <a:solidFill>
                  <a:schemeClr val="dk1"/>
                </a:solidFill>
                <a:latin typeface="Times New Roman"/>
                <a:ea typeface="Times New Roman"/>
                <a:cs typeface="Times New Roman"/>
                <a:sym typeface="Times New Roman"/>
              </a:rPr>
              <a:t> </a:t>
            </a:r>
            <a:r>
              <a:rPr b="0" i="0" lang="fr-FR" sz="3200" u="none" cap="none" strike="noStrike">
                <a:solidFill>
                  <a:srgbClr val="0000FF"/>
                </a:solidFill>
                <a:latin typeface="Calibri"/>
                <a:ea typeface="Calibri"/>
                <a:cs typeface="Calibri"/>
                <a:sym typeface="Calibri"/>
              </a:rPr>
              <a:t>center = TRUE</a:t>
            </a:r>
            <a:r>
              <a:rPr b="0" i="0" lang="fr-FR" sz="3600" u="none" cap="none" strike="noStrike">
                <a:solidFill>
                  <a:schemeClr val="dk1"/>
                </a:solidFill>
                <a:latin typeface="Calibri"/>
                <a:ea typeface="Calibri"/>
                <a:cs typeface="Calibri"/>
                <a:sym typeface="Calibri"/>
              </a:rPr>
              <a:t> et </a:t>
            </a:r>
            <a:r>
              <a:rPr b="0" i="0" lang="fr-FR" sz="3200" u="none" cap="none" strike="noStrike">
                <a:solidFill>
                  <a:srgbClr val="0000FF"/>
                </a:solidFill>
                <a:latin typeface="Calibri"/>
                <a:ea typeface="Calibri"/>
                <a:cs typeface="Calibri"/>
                <a:sym typeface="Calibri"/>
              </a:rPr>
              <a:t>scale = FALSE</a:t>
            </a:r>
            <a:r>
              <a:rPr b="0" i="0" lang="fr-FR" sz="3600" u="none" cap="none" strike="noStrike">
                <a:solidFill>
                  <a:schemeClr val="dk1"/>
                </a:solidFill>
                <a:latin typeface="Calibri"/>
                <a:ea typeface="Calibri"/>
                <a:cs typeface="Calibri"/>
                <a:sym typeface="Calibri"/>
              </a:rPr>
              <a:t>.</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p:nvPr/>
        </p:nvSpPr>
        <p:spPr>
          <a:xfrm>
            <a:off x="-1253796" y="526482"/>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fr-FR" sz="4000" u="none" cap="none" strike="noStrike">
                <a:solidFill>
                  <a:srgbClr val="C00000"/>
                </a:solidFill>
                <a:latin typeface="Calibri"/>
                <a:ea typeface="Calibri"/>
                <a:cs typeface="Calibri"/>
                <a:sym typeface="Calibri"/>
              </a:rPr>
              <a:t>2.Normalisation des données</a:t>
            </a:r>
            <a:endParaRPr b="0" i="0" sz="4000" u="none" cap="none" strike="noStrike">
              <a:solidFill>
                <a:srgbClr val="C00000"/>
              </a:solidFill>
              <a:latin typeface="Calibri"/>
              <a:ea typeface="Calibri"/>
              <a:cs typeface="Calibri"/>
              <a:sym typeface="Calibri"/>
            </a:endParaRPr>
          </a:p>
        </p:txBody>
      </p:sp>
      <p:sp>
        <p:nvSpPr>
          <p:cNvPr id="252" name="Google Shape;252;p33"/>
          <p:cNvSpPr txBox="1"/>
          <p:nvPr/>
        </p:nvSpPr>
        <p:spPr>
          <a:xfrm>
            <a:off x="457200" y="1556792"/>
            <a:ext cx="10434918" cy="4525963"/>
          </a:xfrm>
          <a:prstGeom prst="rect">
            <a:avLst/>
          </a:prstGeom>
          <a:noFill/>
          <a:ln>
            <a:noFill/>
          </a:ln>
        </p:spPr>
        <p:txBody>
          <a:bodyPr anchorCtr="0" anchor="t" bIns="45700" lIns="91425" spcFirstLastPara="1" rIns="91425" wrap="square" tIns="45700">
            <a:normAutofit fontScale="92500" lnSpcReduction="10000"/>
          </a:bodyPr>
          <a:lstStyle/>
          <a:p>
            <a:pPr indent="0" lvl="0" marL="109728" marR="0" rtl="0" algn="just">
              <a:lnSpc>
                <a:spcPct val="90000"/>
              </a:lnSpc>
              <a:spcBef>
                <a:spcPts val="0"/>
              </a:spcBef>
              <a:spcAft>
                <a:spcPts val="0"/>
              </a:spcAft>
              <a:buClr>
                <a:schemeClr val="dk1"/>
              </a:buClr>
              <a:buSzPct val="100000"/>
              <a:buFont typeface="Arial"/>
              <a:buNone/>
            </a:pPr>
            <a:r>
              <a:rPr b="0" i="0" lang="fr-FR" sz="2800" u="none" cap="none" strike="noStrike">
                <a:solidFill>
                  <a:schemeClr val="dk1"/>
                </a:solidFill>
                <a:latin typeface="Calibri"/>
                <a:ea typeface="Calibri"/>
                <a:cs typeface="Calibri"/>
                <a:sym typeface="Calibri"/>
              </a:rPr>
              <a:t>Un autre exemple de normalisation possible avec scale est de ramener les mesures de toutes les variables entre 0 et 1. En notation statistique, la formule pour obtenir cette normalisation est la suivante</a:t>
            </a:r>
            <a:r>
              <a:rPr b="1" i="0" lang="fr-FR" sz="2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109728" marR="0" rtl="0" algn="ctr">
              <a:lnSpc>
                <a:spcPct val="90000"/>
              </a:lnSpc>
              <a:spcBef>
                <a:spcPts val="1000"/>
              </a:spcBef>
              <a:spcAft>
                <a:spcPts val="0"/>
              </a:spcAft>
              <a:buClr>
                <a:srgbClr val="000000"/>
              </a:buClr>
              <a:buSzPct val="100000"/>
              <a:buFont typeface="Arial"/>
              <a:buNone/>
            </a:pPr>
            <a:r>
              <a:rPr b="1" i="0" lang="fr-FR" sz="2800" u="none" cap="none" strike="noStrike">
                <a:solidFill>
                  <a:srgbClr val="000000"/>
                </a:solidFill>
                <a:latin typeface="Calibri"/>
                <a:ea typeface="Calibri"/>
                <a:cs typeface="Calibri"/>
                <a:sym typeface="Calibri"/>
              </a:rPr>
              <a:t>(xi-min(x))/(max(x)-min(x)) </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rgbClr val="000000"/>
              </a:buClr>
              <a:buSzPct val="100000"/>
              <a:buFont typeface="Arial"/>
              <a:buNone/>
            </a:pPr>
            <a:r>
              <a:rPr b="0" i="0" lang="fr-FR" sz="2800" u="sng" cap="none" strike="noStrike">
                <a:solidFill>
                  <a:srgbClr val="000000"/>
                </a:solidFill>
                <a:latin typeface="Calibri"/>
                <a:ea typeface="Calibri"/>
                <a:cs typeface="Calibri"/>
                <a:sym typeface="Calibri"/>
              </a:rPr>
              <a:t>Exemple</a:t>
            </a:r>
            <a:r>
              <a:rPr b="0" i="0" lang="fr-FR" sz="2800" u="none" cap="none" strike="noStrike">
                <a:solidFill>
                  <a:srgbClr val="000000"/>
                </a:solidFill>
                <a:latin typeface="Calibri"/>
                <a:ea typeface="Calibri"/>
                <a:cs typeface="Calibri"/>
                <a:sym typeface="Calibri"/>
              </a:rPr>
              <a:t>: effectuons cette normalisation sur le jeu de données </a:t>
            </a:r>
            <a:r>
              <a:rPr b="1" i="0" lang="fr-FR" sz="2800" u="none" cap="none" strike="noStrike">
                <a:solidFill>
                  <a:srgbClr val="000000"/>
                </a:solidFill>
                <a:latin typeface="Calibri"/>
                <a:ea typeface="Calibri"/>
                <a:cs typeface="Calibri"/>
                <a:sym typeface="Calibri"/>
              </a:rPr>
              <a:t>Data</a:t>
            </a:r>
            <a:r>
              <a:rPr b="0" i="0" lang="fr-FR" sz="28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rgbClr val="0000FF"/>
              </a:buClr>
              <a:buSzPct val="100000"/>
              <a:buFont typeface="Arial"/>
              <a:buNone/>
            </a:pPr>
            <a:r>
              <a:rPr b="0" i="0" lang="fr-FR" sz="2600" u="none" cap="none" strike="noStrike">
                <a:solidFill>
                  <a:srgbClr val="0000FF"/>
                </a:solidFill>
                <a:latin typeface="Calibri"/>
                <a:ea typeface="Calibri"/>
                <a:cs typeface="Calibri"/>
                <a:sym typeface="Calibri"/>
              </a:rPr>
              <a:t>Data&lt;-matrix(c(1,0,3,0,5,0,3,2,5,3,7,2,4,9,0),3,5)</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rgbClr val="0000FF"/>
              </a:buClr>
              <a:buSzPct val="100000"/>
              <a:buFont typeface="Arial"/>
              <a:buNone/>
            </a:pPr>
            <a:r>
              <a:rPr b="0" i="0" lang="fr-FR" sz="2600" u="none" cap="none" strike="noStrike">
                <a:solidFill>
                  <a:srgbClr val="0000FF"/>
                </a:solidFill>
                <a:latin typeface="Calibri"/>
                <a:ea typeface="Calibri"/>
                <a:cs typeface="Calibri"/>
                <a:sym typeface="Calibri"/>
              </a:rPr>
              <a:t>mmums &lt;- apply(Data, MARGIN = 2, FUN = min)  </a:t>
            </a:r>
            <a:r>
              <a:rPr b="0" i="0" lang="fr-FR" sz="2800" u="none" cap="none" strike="noStrike">
                <a:solidFill>
                  <a:srgbClr val="000000"/>
                </a:solidFill>
                <a:latin typeface="Calibri"/>
                <a:ea typeface="Calibri"/>
                <a:cs typeface="Calibri"/>
                <a:sym typeface="Calibri"/>
              </a:rPr>
              <a:t># obtention des minimums par variable</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rgbClr val="0000FF"/>
              </a:buClr>
              <a:buSzPct val="100000"/>
              <a:buFont typeface="Arial"/>
              <a:buNone/>
            </a:pPr>
            <a:r>
              <a:rPr b="0" i="0" lang="fr-FR" sz="2600" u="none" cap="none" strike="noStrike">
                <a:solidFill>
                  <a:srgbClr val="0000FF"/>
                </a:solidFill>
                <a:latin typeface="Calibri"/>
                <a:ea typeface="Calibri"/>
                <a:cs typeface="Calibri"/>
                <a:sym typeface="Calibri"/>
              </a:rPr>
              <a:t>mmums &lt;- apply(Data, MARGIN = 2, FUN = max)  </a:t>
            </a:r>
            <a:r>
              <a:rPr b="0" i="0" lang="fr-FR" sz="2800" u="none" cap="none" strike="noStrike">
                <a:solidFill>
                  <a:srgbClr val="000000"/>
                </a:solidFill>
                <a:latin typeface="Calibri"/>
                <a:ea typeface="Calibri"/>
                <a:cs typeface="Calibri"/>
                <a:sym typeface="Calibri"/>
              </a:rPr>
              <a:t># obtention des maximums par variable</a:t>
            </a:r>
            <a:endParaRPr b="0" i="0" sz="1400" u="none" cap="none" strike="noStrike">
              <a:solidFill>
                <a:srgbClr val="000000"/>
              </a:solidFill>
              <a:latin typeface="Arial"/>
              <a:ea typeface="Arial"/>
              <a:cs typeface="Arial"/>
              <a:sym typeface="Arial"/>
            </a:endParaRPr>
          </a:p>
          <a:p>
            <a:pPr indent="0" lvl="0" marL="109728" marR="0" rtl="0" algn="just">
              <a:lnSpc>
                <a:spcPct val="90000"/>
              </a:lnSpc>
              <a:spcBef>
                <a:spcPts val="1000"/>
              </a:spcBef>
              <a:spcAft>
                <a:spcPts val="0"/>
              </a:spcAft>
              <a:buClr>
                <a:srgbClr val="0000FF"/>
              </a:buClr>
              <a:buSzPct val="100000"/>
              <a:buFont typeface="Arial"/>
              <a:buNone/>
            </a:pPr>
            <a:r>
              <a:rPr b="0" i="0" lang="fr-FR" sz="2400" u="none" cap="none" strike="noStrike">
                <a:solidFill>
                  <a:srgbClr val="0000FF"/>
                </a:solidFill>
                <a:latin typeface="Calibri"/>
                <a:ea typeface="Calibri"/>
                <a:cs typeface="Calibri"/>
                <a:sym typeface="Calibri"/>
              </a:rPr>
              <a:t>Datanorm &lt;- scale(Data, center = mmums, scale = mmums - mmums)</a:t>
            </a:r>
            <a:endParaRPr b="0" i="0" sz="2400" u="none" cap="none" strike="noStrike">
              <a:solidFill>
                <a:srgbClr val="0000FF"/>
              </a:solidFill>
              <a:latin typeface="Calibri"/>
              <a:ea typeface="Calibri"/>
              <a:cs typeface="Calibri"/>
              <a:sym typeface="Calibri"/>
            </a:endParaRPr>
          </a:p>
        </p:txBody>
      </p:sp>
      <p:sp>
        <p:nvSpPr>
          <p:cNvPr id="253" name="Google Shape;253;p33"/>
          <p:cNvSpPr/>
          <p:nvPr/>
        </p:nvSpPr>
        <p:spPr>
          <a:xfrm>
            <a:off x="352425" y="1409699"/>
            <a:ext cx="11558588" cy="5210175"/>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nvSpPr>
        <p:spPr>
          <a:xfrm>
            <a:off x="695459" y="1434163"/>
            <a:ext cx="11732653" cy="21236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chemeClr val="dk1"/>
                </a:solidFill>
                <a:latin typeface="Calibri"/>
                <a:ea typeface="Calibri"/>
                <a:cs typeface="Calibri"/>
                <a:sym typeface="Calibri"/>
              </a:rPr>
              <a:t>Données Aberrantes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chemeClr val="dk1"/>
                </a:solidFill>
                <a:latin typeface="Calibri"/>
                <a:ea typeface="Calibri"/>
                <a:cs typeface="Calibri"/>
                <a:sym typeface="Calibri"/>
              </a:rPr>
              <a:t>Données Manquantes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400"/>
              <a:buFont typeface="Arial"/>
              <a:buNone/>
            </a:pPr>
            <a:r>
              <a:rPr b="1" i="0" lang="fr-FR" sz="4400" u="none" cap="none" strike="noStrike">
                <a:solidFill>
                  <a:schemeClr val="dk1"/>
                </a:solidFill>
                <a:latin typeface="Calibri"/>
                <a:ea typeface="Calibri"/>
                <a:cs typeface="Calibri"/>
                <a:sym typeface="Calibri"/>
              </a:rPr>
              <a:t>Données Spéciales</a:t>
            </a:r>
            <a:endParaRPr b="0" i="0" sz="1400" u="none" cap="none" strike="noStrike">
              <a:solidFill>
                <a:srgbClr val="000000"/>
              </a:solidFill>
              <a:latin typeface="Arial"/>
              <a:ea typeface="Arial"/>
              <a:cs typeface="Arial"/>
              <a:sym typeface="Arial"/>
            </a:endParaRPr>
          </a:p>
        </p:txBody>
      </p:sp>
      <p:pic>
        <p:nvPicPr>
          <p:cNvPr id="259" name="Google Shape;259;p34"/>
          <p:cNvPicPr preferRelativeResize="0"/>
          <p:nvPr/>
        </p:nvPicPr>
        <p:blipFill rotWithShape="1">
          <a:blip r:embed="rId3">
            <a:alphaModFix/>
          </a:blip>
          <a:srcRect b="0" l="0" r="0" t="0"/>
          <a:stretch/>
        </p:blipFill>
        <p:spPr>
          <a:xfrm>
            <a:off x="6736168" y="1938751"/>
            <a:ext cx="4494207" cy="37569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p:nvPr/>
        </p:nvSpPr>
        <p:spPr>
          <a:xfrm>
            <a:off x="457200" y="1409699"/>
            <a:ext cx="11487149" cy="5010151"/>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Times New Roman"/>
              <a:ea typeface="Times New Roman"/>
              <a:cs typeface="Times New Roman"/>
              <a:sym typeface="Times New Roman"/>
            </a:endParaRPr>
          </a:p>
          <a:p>
            <a:pPr indent="0" lvl="0" marL="109728" marR="0" rtl="0" algn="l">
              <a:lnSpc>
                <a:spcPct val="100000"/>
              </a:lnSpc>
              <a:spcBef>
                <a:spcPts val="0"/>
              </a:spcBef>
              <a:spcAft>
                <a:spcPts val="0"/>
              </a:spcAft>
              <a:buClr>
                <a:schemeClr val="dk1"/>
              </a:buClr>
              <a:buSzPts val="2800"/>
              <a:buFont typeface="Calibri"/>
              <a:buNone/>
            </a:pPr>
            <a:r>
              <a:rPr b="1" i="0" lang="fr-FR" sz="2800" u="none" cap="none" strike="noStrike">
                <a:solidFill>
                  <a:schemeClr val="dk1"/>
                </a:solidFill>
                <a:latin typeface="Calibri"/>
                <a:ea typeface="Calibri"/>
                <a:cs typeface="Calibri"/>
                <a:sym typeface="Calibri"/>
              </a:rPr>
              <a:t>Avant de traiter les données, vérifier la qualité des données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Identifier les données aberrantes.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Traiter ou gérer les données manquantes.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Enlever les caractères spéciaux dans les données numériques.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Les données peuvent être:</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Manquantes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Aberrantes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doubles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65" name="Google Shape;265;p35"/>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Données Aberrantes/Manquantes/Spéciales</a:t>
            </a:r>
            <a:endParaRPr b="0" i="0" sz="4000" u="none" cap="none" strike="noStrike">
              <a:solidFill>
                <a:srgbClr val="C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chemeClr val="dk1"/>
                </a:solidFill>
              </a:rPr>
              <a:t>‹#›</a:t>
            </a:fld>
            <a:endParaRPr>
              <a:solidFill>
                <a:schemeClr val="dk1"/>
              </a:solidFill>
            </a:endParaRPr>
          </a:p>
        </p:txBody>
      </p:sp>
      <p:pic>
        <p:nvPicPr>
          <p:cNvPr descr="logo-esprit" id="271" name="Google Shape;271;p36"/>
          <p:cNvPicPr preferRelativeResize="0"/>
          <p:nvPr/>
        </p:nvPicPr>
        <p:blipFill rotWithShape="1">
          <a:blip r:embed="rId3">
            <a:alphaModFix/>
          </a:blip>
          <a:srcRect b="0" l="0" r="0" t="0"/>
          <a:stretch/>
        </p:blipFill>
        <p:spPr>
          <a:xfrm>
            <a:off x="8782952" y="5807234"/>
            <a:ext cx="1870710" cy="600710"/>
          </a:xfrm>
          <a:prstGeom prst="rect">
            <a:avLst/>
          </a:prstGeom>
          <a:noFill/>
          <a:ln>
            <a:noFill/>
          </a:ln>
        </p:spPr>
      </p:pic>
      <p:sp>
        <p:nvSpPr>
          <p:cNvPr id="272" name="Google Shape;272;p36"/>
          <p:cNvSpPr/>
          <p:nvPr/>
        </p:nvSpPr>
        <p:spPr>
          <a:xfrm>
            <a:off x="457199" y="1364614"/>
            <a:ext cx="11487149" cy="5043329"/>
          </a:xfrm>
          <a:prstGeom prst="roundRect">
            <a:avLst>
              <a:gd fmla="val 16667" name="adj"/>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2800"/>
              <a:buFont typeface="Calibri"/>
              <a:buNone/>
            </a:pPr>
            <a:r>
              <a:rPr b="1" i="0" lang="fr-FR" sz="2800" u="none" cap="none" strike="noStrike">
                <a:solidFill>
                  <a:schemeClr val="dk1"/>
                </a:solidFill>
                <a:latin typeface="Calibri"/>
                <a:ea typeface="Calibri"/>
                <a:cs typeface="Calibri"/>
                <a:sym typeface="Calibri"/>
              </a:rPr>
              <a:t>Définition :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Un </a:t>
            </a:r>
            <a:r>
              <a:rPr b="0" i="1" lang="fr-FR" sz="2800" u="none" cap="none" strike="noStrike">
                <a:solidFill>
                  <a:schemeClr val="dk1"/>
                </a:solidFill>
                <a:latin typeface="Calibri"/>
                <a:ea typeface="Calibri"/>
                <a:cs typeface="Calibri"/>
                <a:sym typeface="Calibri"/>
              </a:rPr>
              <a:t>outlier</a:t>
            </a:r>
            <a:r>
              <a:rPr b="0" i="0" lang="fr-FR" sz="2800" u="none" cap="none" strike="noStrike">
                <a:solidFill>
                  <a:schemeClr val="dk1"/>
                </a:solidFill>
                <a:latin typeface="Calibri"/>
                <a:ea typeface="Calibri"/>
                <a:cs typeface="Calibri"/>
                <a:sym typeface="Calibri"/>
              </a:rPr>
              <a:t>, ou donnée </a:t>
            </a:r>
            <a:r>
              <a:rPr b="0" i="1" lang="fr-FR" sz="2800" u="none" cap="none" strike="noStrike">
                <a:solidFill>
                  <a:schemeClr val="dk1"/>
                </a:solidFill>
                <a:latin typeface="Calibri"/>
                <a:ea typeface="Calibri"/>
                <a:cs typeface="Calibri"/>
                <a:sym typeface="Calibri"/>
              </a:rPr>
              <a:t>aberrante</a:t>
            </a:r>
            <a:r>
              <a:rPr b="0" i="0" lang="fr-FR" sz="2800" u="none" cap="none" strike="noStrike">
                <a:solidFill>
                  <a:schemeClr val="dk1"/>
                </a:solidFill>
                <a:latin typeface="Calibri"/>
                <a:ea typeface="Calibri"/>
                <a:cs typeface="Calibri"/>
                <a:sym typeface="Calibri"/>
              </a:rPr>
              <a:t> est une valeur ou une </a:t>
            </a:r>
            <a:r>
              <a:rPr b="0" i="1" lang="fr-FR" sz="2800" u="none" cap="none" strike="noStrike">
                <a:solidFill>
                  <a:schemeClr val="dk1"/>
                </a:solidFill>
                <a:latin typeface="Calibri"/>
                <a:ea typeface="Calibri"/>
                <a:cs typeface="Calibri"/>
                <a:sym typeface="Calibri"/>
              </a:rPr>
              <a:t>observation </a:t>
            </a:r>
            <a:r>
              <a:rPr b="0" i="0" lang="fr-FR" sz="2800" u="none" cap="none" strike="noStrike">
                <a:solidFill>
                  <a:schemeClr val="dk1"/>
                </a:solidFill>
                <a:latin typeface="Calibri"/>
                <a:ea typeface="Calibri"/>
                <a:cs typeface="Calibri"/>
                <a:sym typeface="Calibri"/>
              </a:rPr>
              <a:t>qui est «</a:t>
            </a:r>
            <a:r>
              <a:rPr b="0" i="1" lang="fr-FR" sz="2800" u="none" cap="none" strike="noStrike">
                <a:solidFill>
                  <a:schemeClr val="dk1"/>
                </a:solidFill>
                <a:latin typeface="Calibri"/>
                <a:ea typeface="Calibri"/>
                <a:cs typeface="Calibri"/>
                <a:sym typeface="Calibri"/>
              </a:rPr>
              <a:t> distante » des autres observations</a:t>
            </a:r>
            <a:r>
              <a:rPr b="0" i="0" lang="fr-FR" sz="2800" u="none" cap="none" strike="noStrike">
                <a:solidFill>
                  <a:schemeClr val="dk1"/>
                </a:solidFill>
                <a:latin typeface="Calibri"/>
                <a:ea typeface="Calibri"/>
                <a:cs typeface="Calibri"/>
                <a:sym typeface="Calibri"/>
              </a:rPr>
              <a:t> effectuées sur le même phénomène, c’est-à-dire qu’elle contraste grandement avec les valeurs « normalement » mesurées.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Une donnée aberrante peut être due à la variabilité inhérente au phénomène observé ou bien elle peut aussi indiquer une erreur expérimentale.</a:t>
            </a:r>
            <a:endParaRPr b="0" i="0" sz="1400" u="none" cap="none" strike="noStrike">
              <a:solidFill>
                <a:srgbClr val="000000"/>
              </a:solidFill>
              <a:latin typeface="Arial"/>
              <a:ea typeface="Arial"/>
              <a:cs typeface="Arial"/>
              <a:sym typeface="Arial"/>
            </a:endParaRPr>
          </a:p>
        </p:txBody>
      </p:sp>
      <p:sp>
        <p:nvSpPr>
          <p:cNvPr id="273" name="Google Shape;273;p36"/>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1. Données Aberrantes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chemeClr val="dk1"/>
                </a:solidFill>
              </a:rPr>
              <a:t>‹#›</a:t>
            </a:fld>
            <a:endParaRPr>
              <a:solidFill>
                <a:schemeClr val="dk1"/>
              </a:solidFill>
            </a:endParaRPr>
          </a:p>
        </p:txBody>
      </p:sp>
      <p:pic>
        <p:nvPicPr>
          <p:cNvPr descr="logo-esprit" id="279" name="Google Shape;279;p37"/>
          <p:cNvPicPr preferRelativeResize="0"/>
          <p:nvPr/>
        </p:nvPicPr>
        <p:blipFill rotWithShape="1">
          <a:blip r:embed="rId3">
            <a:alphaModFix/>
          </a:blip>
          <a:srcRect b="0" l="0" r="0" t="0"/>
          <a:stretch/>
        </p:blipFill>
        <p:spPr>
          <a:xfrm>
            <a:off x="8782952" y="5807234"/>
            <a:ext cx="1870710" cy="600710"/>
          </a:xfrm>
          <a:prstGeom prst="rect">
            <a:avLst/>
          </a:prstGeom>
          <a:noFill/>
          <a:ln>
            <a:noFill/>
          </a:ln>
        </p:spPr>
      </p:pic>
      <p:sp>
        <p:nvSpPr>
          <p:cNvPr id="280" name="Google Shape;280;p37"/>
          <p:cNvSpPr/>
          <p:nvPr/>
        </p:nvSpPr>
        <p:spPr>
          <a:xfrm>
            <a:off x="538162" y="1343025"/>
            <a:ext cx="11325225" cy="4905375"/>
          </a:xfrm>
          <a:prstGeom prst="roundRect">
            <a:avLst>
              <a:gd fmla="val 16667" name="adj"/>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Formes :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Les données aberrantes peuvent prendre plusieurs formes: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Données catégorielles.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Valeur extrême (positive ou négative) de probabilité faible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Une valeur </a:t>
            </a:r>
            <a:r>
              <a:rPr b="1" i="0" lang="fr-FR" sz="2800" u="none" cap="none" strike="noStrike">
                <a:solidFill>
                  <a:schemeClr val="dk1"/>
                </a:solidFill>
                <a:latin typeface="Calibri"/>
                <a:ea typeface="Calibri"/>
                <a:cs typeface="Calibri"/>
                <a:sym typeface="Calibri"/>
              </a:rPr>
              <a:t>aberrante</a:t>
            </a:r>
            <a:r>
              <a:rPr b="0" i="0" lang="fr-FR" sz="2800" u="none" cap="none" strike="noStrike">
                <a:solidFill>
                  <a:schemeClr val="dk1"/>
                </a:solidFill>
                <a:latin typeface="Calibri"/>
                <a:ea typeface="Calibri"/>
                <a:cs typeface="Calibri"/>
                <a:sym typeface="Calibri"/>
              </a:rPr>
              <a:t> est toujours une </a:t>
            </a:r>
            <a:r>
              <a:rPr b="1" i="0" lang="fr-FR" sz="2800" u="none" cap="none" strike="noStrike">
                <a:solidFill>
                  <a:schemeClr val="dk1"/>
                </a:solidFill>
                <a:latin typeface="Calibri"/>
                <a:ea typeface="Calibri"/>
                <a:cs typeface="Calibri"/>
                <a:sym typeface="Calibri"/>
              </a:rPr>
              <a:t>valeur</a:t>
            </a:r>
            <a:r>
              <a:rPr b="0" i="0" lang="fr-FR" sz="2800" u="none" cap="none" strike="noStrike">
                <a:solidFill>
                  <a:schemeClr val="dk1"/>
                </a:solidFill>
                <a:latin typeface="Calibri"/>
                <a:ea typeface="Calibri"/>
                <a:cs typeface="Calibri"/>
                <a:sym typeface="Calibri"/>
              </a:rPr>
              <a:t> </a:t>
            </a:r>
            <a:r>
              <a:rPr b="1" i="0" lang="fr-FR" sz="2800" u="none" cap="none" strike="noStrike">
                <a:solidFill>
                  <a:schemeClr val="dk1"/>
                </a:solidFill>
                <a:latin typeface="Calibri"/>
                <a:ea typeface="Calibri"/>
                <a:cs typeface="Calibri"/>
                <a:sym typeface="Calibri"/>
              </a:rPr>
              <a:t>extrême de l’échantillon</a:t>
            </a:r>
            <a:r>
              <a:rPr b="0" i="0" lang="fr-FR" sz="1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sp>
        <p:nvSpPr>
          <p:cNvPr id="281" name="Google Shape;281;p37"/>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1. Données Aberrantes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type="title"/>
          </p:nvPr>
        </p:nvSpPr>
        <p:spPr>
          <a:xfrm>
            <a:off x="1524000" y="-171400"/>
            <a:ext cx="8820472"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68920"/>
              <a:buFont typeface="Calibri"/>
              <a:buNone/>
            </a:pPr>
            <a:br>
              <a:rPr b="0" lang="fr-FR"/>
            </a:br>
            <a:endParaRPr sz="5300">
              <a:latin typeface="Times New Roman"/>
              <a:ea typeface="Times New Roman"/>
              <a:cs typeface="Times New Roman"/>
              <a:sym typeface="Times New Roman"/>
            </a:endParaRPr>
          </a:p>
        </p:txBody>
      </p:sp>
      <p:sp>
        <p:nvSpPr>
          <p:cNvPr id="287" name="Google Shape;28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288" name="Google Shape;288;p38"/>
          <p:cNvPicPr preferRelativeResize="0"/>
          <p:nvPr/>
        </p:nvPicPr>
        <p:blipFill rotWithShape="1">
          <a:blip r:embed="rId3">
            <a:alphaModFix/>
          </a:blip>
          <a:srcRect b="0" l="0" r="0" t="0"/>
          <a:stretch/>
        </p:blipFill>
        <p:spPr>
          <a:xfrm>
            <a:off x="8782952" y="5807234"/>
            <a:ext cx="1870710" cy="600710"/>
          </a:xfrm>
          <a:prstGeom prst="rect">
            <a:avLst/>
          </a:prstGeom>
          <a:noFill/>
          <a:ln>
            <a:noFill/>
          </a:ln>
        </p:spPr>
      </p:pic>
      <p:sp>
        <p:nvSpPr>
          <p:cNvPr id="289" name="Google Shape;289;p38"/>
          <p:cNvSpPr/>
          <p:nvPr/>
        </p:nvSpPr>
        <p:spPr>
          <a:xfrm>
            <a:off x="333375" y="1181099"/>
            <a:ext cx="11344436" cy="5324475"/>
          </a:xfrm>
          <a:prstGeom prst="roundRect">
            <a:avLst>
              <a:gd fmla="val 16667" name="adj"/>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90" name="Google Shape;290;p38"/>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1. Données Aberrantes</a:t>
            </a:r>
            <a:endParaRPr b="1" i="0" sz="4000" u="none" cap="none" strike="noStrike">
              <a:solidFill>
                <a:srgbClr val="757070"/>
              </a:solidFill>
              <a:latin typeface="Calibri"/>
              <a:ea typeface="Calibri"/>
              <a:cs typeface="Calibri"/>
              <a:sym typeface="Calibri"/>
            </a:endParaRPr>
          </a:p>
        </p:txBody>
      </p:sp>
      <p:sp>
        <p:nvSpPr>
          <p:cNvPr id="291" name="Google Shape;291;p38"/>
          <p:cNvSpPr/>
          <p:nvPr/>
        </p:nvSpPr>
        <p:spPr>
          <a:xfrm>
            <a:off x="749810" y="1711748"/>
            <a:ext cx="10403294" cy="5262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Exemples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fr-FR" sz="2800" u="sng" cap="none" strike="noStrike">
                <a:solidFill>
                  <a:schemeClr val="dk1"/>
                </a:solidFill>
                <a:latin typeface="Calibri"/>
                <a:ea typeface="Calibri"/>
                <a:cs typeface="Calibri"/>
                <a:sym typeface="Calibri"/>
              </a:rPr>
              <a:t>Contrôle sur le domaine des valeurs </a:t>
            </a:r>
            <a:r>
              <a:rPr b="0" i="0" lang="fr-FR" sz="2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Pour la variable « Total des heures effectuées », une borne maximale (208 heures) est fixée à partir de la convention collective. Les valeurs supérieures à 208 heures sont aberrantes.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fr-FR" sz="2800" u="sng" cap="none" strike="noStrike">
                <a:solidFill>
                  <a:schemeClr val="dk1"/>
                </a:solidFill>
                <a:latin typeface="Calibri"/>
                <a:ea typeface="Calibri"/>
                <a:cs typeface="Calibri"/>
                <a:sym typeface="Calibri"/>
              </a:rPr>
              <a:t>Comptes fournisseurs</a:t>
            </a:r>
            <a:r>
              <a:rPr b="0" i="0" lang="fr-FR"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chemeClr val="dk1"/>
                </a:solidFill>
                <a:latin typeface="Calibri"/>
                <a:ea typeface="Calibri"/>
                <a:cs typeface="Calibri"/>
                <a:sym typeface="Calibri"/>
              </a:rPr>
              <a:t>Dans un fichier de compte fournisseurs, l'ensemble complet des factures varie entre 40 $ et 5 000 $. Toutefois, trois factures présentent un montant supérieur à 20 000 $.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p:nvPr/>
        </p:nvSpPr>
        <p:spPr>
          <a:xfrm>
            <a:off x="961622" y="2044633"/>
            <a:ext cx="7886163" cy="39703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rgbClr val="C00000"/>
                </a:solidFill>
                <a:latin typeface="Calibri"/>
                <a:ea typeface="Calibri"/>
                <a:cs typeface="Calibri"/>
                <a:sym typeface="Calibri"/>
              </a:rPr>
              <a:t>*Calcul du Z-Score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rgbClr val="C00000"/>
                </a:solidFill>
                <a:latin typeface="Calibri"/>
                <a:ea typeface="Calibri"/>
                <a:cs typeface="Calibri"/>
                <a:sym typeface="Calibri"/>
              </a:rPr>
              <a:t>*Test de Grubbs</a:t>
            </a:r>
            <a:endParaRPr b="0" i="0" sz="2800" u="none" cap="none" strike="noStrike">
              <a:solidFill>
                <a:srgbClr val="C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fr-FR" sz="2800" u="none" cap="none" strike="noStrike">
                <a:solidFill>
                  <a:srgbClr val="C00000"/>
                </a:solidFill>
                <a:latin typeface="Calibri"/>
                <a:ea typeface="Calibri"/>
                <a:cs typeface="Calibri"/>
                <a:sym typeface="Calibri"/>
              </a:rPr>
              <a:t>*Détection graphique </a:t>
            </a:r>
            <a:r>
              <a:rPr b="0" i="0" lang="fr-FR" sz="2800" u="none" cap="none" strike="noStrike">
                <a:solidFill>
                  <a:schemeClr val="dk1"/>
                </a:solidFill>
                <a:latin typeface="Calibri"/>
                <a:ea typeface="Calibri"/>
                <a:cs typeface="Calibri"/>
                <a:sym typeface="Calibri"/>
              </a:rPr>
              <a:t>: Pour détecter la présence de valeurs aberrantes On peut utiliser :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Boxplot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Histogrammes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Nuages de points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diagramme de dispersion des observations classées en fonction de leur rang </a:t>
            </a:r>
            <a:endParaRPr b="0" i="0" sz="1400" u="none" cap="none" strike="noStrike">
              <a:solidFill>
                <a:srgbClr val="000000"/>
              </a:solidFill>
              <a:latin typeface="Arial"/>
              <a:ea typeface="Arial"/>
              <a:cs typeface="Arial"/>
              <a:sym typeface="Arial"/>
            </a:endParaRPr>
          </a:p>
        </p:txBody>
      </p:sp>
      <p:sp>
        <p:nvSpPr>
          <p:cNvPr id="297" name="Google Shape;297;p39"/>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1. Données Aberrantes</a:t>
            </a:r>
            <a:endParaRPr b="1" i="0" sz="4000" u="none" cap="none" strike="noStrike">
              <a:solidFill>
                <a:srgbClr val="757070"/>
              </a:solidFill>
              <a:latin typeface="Calibri"/>
              <a:ea typeface="Calibri"/>
              <a:cs typeface="Calibri"/>
              <a:sym typeface="Calibri"/>
            </a:endParaRPr>
          </a:p>
        </p:txBody>
      </p:sp>
      <p:sp>
        <p:nvSpPr>
          <p:cNvPr id="298" name="Google Shape;298;p39"/>
          <p:cNvSpPr/>
          <p:nvPr/>
        </p:nvSpPr>
        <p:spPr>
          <a:xfrm>
            <a:off x="333375" y="1181099"/>
            <a:ext cx="11344436" cy="5324475"/>
          </a:xfrm>
          <a:prstGeom prst="roundRect">
            <a:avLst>
              <a:gd fmla="val 16667" name="adj"/>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99" name="Google Shape;299;p39"/>
          <p:cNvSpPr/>
          <p:nvPr/>
        </p:nvSpPr>
        <p:spPr>
          <a:xfrm>
            <a:off x="961622" y="1492807"/>
            <a:ext cx="376135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Méthodes de détection:</a:t>
            </a:r>
            <a:endParaRPr b="1" i="0" sz="2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chemeClr val="dk1"/>
                </a:solidFill>
              </a:rPr>
              <a:t>‹#›</a:t>
            </a:fld>
            <a:endParaRPr>
              <a:solidFill>
                <a:schemeClr val="dk1"/>
              </a:solidFill>
            </a:endParaRPr>
          </a:p>
        </p:txBody>
      </p:sp>
      <p:pic>
        <p:nvPicPr>
          <p:cNvPr descr="logo-esprit" id="305" name="Google Shape;305;p40"/>
          <p:cNvPicPr preferRelativeResize="0"/>
          <p:nvPr/>
        </p:nvPicPr>
        <p:blipFill rotWithShape="1">
          <a:blip r:embed="rId3">
            <a:alphaModFix/>
          </a:blip>
          <a:srcRect b="0" l="0" r="0" t="0"/>
          <a:stretch/>
        </p:blipFill>
        <p:spPr>
          <a:xfrm>
            <a:off x="8782952" y="5807234"/>
            <a:ext cx="1870710" cy="600710"/>
          </a:xfrm>
          <a:prstGeom prst="rect">
            <a:avLst/>
          </a:prstGeom>
          <a:noFill/>
          <a:ln>
            <a:noFill/>
          </a:ln>
        </p:spPr>
      </p:pic>
      <p:sp>
        <p:nvSpPr>
          <p:cNvPr id="306" name="Google Shape;306;p40"/>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graphique: Boîte à moustaches</a:t>
            </a:r>
            <a:endParaRPr b="0" i="0" sz="1400" u="none" cap="none" strike="noStrike">
              <a:solidFill>
                <a:srgbClr val="000000"/>
              </a:solidFill>
              <a:latin typeface="Arial"/>
              <a:ea typeface="Arial"/>
              <a:cs typeface="Arial"/>
              <a:sym typeface="Arial"/>
            </a:endParaRPr>
          </a:p>
        </p:txBody>
      </p:sp>
      <p:sp>
        <p:nvSpPr>
          <p:cNvPr id="307" name="Google Shape;307;p40"/>
          <p:cNvSpPr/>
          <p:nvPr/>
        </p:nvSpPr>
        <p:spPr>
          <a:xfrm>
            <a:off x="190661" y="1524000"/>
            <a:ext cx="11487150" cy="4733925"/>
          </a:xfrm>
          <a:prstGeom prst="roundRect">
            <a:avLst>
              <a:gd fmla="val 16667" name="adj"/>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just">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Les boîtes à moustaches sont des représentations graphiques utilisable pour des variables numériques. </a:t>
            </a:r>
            <a:endParaRPr b="0" i="0" sz="1400" u="none" cap="none" strike="noStrike">
              <a:solidFill>
                <a:srgbClr val="000000"/>
              </a:solidFill>
              <a:latin typeface="Arial"/>
              <a:ea typeface="Arial"/>
              <a:cs typeface="Arial"/>
              <a:sym typeface="Arial"/>
            </a:endParaRPr>
          </a:p>
          <a:p>
            <a:pPr indent="0" lvl="0" marL="109728" marR="0" rtl="0" algn="just">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La « boîte » est délimitée par le premier et le troisième quartiles, elle contient donc 50% de la population. </a:t>
            </a:r>
            <a:endParaRPr b="0" i="0" sz="1400" u="none" cap="none" strike="noStrike">
              <a:solidFill>
                <a:srgbClr val="000000"/>
              </a:solidFill>
              <a:latin typeface="Arial"/>
              <a:ea typeface="Arial"/>
              <a:cs typeface="Arial"/>
              <a:sym typeface="Arial"/>
            </a:endParaRPr>
          </a:p>
          <a:p>
            <a:pPr indent="0" lvl="0" marL="109728" marR="0" rtl="0" algn="just">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109728" marR="0" rtl="0" algn="just">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Les moustaches encadrent les individus “proches” du centre. Au-delà des moustaches, on trouve soit </a:t>
            </a:r>
            <a:r>
              <a:rPr b="1" i="0" lang="fr-FR" sz="2800" u="none" cap="none" strike="noStrike">
                <a:solidFill>
                  <a:schemeClr val="dk1"/>
                </a:solidFill>
                <a:latin typeface="Calibri"/>
                <a:ea typeface="Calibri"/>
                <a:cs typeface="Calibri"/>
                <a:sym typeface="Calibri"/>
              </a:rPr>
              <a:t>les valeurs aberrantes </a:t>
            </a:r>
            <a:r>
              <a:rPr b="0" i="0" lang="fr-FR" sz="2800" u="none" cap="none" strike="noStrike">
                <a:solidFill>
                  <a:schemeClr val="dk1"/>
                </a:solidFill>
                <a:latin typeface="Calibri"/>
                <a:ea typeface="Calibri"/>
                <a:cs typeface="Calibri"/>
                <a:sym typeface="Calibri"/>
              </a:rPr>
              <a:t>(erreur de saisie), soit </a:t>
            </a:r>
            <a:r>
              <a:rPr b="1" i="0" lang="fr-FR" sz="2800" u="none" cap="none" strike="noStrike">
                <a:solidFill>
                  <a:schemeClr val="dk1"/>
                </a:solidFill>
                <a:latin typeface="Calibri"/>
                <a:ea typeface="Calibri"/>
                <a:cs typeface="Calibri"/>
                <a:sym typeface="Calibri"/>
              </a:rPr>
              <a:t>les valeurs éloignées du centre</a:t>
            </a:r>
            <a:r>
              <a:rPr b="0" i="0" lang="fr-FR" sz="2800" u="none" cap="none" strike="noStrike">
                <a:solidFill>
                  <a:schemeClr val="dk1"/>
                </a:solidFill>
                <a:latin typeface="Calibri"/>
                <a:ea typeface="Calibri"/>
                <a:cs typeface="Calibri"/>
                <a:sym typeface="Calibri"/>
              </a:rPr>
              <a:t> (valeurs extrêmes).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chemeClr val="dk1"/>
                </a:solidFill>
              </a:rPr>
              <a:t>‹#›</a:t>
            </a:fld>
            <a:endParaRPr>
              <a:solidFill>
                <a:schemeClr val="dk1"/>
              </a:solidFill>
            </a:endParaRPr>
          </a:p>
        </p:txBody>
      </p:sp>
      <p:sp>
        <p:nvSpPr>
          <p:cNvPr id="313" name="Google Shape;313;p41"/>
          <p:cNvSpPr txBox="1"/>
          <p:nvPr/>
        </p:nvSpPr>
        <p:spPr>
          <a:xfrm>
            <a:off x="2855640" y="2093794"/>
            <a:ext cx="53939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fr-FR" sz="4800" u="none" cap="none" strike="noStrike">
                <a:solidFill>
                  <a:schemeClr val="dk1"/>
                </a:solidFill>
                <a:latin typeface="Calibri"/>
                <a:ea typeface="Calibri"/>
                <a:cs typeface="Calibri"/>
                <a:sym typeface="Calibri"/>
              </a:rPr>
              <a:t>Packages R :</a:t>
            </a:r>
            <a:r>
              <a:rPr b="1" i="0" lang="fr-FR" sz="4800" u="none" cap="none" strike="noStrike">
                <a:solidFill>
                  <a:schemeClr val="dk1"/>
                </a:solidFill>
                <a:latin typeface="Times New Roman"/>
                <a:ea typeface="Times New Roman"/>
                <a:cs typeface="Times New Roman"/>
                <a:sym typeface="Times New Roman"/>
              </a:rPr>
              <a:t> ggplot2</a:t>
            </a:r>
            <a:endParaRPr b="1" i="0" sz="4800" u="none" cap="none" strike="noStrike">
              <a:solidFill>
                <a:schemeClr val="dk1"/>
              </a:solidFill>
              <a:latin typeface="Calibri"/>
              <a:ea typeface="Calibri"/>
              <a:cs typeface="Calibri"/>
              <a:sym typeface="Calibri"/>
            </a:endParaRPr>
          </a:p>
        </p:txBody>
      </p:sp>
      <p:pic>
        <p:nvPicPr>
          <p:cNvPr descr="RÃ©sultat de recherche d'images pour &quot;package R&quot;" id="314" name="Google Shape;314;p41"/>
          <p:cNvPicPr preferRelativeResize="0"/>
          <p:nvPr/>
        </p:nvPicPr>
        <p:blipFill rotWithShape="1">
          <a:blip r:embed="rId3">
            <a:alphaModFix/>
          </a:blip>
          <a:srcRect b="0" l="0" r="0" t="0"/>
          <a:stretch/>
        </p:blipFill>
        <p:spPr>
          <a:xfrm>
            <a:off x="4601372" y="3429000"/>
            <a:ext cx="1902447" cy="1443236"/>
          </a:xfrm>
          <a:prstGeom prst="rect">
            <a:avLst/>
          </a:prstGeom>
          <a:noFill/>
          <a:ln>
            <a:noFill/>
          </a:ln>
        </p:spPr>
      </p:pic>
      <p:sp>
        <p:nvSpPr>
          <p:cNvPr id="315" name="Google Shape;315;p41"/>
          <p:cNvSpPr/>
          <p:nvPr/>
        </p:nvSpPr>
        <p:spPr>
          <a:xfrm>
            <a:off x="352426" y="1669157"/>
            <a:ext cx="11487149"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41"/>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graphique: Boîte à moustaches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322" name="Google Shape;322;p42"/>
          <p:cNvSpPr/>
          <p:nvPr/>
        </p:nvSpPr>
        <p:spPr>
          <a:xfrm>
            <a:off x="504825" y="1352550"/>
            <a:ext cx="11172986" cy="5311477"/>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2400"/>
              <a:buFont typeface="Calibri"/>
              <a:buNone/>
            </a:pPr>
            <a:r>
              <a:rPr b="0" i="0" lang="fr-FR" sz="2400" u="none" cap="none" strike="noStrike">
                <a:solidFill>
                  <a:schemeClr val="dk1"/>
                </a:solidFill>
                <a:latin typeface="Calibri"/>
                <a:ea typeface="Calibri"/>
                <a:cs typeface="Calibri"/>
                <a:sym typeface="Calibri"/>
              </a:rPr>
              <a:t>Le jeu de données  </a:t>
            </a:r>
            <a:r>
              <a:rPr b="1" i="0" lang="fr-FR" sz="2400" u="none" cap="none" strike="noStrike">
                <a:solidFill>
                  <a:schemeClr val="dk1"/>
                </a:solidFill>
                <a:latin typeface="Calibri"/>
                <a:ea typeface="Calibri"/>
                <a:cs typeface="Calibri"/>
                <a:sym typeface="Calibri"/>
              </a:rPr>
              <a:t>mpg</a:t>
            </a:r>
            <a:r>
              <a:rPr b="0" i="0" lang="fr-FR" sz="2400" u="none" cap="none" strike="noStrike">
                <a:solidFill>
                  <a:schemeClr val="dk1"/>
                </a:solidFill>
                <a:latin typeface="Calibri"/>
                <a:ea typeface="Calibri"/>
                <a:cs typeface="Calibri"/>
                <a:sym typeface="Calibri"/>
              </a:rPr>
              <a:t> contenues dans le package </a:t>
            </a:r>
            <a:r>
              <a:rPr b="1" i="0" lang="fr-FR" sz="2400" u="none" cap="none" strike="noStrike">
                <a:solidFill>
                  <a:schemeClr val="dk1"/>
                </a:solidFill>
                <a:latin typeface="Calibri"/>
                <a:ea typeface="Calibri"/>
                <a:cs typeface="Calibri"/>
                <a:sym typeface="Calibri"/>
              </a:rPr>
              <a:t>ggplot2</a:t>
            </a:r>
            <a:r>
              <a:rPr b="0" i="0" lang="fr-FR" sz="24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400"/>
              <a:buFont typeface="Calibri"/>
              <a:buNone/>
            </a:pPr>
            <a:r>
              <a:rPr b="0" i="0" lang="fr-FR" sz="2400" u="none" cap="none" strike="noStrike">
                <a:solidFill>
                  <a:schemeClr val="dk1"/>
                </a:solidFill>
                <a:latin typeface="Calibri"/>
                <a:ea typeface="Calibri"/>
                <a:cs typeface="Calibri"/>
                <a:sym typeface="Calibri"/>
              </a:rPr>
              <a:t>On s'intéresse à la variable </a:t>
            </a:r>
            <a:r>
              <a:rPr b="1" i="0" lang="fr-FR" sz="2400" u="none" cap="none" strike="noStrike">
                <a:solidFill>
                  <a:schemeClr val="dk1"/>
                </a:solidFill>
                <a:latin typeface="Calibri"/>
                <a:ea typeface="Calibri"/>
                <a:cs typeface="Calibri"/>
                <a:sym typeface="Calibri"/>
              </a:rPr>
              <a:t>hwy</a:t>
            </a:r>
            <a:r>
              <a:rPr b="0" i="0" lang="fr-FR" sz="2400" u="none" cap="none" strike="noStrike">
                <a:solidFill>
                  <a:schemeClr val="dk1"/>
                </a:solidFill>
                <a:latin typeface="Calibri"/>
                <a:ea typeface="Calibri"/>
                <a:cs typeface="Calibri"/>
                <a:sym typeface="Calibri"/>
              </a:rPr>
              <a:t> (Highway miles per gallon) en fonction du type de véhicule (variable class).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accent1"/>
              </a:buClr>
              <a:buSzPts val="2400"/>
              <a:buFont typeface="Calibri"/>
              <a:buNone/>
            </a:pPr>
            <a:r>
              <a:rPr b="0" i="1" lang="fr-FR" sz="2400" u="none" cap="none" strike="noStrike">
                <a:solidFill>
                  <a:schemeClr val="accent1"/>
                </a:solidFill>
                <a:latin typeface="Calibri"/>
                <a:ea typeface="Calibri"/>
                <a:cs typeface="Calibri"/>
                <a:sym typeface="Calibri"/>
              </a:rPr>
              <a:t>&gt;library(ggplot2)</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accent1"/>
              </a:buClr>
              <a:buSzPts val="2400"/>
              <a:buFont typeface="Calibri"/>
              <a:buNone/>
            </a:pPr>
            <a:r>
              <a:rPr b="0" i="1" lang="fr-FR" sz="2400" u="none" cap="none" strike="noStrike">
                <a:solidFill>
                  <a:schemeClr val="accent1"/>
                </a:solidFill>
                <a:latin typeface="Calibri"/>
                <a:ea typeface="Calibri"/>
                <a:cs typeface="Calibri"/>
                <a:sym typeface="Calibri"/>
              </a:rPr>
              <a:t>&gt;ggplot(mpg, aes( x=class,y=hwy, fill=class)) + geom_boxplot()+ xlab(label = "Type of car") + ylab(label = "Highway miles per gallon") + theme(axis.text.x = element_text(angle=30, hjust=1, vjust=1))+theme(legend.position="none")+ggtitle("Exemple de boxplots sur les données mpg")</a:t>
            </a:r>
            <a:endParaRPr b="0" i="0" sz="1400" u="none" cap="none" strike="noStrike">
              <a:solidFill>
                <a:srgbClr val="000000"/>
              </a:solidFill>
              <a:latin typeface="Arial"/>
              <a:ea typeface="Arial"/>
              <a:cs typeface="Arial"/>
              <a:sym typeface="Arial"/>
            </a:endParaRPr>
          </a:p>
        </p:txBody>
      </p:sp>
      <p:sp>
        <p:nvSpPr>
          <p:cNvPr id="323" name="Google Shape;323;p42"/>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Boîte à moustaches:Exemple</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3"/>
          <p:cNvPicPr preferRelativeResize="0"/>
          <p:nvPr>
            <p:ph idx="1" type="body"/>
          </p:nvPr>
        </p:nvPicPr>
        <p:blipFill rotWithShape="1">
          <a:blip r:embed="rId3">
            <a:alphaModFix/>
          </a:blip>
          <a:srcRect b="12076" l="8102" r="38656" t="24113"/>
          <a:stretch/>
        </p:blipFill>
        <p:spPr>
          <a:xfrm>
            <a:off x="838200" y="1816200"/>
            <a:ext cx="6886641" cy="4540150"/>
          </a:xfrm>
          <a:prstGeom prst="rect">
            <a:avLst/>
          </a:prstGeom>
          <a:noFill/>
          <a:ln>
            <a:noFill/>
          </a:ln>
        </p:spPr>
      </p:pic>
      <p:sp>
        <p:nvSpPr>
          <p:cNvPr id="329" name="Google Shape;32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sp>
        <p:nvSpPr>
          <p:cNvPr id="330" name="Google Shape;330;p43"/>
          <p:cNvSpPr/>
          <p:nvPr/>
        </p:nvSpPr>
        <p:spPr>
          <a:xfrm>
            <a:off x="590550" y="1323975"/>
            <a:ext cx="11087260" cy="5231694"/>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1" name="Google Shape;331;p43"/>
          <p:cNvSpPr txBox="1"/>
          <p:nvPr/>
        </p:nvSpPr>
        <p:spPr>
          <a:xfrm>
            <a:off x="7724841" y="2252575"/>
            <a:ext cx="3667125"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Sur cette visualisation des données, l</a:t>
            </a:r>
            <a:r>
              <a:rPr b="1" i="0" lang="fr-FR" sz="1800" u="none" cap="none" strike="noStrike">
                <a:solidFill>
                  <a:schemeClr val="dk1"/>
                </a:solidFill>
                <a:latin typeface="Calibri"/>
                <a:ea typeface="Calibri"/>
                <a:cs typeface="Calibri"/>
                <a:sym typeface="Calibri"/>
              </a:rPr>
              <a:t>es valeurs aberrantes sont représentés sous forme de points</a:t>
            </a:r>
            <a:r>
              <a:rPr b="0" i="0" lang="fr-FR" sz="1800" u="none" cap="none" strike="noStrike">
                <a:solidFill>
                  <a:schemeClr val="dk1"/>
                </a:solidFill>
                <a:latin typeface="Calibri"/>
                <a:ea typeface="Calibri"/>
                <a:cs typeface="Calibri"/>
                <a:sym typeface="Calibri"/>
              </a:rPr>
              <a:t>. Ils correspondent à des observations dont les valeurs sont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fr-FR" sz="1800" u="none" cap="none" strike="noStrike">
                <a:solidFill>
                  <a:schemeClr val="dk1"/>
                </a:solidFill>
                <a:latin typeface="Calibri"/>
                <a:ea typeface="Calibri"/>
                <a:cs typeface="Calibri"/>
                <a:sym typeface="Calibri"/>
              </a:rPr>
              <a:t>supérieures à la valeur du 3ème quartile plus 1.5 fois l’intervalle inter-quartile,</a:t>
            </a:r>
            <a:r>
              <a:rPr b="0" i="0" lang="fr-FR" sz="1800" u="none" cap="none" strike="noStrike">
                <a:solidFill>
                  <a:schemeClr val="dk1"/>
                </a:solidFill>
                <a:latin typeface="Calibri"/>
                <a:ea typeface="Calibri"/>
                <a:cs typeface="Calibri"/>
                <a:sym typeface="Calibri"/>
              </a:rPr>
              <a:t> </a:t>
            </a:r>
            <a:r>
              <a:rPr b="1" i="0" lang="fr-FR" sz="1800" u="none" cap="none" strike="noStrike">
                <a:solidFill>
                  <a:schemeClr val="dk1"/>
                </a:solidFill>
                <a:latin typeface="Calibri"/>
                <a:ea typeface="Calibri"/>
                <a:cs typeface="Calibri"/>
                <a:sym typeface="Calibri"/>
              </a:rPr>
              <a:t>ou inférieures à la valeur du 1er quartile moins 1.5 fois l’intervalle inter-quartile.</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43"/>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Boîte à moustaches:Exemple</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4"/>
          <p:cNvSpPr txBox="1"/>
          <p:nvPr>
            <p:ph idx="1" type="body"/>
          </p:nvPr>
        </p:nvSpPr>
        <p:spPr>
          <a:xfrm>
            <a:off x="838200" y="1825625"/>
            <a:ext cx="10515600" cy="4351338"/>
          </a:xfrm>
          <a:prstGeom prst="rect">
            <a:avLst/>
          </a:prstGeom>
          <a:blipFill rotWithShape="1">
            <a:blip r:embed="rId3">
              <a:alphaModFix/>
            </a:blip>
            <a:stretch>
              <a:fillRect b="0" l="-1389" r="0" t="-448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
        <p:nvSpPr>
          <p:cNvPr id="338" name="Google Shape;338;p44"/>
          <p:cNvSpPr txBox="1"/>
          <p:nvPr>
            <p:ph idx="12" type="sldNum"/>
          </p:nvPr>
        </p:nvSpPr>
        <p:spPr>
          <a:xfrm>
            <a:off x="8610599" y="6387921"/>
            <a:ext cx="2761445" cy="33355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fr-FR"/>
              <a:t>22</a:t>
            </a:r>
            <a:endParaRPr/>
          </a:p>
        </p:txBody>
      </p:sp>
      <p:sp>
        <p:nvSpPr>
          <p:cNvPr id="339" name="Google Shape;339;p44"/>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analytique: Z-Score</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45"/>
          <p:cNvPicPr preferRelativeResize="0"/>
          <p:nvPr>
            <p:ph idx="1" type="body"/>
          </p:nvPr>
        </p:nvPicPr>
        <p:blipFill rotWithShape="1">
          <a:blip r:embed="rId3">
            <a:alphaModFix/>
          </a:blip>
          <a:srcRect b="0" l="0" r="0" t="0"/>
          <a:stretch/>
        </p:blipFill>
        <p:spPr>
          <a:xfrm>
            <a:off x="2226255" y="1825625"/>
            <a:ext cx="7739489" cy="4351338"/>
          </a:xfrm>
          <a:prstGeom prst="rect">
            <a:avLst/>
          </a:prstGeom>
          <a:noFill/>
          <a:ln>
            <a:noFill/>
          </a:ln>
        </p:spPr>
      </p:pic>
      <p:sp>
        <p:nvSpPr>
          <p:cNvPr id="345" name="Google Shape;345;p45"/>
          <p:cNvSpPr txBox="1"/>
          <p:nvPr>
            <p:ph idx="12" type="sldNum"/>
          </p:nvPr>
        </p:nvSpPr>
        <p:spPr>
          <a:xfrm>
            <a:off x="8610599" y="6387921"/>
            <a:ext cx="2761445" cy="33355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fr-FR"/>
              <a:t>23</a:t>
            </a:r>
            <a:endParaRPr/>
          </a:p>
        </p:txBody>
      </p:sp>
      <p:sp>
        <p:nvSpPr>
          <p:cNvPr id="346" name="Google Shape;346;p45"/>
          <p:cNvSpPr/>
          <p:nvPr/>
        </p:nvSpPr>
        <p:spPr>
          <a:xfrm>
            <a:off x="190661" y="527146"/>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analytique: Z-Score</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6"/>
          <p:cNvSpPr txBox="1"/>
          <p:nvPr>
            <p:ph idx="1" type="body"/>
          </p:nvPr>
        </p:nvSpPr>
        <p:spPr>
          <a:xfrm>
            <a:off x="838200" y="1825625"/>
            <a:ext cx="10515600" cy="4351338"/>
          </a:xfrm>
          <a:prstGeom prst="rect">
            <a:avLst/>
          </a:prstGeom>
          <a:blipFill rotWithShape="1">
            <a:blip r:embed="rId3">
              <a:alphaModFix/>
            </a:blip>
            <a:stretch>
              <a:fillRect b="0" l="-1389" r="-2026" t="-363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
        <p:nvSpPr>
          <p:cNvPr id="352" name="Google Shape;35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fr-FR"/>
              <a:t>24</a:t>
            </a:r>
            <a:endParaRPr/>
          </a:p>
        </p:txBody>
      </p:sp>
      <p:sp>
        <p:nvSpPr>
          <p:cNvPr id="353" name="Google Shape;353;p46"/>
          <p:cNvSpPr/>
          <p:nvPr/>
        </p:nvSpPr>
        <p:spPr>
          <a:xfrm>
            <a:off x="-121558" y="573300"/>
            <a:ext cx="11172987"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analytique: Test de Grubbs</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7"/>
          <p:cNvSpPr txBox="1"/>
          <p:nvPr>
            <p:ph idx="1" type="body"/>
          </p:nvPr>
        </p:nvSpPr>
        <p:spPr>
          <a:xfrm>
            <a:off x="838200" y="1455313"/>
            <a:ext cx="10515600" cy="4721650"/>
          </a:xfrm>
          <a:prstGeom prst="rect">
            <a:avLst/>
          </a:prstGeom>
          <a:blipFill rotWithShape="1">
            <a:blip r:embed="rId3">
              <a:alphaModFix/>
            </a:blip>
            <a:stretch>
              <a:fillRect b="0" l="-1215" r="-867" t="-2194"/>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fr-FR"/>
              <a:t> </a:t>
            </a:r>
            <a:endParaRPr/>
          </a:p>
        </p:txBody>
      </p:sp>
      <p:sp>
        <p:nvSpPr>
          <p:cNvPr id="359" name="Google Shape;359;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fr-FR"/>
              <a:t>25</a:t>
            </a:r>
            <a:endParaRPr/>
          </a:p>
        </p:txBody>
      </p:sp>
      <p:sp>
        <p:nvSpPr>
          <p:cNvPr id="360" name="Google Shape;360;p47"/>
          <p:cNvSpPr/>
          <p:nvPr/>
        </p:nvSpPr>
        <p:spPr>
          <a:xfrm>
            <a:off x="-1" y="618566"/>
            <a:ext cx="11172987"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fr-FR" sz="4400" u="none" cap="none" strike="noStrike">
                <a:solidFill>
                  <a:srgbClr val="C00000"/>
                </a:solidFill>
                <a:latin typeface="Calibri"/>
                <a:ea typeface="Calibri"/>
                <a:cs typeface="Calibri"/>
                <a:sym typeface="Calibri"/>
              </a:rPr>
              <a:t>Détection analytique: Test de Grubbs</a:t>
            </a:r>
            <a:endParaRPr b="1" i="0" sz="4400" u="none" cap="none" strike="noStrike">
              <a:solidFill>
                <a:srgbClr val="C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367" name="Google Shape;367;p48"/>
          <p:cNvPicPr preferRelativeResize="0"/>
          <p:nvPr/>
        </p:nvPicPr>
        <p:blipFill rotWithShape="1">
          <a:blip r:embed="rId3">
            <a:alphaModFix/>
          </a:blip>
          <a:srcRect b="0" l="0" r="0" t="0"/>
          <a:stretch/>
        </p:blipFill>
        <p:spPr>
          <a:xfrm>
            <a:off x="8666322" y="5807234"/>
            <a:ext cx="1870710" cy="600710"/>
          </a:xfrm>
          <a:prstGeom prst="rect">
            <a:avLst/>
          </a:prstGeom>
          <a:noFill/>
          <a:ln>
            <a:noFill/>
          </a:ln>
        </p:spPr>
      </p:pic>
      <p:sp>
        <p:nvSpPr>
          <p:cNvPr id="368" name="Google Shape;368;p48"/>
          <p:cNvSpPr/>
          <p:nvPr/>
        </p:nvSpPr>
        <p:spPr>
          <a:xfrm>
            <a:off x="504823" y="1623219"/>
            <a:ext cx="11172987" cy="4784725"/>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342900" lvl="0" marL="342900" marR="0" rtl="0" algn="l">
              <a:lnSpc>
                <a:spcPct val="150000"/>
              </a:lnSpc>
              <a:spcBef>
                <a:spcPts val="0"/>
              </a:spcBef>
              <a:spcAft>
                <a:spcPts val="0"/>
              </a:spcAft>
              <a:buClr>
                <a:schemeClr val="dk1"/>
              </a:buClr>
              <a:buSzPts val="2400"/>
              <a:buFont typeface="Arial"/>
              <a:buChar char="•"/>
            </a:pPr>
            <a:r>
              <a:rPr b="0" i="0" lang="fr-FR" sz="2400" u="none" cap="none" strike="noStrike">
                <a:solidFill>
                  <a:schemeClr val="dk1"/>
                </a:solidFill>
                <a:latin typeface="Calibri"/>
                <a:ea typeface="Calibri"/>
                <a:cs typeface="Calibri"/>
                <a:sym typeface="Calibri"/>
              </a:rPr>
              <a:t>Les tableaux de données couramment utilisés dans l’analyse statistique présentent souvent des données manquantes.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fr-FR" sz="2400" u="none" cap="none" strike="noStrike">
                <a:solidFill>
                  <a:schemeClr val="dk1"/>
                </a:solidFill>
                <a:latin typeface="Calibri"/>
                <a:ea typeface="Calibri"/>
                <a:cs typeface="Calibri"/>
                <a:sym typeface="Calibri"/>
              </a:rPr>
              <a:t>Il est fréquent que les personnes qui ont volontairement répondu à un sondage d’opinion refusent de répondre à certaines questions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fr-FR" sz="2400" u="none" cap="none" strike="noStrike">
                <a:solidFill>
                  <a:schemeClr val="dk1"/>
                </a:solidFill>
                <a:latin typeface="Calibri"/>
                <a:ea typeface="Calibri"/>
                <a:cs typeface="Calibri"/>
                <a:sym typeface="Calibri"/>
              </a:rPr>
              <a:t>Les techniques statistiques partent des données pour apporter de l’information, et ne sont généralement pas propres à traiter des ensembles de données dans lesquels certaines d’entre elles sont inconnues.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69" name="Google Shape;369;p48"/>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375" name="Google Shape;375;p49"/>
          <p:cNvPicPr preferRelativeResize="0"/>
          <p:nvPr/>
        </p:nvPicPr>
        <p:blipFill rotWithShape="1">
          <a:blip r:embed="rId3">
            <a:alphaModFix/>
          </a:blip>
          <a:srcRect b="0" l="0" r="0" t="0"/>
          <a:stretch/>
        </p:blipFill>
        <p:spPr>
          <a:xfrm>
            <a:off x="9209247" y="6120765"/>
            <a:ext cx="1870710" cy="600710"/>
          </a:xfrm>
          <a:prstGeom prst="rect">
            <a:avLst/>
          </a:prstGeom>
          <a:noFill/>
          <a:ln>
            <a:noFill/>
          </a:ln>
        </p:spPr>
      </p:pic>
      <p:sp>
        <p:nvSpPr>
          <p:cNvPr id="376" name="Google Shape;376;p49"/>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rPr b="1" i="0" lang="fr-FR" sz="3200" u="none" cap="none" strike="noStrike">
                <a:solidFill>
                  <a:schemeClr val="dk1"/>
                </a:solidFill>
                <a:latin typeface="Calibri"/>
                <a:ea typeface="Calibri"/>
                <a:cs typeface="Calibri"/>
                <a:sym typeface="Calibri"/>
              </a:rPr>
              <a:t>Types: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3200"/>
              <a:buFont typeface="Calibri"/>
              <a:buNone/>
            </a:pPr>
            <a:r>
              <a:rPr b="0" i="0" lang="fr-FR" sz="3200" u="none" cap="none" strike="noStrike">
                <a:solidFill>
                  <a:schemeClr val="dk1"/>
                </a:solidFill>
                <a:latin typeface="Calibri"/>
                <a:ea typeface="Calibri"/>
                <a:cs typeface="Calibri"/>
                <a:sym typeface="Calibri"/>
              </a:rPr>
              <a:t>On distingue deux catégories de </a:t>
            </a:r>
            <a:r>
              <a:rPr b="1" i="0" lang="fr-FR" sz="3200" u="none" cap="none" strike="noStrike">
                <a:solidFill>
                  <a:schemeClr val="dk1"/>
                </a:solidFill>
                <a:latin typeface="Calibri"/>
                <a:ea typeface="Calibri"/>
                <a:cs typeface="Calibri"/>
                <a:sym typeface="Calibri"/>
              </a:rPr>
              <a:t>non-réponse</a:t>
            </a:r>
            <a:r>
              <a:rPr b="0" i="0" lang="fr-FR" sz="32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200"/>
              <a:buFont typeface="Noto Sans Symbols"/>
              <a:buChar char="▪"/>
            </a:pPr>
            <a:r>
              <a:rPr b="0" i="0" lang="fr-FR" sz="3200" u="none" cap="none" strike="noStrike">
                <a:solidFill>
                  <a:schemeClr val="dk1"/>
                </a:solidFill>
                <a:latin typeface="Calibri"/>
                <a:ea typeface="Calibri"/>
                <a:cs typeface="Calibri"/>
                <a:sym typeface="Calibri"/>
              </a:rPr>
              <a:t>la </a:t>
            </a:r>
            <a:r>
              <a:rPr b="1" i="0" lang="fr-FR" sz="3200" u="none" cap="none" strike="noStrike">
                <a:solidFill>
                  <a:srgbClr val="C00000"/>
                </a:solidFill>
                <a:latin typeface="Calibri"/>
                <a:ea typeface="Calibri"/>
                <a:cs typeface="Calibri"/>
                <a:sym typeface="Calibri"/>
              </a:rPr>
              <a:t>non-réponse totale</a:t>
            </a:r>
            <a:r>
              <a:rPr b="0" i="0" lang="fr-FR" sz="3200" u="none" cap="none" strike="noStrike">
                <a:solidFill>
                  <a:schemeClr val="dk1"/>
                </a:solidFill>
                <a:latin typeface="Calibri"/>
                <a:ea typeface="Calibri"/>
                <a:cs typeface="Calibri"/>
                <a:sym typeface="Calibri"/>
              </a:rPr>
              <a:t>, lorsque aucune information n’est recueillie sur une unité échantillonnée.</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200"/>
              <a:buFont typeface="Noto Sans Symbols"/>
              <a:buChar char="▪"/>
            </a:pPr>
            <a:r>
              <a:rPr b="0" i="0" lang="fr-FR" sz="3200" u="none" cap="none" strike="noStrike">
                <a:solidFill>
                  <a:schemeClr val="dk1"/>
                </a:solidFill>
                <a:latin typeface="Calibri"/>
                <a:ea typeface="Calibri"/>
                <a:cs typeface="Calibri"/>
                <a:sym typeface="Calibri"/>
              </a:rPr>
              <a:t>la </a:t>
            </a:r>
            <a:r>
              <a:rPr b="1" i="0" lang="fr-FR" sz="3200" u="none" cap="none" strike="noStrike">
                <a:solidFill>
                  <a:srgbClr val="C00000"/>
                </a:solidFill>
                <a:latin typeface="Calibri"/>
                <a:ea typeface="Calibri"/>
                <a:cs typeface="Calibri"/>
                <a:sym typeface="Calibri"/>
              </a:rPr>
              <a:t>non-réponse partielle</a:t>
            </a:r>
            <a:r>
              <a:rPr b="0" i="0" lang="fr-FR" sz="3200" u="none" cap="none" strike="noStrike">
                <a:solidFill>
                  <a:schemeClr val="dk1"/>
                </a:solidFill>
                <a:latin typeface="Calibri"/>
                <a:ea typeface="Calibri"/>
                <a:cs typeface="Calibri"/>
                <a:sym typeface="Calibri"/>
              </a:rPr>
              <a:t>, lorsque le manque d’information est limité à certaines variables. </a:t>
            </a:r>
            <a:endParaRPr b="0" i="0" sz="1400" u="none" cap="none" strike="noStrike">
              <a:solidFill>
                <a:srgbClr val="000000"/>
              </a:solidFill>
              <a:latin typeface="Arial"/>
              <a:ea typeface="Arial"/>
              <a:cs typeface="Arial"/>
              <a:sym typeface="Arial"/>
            </a:endParaRPr>
          </a:p>
        </p:txBody>
      </p:sp>
      <p:sp>
        <p:nvSpPr>
          <p:cNvPr id="377" name="Google Shape;377;p49"/>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0"/>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383" name="Google Shape;383;p50"/>
          <p:cNvSpPr/>
          <p:nvPr/>
        </p:nvSpPr>
        <p:spPr>
          <a:xfrm>
            <a:off x="922985" y="1775936"/>
            <a:ext cx="9856631" cy="2554545"/>
          </a:xfrm>
          <a:prstGeom prst="rect">
            <a:avLst/>
          </a:prstGeom>
          <a:noFill/>
          <a:ln>
            <a:noFill/>
          </a:ln>
        </p:spPr>
        <p:txBody>
          <a:bodyPr anchorCtr="0" anchor="t"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rPr b="0" i="0" lang="fr-FR" sz="3200" u="none" cap="none" strike="noStrike">
                <a:solidFill>
                  <a:schemeClr val="dk1"/>
                </a:solidFill>
                <a:latin typeface="Calibri"/>
                <a:ea typeface="Calibri"/>
                <a:cs typeface="Calibri"/>
                <a:sym typeface="Calibri"/>
              </a:rPr>
              <a:t>Soient: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X un vecteur de variables complètes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fr-FR" sz="3200" u="none" cap="none" strike="noStrike">
                <a:solidFill>
                  <a:schemeClr val="dk1"/>
                </a:solidFill>
                <a:latin typeface="Calibri"/>
                <a:ea typeface="Calibri"/>
                <a:cs typeface="Calibri"/>
                <a:sym typeface="Calibri"/>
              </a:rPr>
              <a:t>Y vecteur de variables incomplètes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384" name="Google Shape;384;p50"/>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pic>
        <p:nvPicPr>
          <p:cNvPr id="385" name="Google Shape;385;p50"/>
          <p:cNvPicPr preferRelativeResize="0"/>
          <p:nvPr/>
        </p:nvPicPr>
        <p:blipFill rotWithShape="1">
          <a:blip r:embed="rId3">
            <a:alphaModFix/>
          </a:blip>
          <a:srcRect b="0" l="0" r="0" t="0"/>
          <a:stretch/>
        </p:blipFill>
        <p:spPr>
          <a:xfrm>
            <a:off x="2588654" y="3267704"/>
            <a:ext cx="6012234" cy="29834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1"/>
          <p:cNvSpPr/>
          <p:nvPr/>
        </p:nvSpPr>
        <p:spPr>
          <a:xfrm>
            <a:off x="682189" y="2216124"/>
            <a:ext cx="10818253" cy="41549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Les deux formes, radicalement différentes, pour contourner ou résoudre le problème de données manquantes  sont les suivantes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rgbClr val="C00000"/>
              </a:buClr>
              <a:buSzPts val="2400"/>
              <a:buFont typeface="Noto Sans Symbols"/>
              <a:buChar char="⮚"/>
            </a:pPr>
            <a:r>
              <a:rPr b="1" i="0" lang="fr-FR" sz="2400" u="none" cap="none" strike="noStrike">
                <a:solidFill>
                  <a:srgbClr val="C00000"/>
                </a:solidFill>
                <a:latin typeface="Calibri"/>
                <a:ea typeface="Calibri"/>
                <a:cs typeface="Calibri"/>
                <a:sym typeface="Calibri"/>
              </a:rPr>
              <a:t>Elimination</a:t>
            </a:r>
            <a:r>
              <a:rPr b="0" i="0" lang="fr-FR" sz="2400" u="none" cap="none" strike="noStrike">
                <a:solidFill>
                  <a:schemeClr val="dk1"/>
                </a:solidFill>
                <a:latin typeface="Calibri"/>
                <a:ea typeface="Calibri"/>
                <a:cs typeface="Calibri"/>
                <a:sym typeface="Calibri"/>
              </a:rPr>
              <a:t>: réduire l’échantillon aux individus «complets», parmi lesquels on ne trouve aucune donnée manquante. </a:t>
            </a:r>
            <a:endParaRPr b="0" i="0" sz="1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🡪Retirer les individus qui présentent des données manquantes, s’ils représentent un faible pourcentage de l’échantillon (</a:t>
            </a:r>
            <a:r>
              <a:rPr b="1" i="0" lang="fr-FR" sz="2400" u="none" cap="none" strike="noStrike">
                <a:solidFill>
                  <a:srgbClr val="C00000"/>
                </a:solidFill>
                <a:latin typeface="Calibri"/>
                <a:ea typeface="Calibri"/>
                <a:cs typeface="Calibri"/>
                <a:sym typeface="Calibri"/>
              </a:rPr>
              <a:t>5% ou moins</a:t>
            </a:r>
            <a:r>
              <a:rPr b="0" i="0" lang="fr-FR" sz="2400" u="none" cap="none" strike="noStrike">
                <a:solidFill>
                  <a:schemeClr val="dk1"/>
                </a:solidFill>
                <a:latin typeface="Calibri"/>
                <a:ea typeface="Calibri"/>
                <a:cs typeface="Calibri"/>
                <a:sym typeface="Calibri"/>
              </a:rPr>
              <a:t>), peut paraître raisonnable.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rgbClr val="C00000"/>
              </a:buClr>
              <a:buSzPts val="2400"/>
              <a:buFont typeface="Noto Sans Symbols"/>
              <a:buChar char="⮚"/>
            </a:pPr>
            <a:r>
              <a:rPr b="1" i="0" lang="fr-FR" sz="2400" u="none" cap="none" strike="noStrike">
                <a:solidFill>
                  <a:srgbClr val="C00000"/>
                </a:solidFill>
                <a:latin typeface="Calibri"/>
                <a:ea typeface="Calibri"/>
                <a:cs typeface="Calibri"/>
                <a:sym typeface="Calibri"/>
              </a:rPr>
              <a:t>Imputation </a:t>
            </a:r>
            <a:r>
              <a:rPr b="0" i="0" lang="fr-FR" sz="2400" u="none" cap="none" strike="noStrike">
                <a:solidFill>
                  <a:schemeClr val="dk1"/>
                </a:solidFill>
                <a:latin typeface="Calibri"/>
                <a:ea typeface="Calibri"/>
                <a:cs typeface="Calibri"/>
                <a:sym typeface="Calibri"/>
              </a:rPr>
              <a:t>: attribuer des valeurs aux données manquantes selon un critère rationnel. </a:t>
            </a:r>
            <a:endParaRPr b="0" i="0" sz="1400" u="none" cap="none" strike="noStrike">
              <a:solidFill>
                <a:srgbClr val="000000"/>
              </a:solidFill>
              <a:latin typeface="Arial"/>
              <a:ea typeface="Arial"/>
              <a:cs typeface="Arial"/>
              <a:sym typeface="Arial"/>
            </a:endParaRPr>
          </a:p>
        </p:txBody>
      </p:sp>
      <p:sp>
        <p:nvSpPr>
          <p:cNvPr id="391" name="Google Shape;391;p51"/>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392" name="Google Shape;392;p51"/>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pic>
        <p:nvPicPr>
          <p:cNvPr descr="Image associÃ©e" id="393" name="Google Shape;393;p51"/>
          <p:cNvPicPr preferRelativeResize="0"/>
          <p:nvPr/>
        </p:nvPicPr>
        <p:blipFill rotWithShape="1">
          <a:blip r:embed="rId3">
            <a:alphaModFix/>
          </a:blip>
          <a:srcRect b="0" l="0" r="0" t="0"/>
          <a:stretch/>
        </p:blipFill>
        <p:spPr>
          <a:xfrm>
            <a:off x="10820377" y="5665915"/>
            <a:ext cx="1123973" cy="882751"/>
          </a:xfrm>
          <a:prstGeom prst="rect">
            <a:avLst/>
          </a:prstGeom>
          <a:noFill/>
          <a:ln>
            <a:noFill/>
          </a:ln>
        </p:spPr>
      </p:pic>
      <p:sp>
        <p:nvSpPr>
          <p:cNvPr id="394" name="Google Shape;394;p51"/>
          <p:cNvSpPr/>
          <p:nvPr/>
        </p:nvSpPr>
        <p:spPr>
          <a:xfrm>
            <a:off x="968218" y="1646967"/>
            <a:ext cx="1993174" cy="584775"/>
          </a:xfrm>
          <a:prstGeom prst="rect">
            <a:avLst/>
          </a:prstGeom>
          <a:noFill/>
          <a:ln>
            <a:noFill/>
          </a:ln>
        </p:spPr>
        <p:txBody>
          <a:bodyPr anchorCtr="0" anchor="t"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rPr b="1" i="0" lang="fr-FR" sz="3200" u="none" cap="none" strike="noStrike">
                <a:solidFill>
                  <a:schemeClr val="dk1"/>
                </a:solidFill>
                <a:latin typeface="Calibri"/>
                <a:ea typeface="Calibri"/>
                <a:cs typeface="Calibri"/>
                <a:sym typeface="Calibri"/>
              </a:rPr>
              <a:t>Solutions: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2"/>
          <p:cNvSpPr/>
          <p:nvPr/>
        </p:nvSpPr>
        <p:spPr>
          <a:xfrm>
            <a:off x="644908" y="2364578"/>
            <a:ext cx="10980995" cy="3416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fr-FR" sz="1800" u="sng" cap="none" strike="noStrike">
                <a:solidFill>
                  <a:srgbClr val="C00000"/>
                </a:solidFill>
                <a:latin typeface="Calibri"/>
                <a:ea typeface="Calibri"/>
                <a:cs typeface="Calibri"/>
                <a:sym typeface="Calibri"/>
              </a:rPr>
              <a:t>Principe</a:t>
            </a:r>
            <a:r>
              <a:rPr b="0" i="0" lang="fr-FR" sz="1800" u="none" cap="none" strike="noStrike">
                <a:solidFill>
                  <a:schemeClr val="dk1"/>
                </a:solidFill>
                <a:latin typeface="Calibri"/>
                <a:ea typeface="Calibri"/>
                <a:cs typeface="Calibri"/>
                <a:sym typeface="Calibri"/>
              </a:rPr>
              <a:t>: Remplacer chaque DM par une valeur plausible. Cela peut être: </a:t>
            </a:r>
            <a:r>
              <a:rPr b="1" i="0" lang="fr-FR" sz="1800" u="none" cap="none" strike="noStrike">
                <a:solidFill>
                  <a:schemeClr val="dk1"/>
                </a:solidFill>
                <a:latin typeface="Calibri"/>
                <a:ea typeface="Calibri"/>
                <a:cs typeface="Calibri"/>
                <a:sym typeface="Calibri"/>
              </a:rPr>
              <a:t>la moyenne </a:t>
            </a:r>
            <a:r>
              <a:rPr b="0" i="0" lang="fr-FR" sz="1800" u="none" cap="none" strike="noStrike">
                <a:solidFill>
                  <a:schemeClr val="dk1"/>
                </a:solidFill>
                <a:latin typeface="Calibri"/>
                <a:ea typeface="Calibri"/>
                <a:cs typeface="Calibri"/>
                <a:sym typeface="Calibri"/>
              </a:rPr>
              <a:t>ou </a:t>
            </a:r>
            <a:r>
              <a:rPr b="1" i="0" lang="fr-FR" sz="1800" u="none" cap="none" strike="noStrike">
                <a:solidFill>
                  <a:schemeClr val="dk1"/>
                </a:solidFill>
                <a:latin typeface="Calibri"/>
                <a:ea typeface="Calibri"/>
                <a:cs typeface="Calibri"/>
                <a:sym typeface="Calibri"/>
              </a:rPr>
              <a:t>la médiane </a:t>
            </a:r>
            <a:r>
              <a:rPr b="0" i="0" lang="fr-FR" sz="1800" u="none" cap="none" strike="noStrike">
                <a:solidFill>
                  <a:schemeClr val="dk1"/>
                </a:solidFill>
                <a:latin typeface="Calibri"/>
                <a:ea typeface="Calibri"/>
                <a:cs typeface="Calibri"/>
                <a:sym typeface="Calibri"/>
              </a:rPr>
              <a:t>pour les variables quantitatives ou </a:t>
            </a:r>
            <a:r>
              <a:rPr b="1" i="0" lang="fr-FR" sz="1800" u="none" cap="none" strike="noStrike">
                <a:solidFill>
                  <a:schemeClr val="dk1"/>
                </a:solidFill>
                <a:latin typeface="Calibri"/>
                <a:ea typeface="Calibri"/>
                <a:cs typeface="Calibri"/>
                <a:sym typeface="Calibri"/>
              </a:rPr>
              <a:t>le mode </a:t>
            </a:r>
            <a:r>
              <a:rPr b="0" i="0" lang="fr-FR" sz="1800" u="none" cap="none" strike="noStrike">
                <a:solidFill>
                  <a:schemeClr val="dk1"/>
                </a:solidFill>
                <a:latin typeface="Calibri"/>
                <a:ea typeface="Calibri"/>
                <a:cs typeface="Calibri"/>
                <a:sym typeface="Calibri"/>
              </a:rPr>
              <a:t>pour les variables qualitatives.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Cette méthode peut comprendre deux types: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Char char="❑"/>
            </a:pPr>
            <a:r>
              <a:rPr b="0" i="0" lang="fr-FR" sz="1800" u="none" cap="none" strike="noStrike">
                <a:solidFill>
                  <a:schemeClr val="dk1"/>
                </a:solidFill>
                <a:latin typeface="Calibri"/>
                <a:ea typeface="Calibri"/>
                <a:cs typeface="Calibri"/>
                <a:sym typeface="Calibri"/>
              </a:rPr>
              <a:t>    </a:t>
            </a:r>
            <a:r>
              <a:rPr b="1" i="0" lang="fr-FR" sz="1800" u="sng" cap="none" strike="noStrike">
                <a:solidFill>
                  <a:schemeClr val="dk1"/>
                </a:solidFill>
                <a:latin typeface="Calibri"/>
                <a:ea typeface="Calibri"/>
                <a:cs typeface="Calibri"/>
                <a:sym typeface="Calibri"/>
              </a:rPr>
              <a:t>Generalized imputation</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On calcule la moyenne ou bien la médiane de toutes les valeurs non manquantes que prend la variable, puis on remplace les DM par ces valeurs (Mode dans le cas des variables qualitatives)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Char char="❑"/>
            </a:pPr>
            <a:r>
              <a:rPr b="0" i="0" lang="fr-FR" sz="1800" u="none" cap="none" strike="noStrike">
                <a:solidFill>
                  <a:schemeClr val="dk1"/>
                </a:solidFill>
                <a:latin typeface="Calibri"/>
                <a:ea typeface="Calibri"/>
                <a:cs typeface="Calibri"/>
                <a:sym typeface="Calibri"/>
              </a:rPr>
              <a:t>     </a:t>
            </a:r>
            <a:r>
              <a:rPr b="1" i="0" lang="fr-FR" sz="1800" u="sng" cap="none" strike="noStrike">
                <a:solidFill>
                  <a:schemeClr val="dk1"/>
                </a:solidFill>
                <a:latin typeface="Calibri"/>
                <a:ea typeface="Calibri"/>
                <a:cs typeface="Calibri"/>
                <a:sym typeface="Calibri"/>
              </a:rPr>
              <a:t>Similar case imputation</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On remplace les DM par des valeurs provenant d’individus similaires pour lesquels, toute l’information a été observée</a:t>
            </a:r>
            <a:endParaRPr b="0" i="0" sz="1400" u="none" cap="none" strike="noStrike">
              <a:solidFill>
                <a:srgbClr val="000000"/>
              </a:solidFill>
              <a:latin typeface="Arial"/>
              <a:ea typeface="Arial"/>
              <a:cs typeface="Arial"/>
              <a:sym typeface="Arial"/>
            </a:endParaRPr>
          </a:p>
        </p:txBody>
      </p:sp>
      <p:sp>
        <p:nvSpPr>
          <p:cNvPr id="400" name="Google Shape;400;p52"/>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401" name="Google Shape;401;p52"/>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402" name="Google Shape;402;p52"/>
          <p:cNvSpPr/>
          <p:nvPr/>
        </p:nvSpPr>
        <p:spPr>
          <a:xfrm>
            <a:off x="879666" y="1769443"/>
            <a:ext cx="3450175"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Imputation Simple:</a:t>
            </a:r>
            <a:endParaRPr b="1" i="0" sz="32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3"/>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408" name="Google Shape;408;p53"/>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409" name="Google Shape;409;p53"/>
          <p:cNvSpPr/>
          <p:nvPr/>
        </p:nvSpPr>
        <p:spPr>
          <a:xfrm>
            <a:off x="879666" y="1769443"/>
            <a:ext cx="6687793"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Imputation par l’algorithme KNN (1/2)</a:t>
            </a:r>
            <a:endParaRPr b="1" i="0" sz="3200" u="none" cap="none" strike="noStrike">
              <a:solidFill>
                <a:schemeClr val="dk1"/>
              </a:solidFill>
              <a:latin typeface="Calibri"/>
              <a:ea typeface="Calibri"/>
              <a:cs typeface="Calibri"/>
              <a:sym typeface="Calibri"/>
            </a:endParaRPr>
          </a:p>
        </p:txBody>
      </p:sp>
      <p:sp>
        <p:nvSpPr>
          <p:cNvPr id="410" name="Google Shape;410;p53"/>
          <p:cNvSpPr/>
          <p:nvPr/>
        </p:nvSpPr>
        <p:spPr>
          <a:xfrm>
            <a:off x="785611" y="2394065"/>
            <a:ext cx="9697791" cy="32778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800"/>
              <a:buFont typeface="Arial"/>
              <a:buNone/>
            </a:pPr>
            <a:r>
              <a:rPr b="0" i="0" lang="fr-FR" sz="1800" u="none" cap="none" strike="noStrike">
                <a:solidFill>
                  <a:schemeClr val="dk1"/>
                </a:solidFill>
                <a:latin typeface="Calibri"/>
                <a:ea typeface="Calibri"/>
                <a:cs typeface="Calibri"/>
                <a:sym typeface="Calibri"/>
              </a:rPr>
              <a:t>Dans cette méthode:</a:t>
            </a:r>
            <a:endParaRPr b="0" i="0" sz="1400" u="none" cap="none" strike="noStrike">
              <a:solidFill>
                <a:srgbClr val="000000"/>
              </a:solidFill>
              <a:latin typeface="Arial"/>
              <a:ea typeface="Arial"/>
              <a:cs typeface="Arial"/>
              <a:sym typeface="Arial"/>
            </a:endParaRPr>
          </a:p>
          <a:p>
            <a:pPr indent="0" lvl="0" marL="109728" marR="0" rtl="0" algn="l">
              <a:lnSpc>
                <a:spcPct val="15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*Les DM d’une variable sont imputées en utilisant les variables les plus similaires de celui en question</a:t>
            </a:r>
            <a:endParaRPr b="0" i="0" sz="1400" u="none" cap="none" strike="noStrike">
              <a:solidFill>
                <a:srgbClr val="000000"/>
              </a:solidFill>
              <a:latin typeface="Arial"/>
              <a:ea typeface="Arial"/>
              <a:cs typeface="Arial"/>
              <a:sym typeface="Arial"/>
            </a:endParaRPr>
          </a:p>
          <a:p>
            <a:pPr indent="0" lvl="0" marL="109728" marR="0" rtl="0" algn="l">
              <a:lnSpc>
                <a:spcPct val="15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*La similarité entre deux attributs est déterminée en utilisant une fonction de distance</a:t>
            </a:r>
            <a:endParaRPr b="0" i="0" sz="1400" u="none" cap="none" strike="noStrike">
              <a:solidFill>
                <a:srgbClr val="000000"/>
              </a:solidFill>
              <a:latin typeface="Arial"/>
              <a:ea typeface="Arial"/>
              <a:cs typeface="Arial"/>
              <a:sym typeface="Arial"/>
            </a:endParaRPr>
          </a:p>
          <a:p>
            <a:pPr indent="0" lvl="0" marL="109728" marR="0" rtl="0" algn="l">
              <a:lnSpc>
                <a:spcPct val="150000"/>
              </a:lnSpc>
              <a:spcBef>
                <a:spcPts val="0"/>
              </a:spcBef>
              <a:spcAft>
                <a:spcPts val="0"/>
              </a:spcAft>
              <a:buClr>
                <a:schemeClr val="dk1"/>
              </a:buClr>
              <a:buSzPts val="1800"/>
              <a:buFont typeface="Calibri"/>
              <a:buNone/>
            </a:pPr>
            <a:r>
              <a:rPr b="0" i="0" lang="fr-FR" sz="1800" u="none" cap="none" strike="noStrike">
                <a:solidFill>
                  <a:schemeClr val="dk1"/>
                </a:solidFill>
                <a:latin typeface="Calibri"/>
                <a:ea typeface="Calibri"/>
                <a:cs typeface="Calibri"/>
                <a:sym typeface="Calibri"/>
              </a:rPr>
              <a:t>*Le package </a:t>
            </a:r>
            <a:r>
              <a:rPr b="1" i="0" lang="fr-FR" sz="1800" u="none" cap="none" strike="noStrike">
                <a:solidFill>
                  <a:schemeClr val="dk1"/>
                </a:solidFill>
                <a:latin typeface="Calibri"/>
                <a:ea typeface="Calibri"/>
                <a:cs typeface="Calibri"/>
                <a:sym typeface="Calibri"/>
              </a:rPr>
              <a:t>VIM</a:t>
            </a:r>
            <a:r>
              <a:rPr b="0" i="0" lang="fr-FR" sz="1800" u="none" cap="none" strike="noStrike">
                <a:solidFill>
                  <a:schemeClr val="dk1"/>
                </a:solidFill>
                <a:latin typeface="Calibri"/>
                <a:ea typeface="Calibri"/>
                <a:cs typeface="Calibri"/>
                <a:sym typeface="Calibri"/>
              </a:rPr>
              <a:t> dans </a:t>
            </a:r>
            <a:r>
              <a:rPr b="1" i="0" lang="fr-FR" sz="1800" u="none" cap="none" strike="noStrike">
                <a:solidFill>
                  <a:schemeClr val="dk1"/>
                </a:solidFill>
                <a:latin typeface="Calibri"/>
                <a:ea typeface="Calibri"/>
                <a:cs typeface="Calibri"/>
                <a:sym typeface="Calibri"/>
              </a:rPr>
              <a:t>R</a:t>
            </a:r>
            <a:r>
              <a:rPr b="0" i="0" lang="fr-FR" sz="1800" u="none" cap="none" strike="noStrike">
                <a:solidFill>
                  <a:schemeClr val="dk1"/>
                </a:solidFill>
                <a:latin typeface="Calibri"/>
                <a:ea typeface="Calibri"/>
                <a:cs typeface="Calibri"/>
                <a:sym typeface="Calibri"/>
              </a:rPr>
              <a:t>,utilise une fonction appelé kNN qui implémente </a:t>
            </a:r>
            <a:r>
              <a:rPr b="1" i="0" lang="fr-FR" sz="1800" u="sng" cap="none" strike="noStrike">
                <a:solidFill>
                  <a:schemeClr val="dk1"/>
                </a:solidFill>
                <a:latin typeface="Calibri"/>
                <a:ea typeface="Calibri"/>
                <a:cs typeface="Calibri"/>
                <a:sym typeface="Calibri"/>
              </a:rPr>
              <a:t>une distance de Gowers </a:t>
            </a:r>
            <a:r>
              <a:rPr b="0" i="0" lang="fr-FR" sz="1800" u="none" cap="none" strike="noStrike">
                <a:solidFill>
                  <a:schemeClr val="dk1"/>
                </a:solidFill>
                <a:latin typeface="Calibri"/>
                <a:ea typeface="Calibri"/>
                <a:cs typeface="Calibri"/>
                <a:sym typeface="Calibri"/>
              </a:rPr>
              <a:t>pour déterminer les K plus proches voisins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4"/>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416" name="Google Shape;416;p54"/>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417" name="Google Shape;417;p54"/>
          <p:cNvSpPr/>
          <p:nvPr/>
        </p:nvSpPr>
        <p:spPr>
          <a:xfrm>
            <a:off x="879666" y="1769443"/>
            <a:ext cx="6687793"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Imputation par l’algorithme KNN (2/2)</a:t>
            </a:r>
            <a:endParaRPr b="1" i="0" sz="3200" u="none" cap="none" strike="noStrike">
              <a:solidFill>
                <a:schemeClr val="dk1"/>
              </a:solidFill>
              <a:latin typeface="Calibri"/>
              <a:ea typeface="Calibri"/>
              <a:cs typeface="Calibri"/>
              <a:sym typeface="Calibri"/>
            </a:endParaRPr>
          </a:p>
        </p:txBody>
      </p:sp>
      <p:sp>
        <p:nvSpPr>
          <p:cNvPr id="418" name="Google Shape;418;p54"/>
          <p:cNvSpPr/>
          <p:nvPr/>
        </p:nvSpPr>
        <p:spPr>
          <a:xfrm>
            <a:off x="789513" y="2413889"/>
            <a:ext cx="10427985" cy="34163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2400"/>
              <a:buFont typeface="Arial"/>
              <a:buNone/>
            </a:pPr>
            <a:r>
              <a:rPr b="0" i="0" lang="fr-FR" sz="2400" u="none" cap="none" strike="noStrike">
                <a:solidFill>
                  <a:schemeClr val="dk1"/>
                </a:solidFill>
                <a:latin typeface="Calibri"/>
                <a:ea typeface="Calibri"/>
                <a:cs typeface="Calibri"/>
                <a:sym typeface="Calibri"/>
              </a:rPr>
              <a:t>Pour effectuer une prédiction, l’algorithme K-NN va se baser sur le jeu de données en entier. En effet, pour une observation, qui ne fait pas parti du jeu de données, qu’on souhaite prédire, l’algorithme va chercher les K instances du jeu de données les plus proches de notre observation. Ensuite pour ces  voisins, l’algorithme se basera sur leurs variables de sortie (output variable)  pour calculer la valeur de la variable  de l’observation qu’on souhaite prédire.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5"/>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
        <p:nvSpPr>
          <p:cNvPr id="424" name="Google Shape;424;p55"/>
          <p:cNvSpPr/>
          <p:nvPr/>
        </p:nvSpPr>
        <p:spPr>
          <a:xfrm>
            <a:off x="504823" y="1602022"/>
            <a:ext cx="11172987" cy="4667250"/>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109728" marR="0" rtl="0" algn="l">
              <a:lnSpc>
                <a:spcPct val="100000"/>
              </a:lnSpc>
              <a:spcBef>
                <a:spcPts val="0"/>
              </a:spcBef>
              <a:spcAft>
                <a:spcPts val="0"/>
              </a:spcAft>
              <a:buClr>
                <a:schemeClr val="dk1"/>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425" name="Google Shape;425;p55"/>
          <p:cNvSpPr/>
          <p:nvPr/>
        </p:nvSpPr>
        <p:spPr>
          <a:xfrm>
            <a:off x="879666" y="1769443"/>
            <a:ext cx="3692229"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fr-FR" sz="3200" u="none" cap="none" strike="noStrike">
                <a:solidFill>
                  <a:schemeClr val="dk1"/>
                </a:solidFill>
                <a:latin typeface="Calibri"/>
                <a:ea typeface="Calibri"/>
                <a:cs typeface="Calibri"/>
                <a:sym typeface="Calibri"/>
              </a:rPr>
              <a:t>Imputation Hot deck</a:t>
            </a:r>
            <a:endParaRPr b="1" i="0" sz="3200" u="none" cap="none" strike="noStrike">
              <a:solidFill>
                <a:schemeClr val="dk1"/>
              </a:solidFill>
              <a:latin typeface="Calibri"/>
              <a:ea typeface="Calibri"/>
              <a:cs typeface="Calibri"/>
              <a:sym typeface="Calibri"/>
            </a:endParaRPr>
          </a:p>
        </p:txBody>
      </p:sp>
      <p:sp>
        <p:nvSpPr>
          <p:cNvPr id="426" name="Google Shape;426;p55"/>
          <p:cNvSpPr txBox="1"/>
          <p:nvPr/>
        </p:nvSpPr>
        <p:spPr>
          <a:xfrm>
            <a:off x="779171" y="2372134"/>
            <a:ext cx="10000445"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Imputer la valeur manquante avec une valeur observée de la même base de donnée aléatoirement (Sous R, la fonction </a:t>
            </a:r>
            <a:r>
              <a:rPr b="1" i="0" lang="fr-FR" sz="2000" u="none" cap="none" strike="noStrike">
                <a:solidFill>
                  <a:schemeClr val="dk1"/>
                </a:solidFill>
                <a:latin typeface="Calibri"/>
                <a:ea typeface="Calibri"/>
                <a:cs typeface="Calibri"/>
                <a:sym typeface="Calibri"/>
              </a:rPr>
              <a:t>impute</a:t>
            </a:r>
            <a:r>
              <a:rPr b="0" i="0" lang="fr-FR" sz="2000" u="none" cap="none" strike="noStrike">
                <a:solidFill>
                  <a:schemeClr val="dk1"/>
                </a:solidFill>
                <a:latin typeface="Calibri"/>
                <a:ea typeface="Calibri"/>
                <a:cs typeface="Calibri"/>
                <a:sym typeface="Calibri"/>
              </a:rPr>
              <a:t> du package </a:t>
            </a:r>
            <a:r>
              <a:rPr b="1" i="0" lang="fr-FR" sz="2000" u="none" cap="none" strike="noStrike">
                <a:solidFill>
                  <a:schemeClr val="dk1"/>
                </a:solidFill>
                <a:latin typeface="Calibri"/>
                <a:ea typeface="Calibri"/>
                <a:cs typeface="Calibri"/>
                <a:sym typeface="Calibri"/>
              </a:rPr>
              <a:t>Hmisc </a:t>
            </a:r>
            <a:r>
              <a:rPr b="0" i="0" lang="fr-FR" sz="2000" u="none" cap="none" strike="noStrike">
                <a:solidFill>
                  <a:schemeClr val="dk1"/>
                </a:solidFill>
                <a:latin typeface="Calibri"/>
                <a:ea typeface="Calibri"/>
                <a:cs typeface="Calibri"/>
                <a:sym typeface="Calibri"/>
              </a:rPr>
              <a:t>implémente cette méthode en utilisant la fonction)</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FF0000"/>
              </a:buClr>
              <a:buSzPts val="2000"/>
              <a:buFont typeface="Arial"/>
              <a:buChar char="•"/>
            </a:pPr>
            <a:r>
              <a:rPr b="1" i="0" lang="fr-FR" sz="2000" u="none" cap="none" strike="noStrike">
                <a:solidFill>
                  <a:srgbClr val="FF0000"/>
                </a:solidFill>
                <a:latin typeface="Calibri"/>
                <a:ea typeface="Calibri"/>
                <a:cs typeface="Calibri"/>
                <a:sym typeface="Calibri"/>
              </a:rPr>
              <a:t>Exemple:</a:t>
            </a:r>
            <a:r>
              <a:rPr b="0" i="0" lang="fr-FR" sz="2000" u="none" cap="none" strike="noStrike">
                <a:solidFill>
                  <a:schemeClr val="dk1"/>
                </a:solidFill>
                <a:latin typeface="Calibri"/>
                <a:ea typeface="Calibri"/>
                <a:cs typeface="Calibri"/>
                <a:sym typeface="Calibri"/>
              </a:rPr>
              <a:t> Soit « height » les tailles extraites du jeu de données « Woman »</a:t>
            </a:r>
            <a:endParaRPr b="0" i="0" sz="2000" u="none" cap="none" strike="noStrike">
              <a:solidFill>
                <a:schemeClr val="dk1"/>
              </a:solidFill>
              <a:latin typeface="Calibri"/>
              <a:ea typeface="Calibri"/>
              <a:cs typeface="Calibri"/>
              <a:sym typeface="Calibri"/>
            </a:endParaRPr>
          </a:p>
        </p:txBody>
      </p:sp>
      <p:pic>
        <p:nvPicPr>
          <p:cNvPr id="427" name="Google Shape;427;p55"/>
          <p:cNvPicPr preferRelativeResize="0"/>
          <p:nvPr/>
        </p:nvPicPr>
        <p:blipFill rotWithShape="1">
          <a:blip r:embed="rId3">
            <a:alphaModFix/>
          </a:blip>
          <a:srcRect b="0" l="0" r="0" t="0"/>
          <a:stretch/>
        </p:blipFill>
        <p:spPr>
          <a:xfrm>
            <a:off x="1803177" y="3935647"/>
            <a:ext cx="7381867" cy="189848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433" name="Google Shape;433;p56"/>
          <p:cNvPicPr preferRelativeResize="0"/>
          <p:nvPr/>
        </p:nvPicPr>
        <p:blipFill rotWithShape="1">
          <a:blip r:embed="rId3">
            <a:alphaModFix/>
          </a:blip>
          <a:srcRect b="0" l="0" r="0" t="0"/>
          <a:stretch/>
        </p:blipFill>
        <p:spPr>
          <a:xfrm>
            <a:off x="8666322" y="5770626"/>
            <a:ext cx="1870710" cy="600710"/>
          </a:xfrm>
          <a:prstGeom prst="rect">
            <a:avLst/>
          </a:prstGeom>
          <a:noFill/>
          <a:ln>
            <a:noFill/>
          </a:ln>
        </p:spPr>
      </p:pic>
      <p:sp>
        <p:nvSpPr>
          <p:cNvPr id="434" name="Google Shape;434;p56"/>
          <p:cNvSpPr/>
          <p:nvPr/>
        </p:nvSpPr>
        <p:spPr>
          <a:xfrm>
            <a:off x="352426" y="1378039"/>
            <a:ext cx="11487149" cy="4958368"/>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56"/>
          <p:cNvSpPr/>
          <p:nvPr/>
        </p:nvSpPr>
        <p:spPr>
          <a:xfrm>
            <a:off x="933450" y="1497930"/>
            <a:ext cx="9772650" cy="48936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i="0" lang="fr-FR" sz="2400" u="none" cap="none" strike="noStrike">
                <a:solidFill>
                  <a:schemeClr val="dk1"/>
                </a:solidFill>
                <a:latin typeface="Calibri"/>
                <a:ea typeface="Calibri"/>
                <a:cs typeface="Calibri"/>
                <a:sym typeface="Calibri"/>
              </a:rPr>
              <a:t>Sous 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Noto Sans Symbols"/>
              <a:buChar char="▪"/>
            </a:pPr>
            <a:r>
              <a:rPr b="0" i="0" lang="fr-FR" sz="2400" u="none" cap="none" strike="noStrike">
                <a:solidFill>
                  <a:schemeClr val="dk1"/>
                </a:solidFill>
                <a:latin typeface="Calibri"/>
                <a:ea typeface="Calibri"/>
                <a:cs typeface="Calibri"/>
                <a:sym typeface="Calibri"/>
              </a:rPr>
              <a:t>Une valeur manquante est indiquée par NA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rgbClr val="C00000"/>
              </a:buClr>
              <a:buSzPts val="2400"/>
              <a:buFont typeface="Calibri"/>
              <a:buNone/>
            </a:pPr>
            <a:r>
              <a:rPr b="0" i="0" lang="fr-FR" sz="2400" u="none" cap="none" strike="noStrike">
                <a:solidFill>
                  <a:srgbClr val="C00000"/>
                </a:solidFill>
                <a:latin typeface="Calibri"/>
                <a:ea typeface="Calibri"/>
                <a:cs typeface="Calibri"/>
                <a:sym typeface="Calibri"/>
              </a:rPr>
              <a:t>u = c(31, 43, NA, 36, NA) </a:t>
            </a:r>
            <a:endParaRPr b="0" i="0" sz="2400" u="none" cap="none" strike="noStrike">
              <a:solidFill>
                <a:srgbClr val="C00000"/>
              </a:solidFill>
              <a:latin typeface="Calibri"/>
              <a:ea typeface="Calibri"/>
              <a:cs typeface="Calibri"/>
              <a:sym typeface="Calibri"/>
            </a:endParaRPr>
          </a:p>
          <a:p>
            <a:pPr indent="0" lvl="0" marL="109728" marR="0" rtl="0" algn="l">
              <a:lnSpc>
                <a:spcPct val="100000"/>
              </a:lnSpc>
              <a:spcBef>
                <a:spcPts val="0"/>
              </a:spcBef>
              <a:spcAft>
                <a:spcPts val="0"/>
              </a:spcAft>
              <a:buClr>
                <a:srgbClr val="C00000"/>
              </a:buClr>
              <a:buSzPts val="2400"/>
              <a:buFont typeface="Calibri"/>
              <a:buNone/>
            </a:pPr>
            <a:r>
              <a:rPr b="0" i="0" lang="fr-FR" sz="2400" u="none" cap="none" strike="noStrike">
                <a:solidFill>
                  <a:srgbClr val="C00000"/>
                </a:solidFill>
                <a:latin typeface="Calibri"/>
                <a:ea typeface="Calibri"/>
                <a:cs typeface="Calibri"/>
                <a:sym typeface="Calibri"/>
              </a:rPr>
              <a:t>is.na(u) </a:t>
            </a:r>
            <a:endParaRPr b="0" i="0" sz="2400" u="none" cap="none" strike="noStrike">
              <a:solidFill>
                <a:srgbClr val="C00000"/>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400"/>
              <a:buFont typeface="Calibri"/>
              <a:buNone/>
            </a:pPr>
            <a:r>
              <a:rPr b="0" i="0" lang="fr-FR" sz="2400" u="none" cap="none" strike="noStrike">
                <a:solidFill>
                  <a:schemeClr val="dk1"/>
                </a:solidFill>
                <a:latin typeface="Calibri"/>
                <a:ea typeface="Calibri"/>
                <a:cs typeface="Calibri"/>
                <a:sym typeface="Calibri"/>
              </a:rPr>
              <a:t>On ignore les valeurs manquantes :</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rgbClr val="C00000"/>
              </a:buClr>
              <a:buSzPts val="2400"/>
              <a:buFont typeface="Calibri"/>
              <a:buNone/>
            </a:pPr>
            <a:r>
              <a:rPr b="0" i="0" lang="fr-FR" sz="2400" u="none" cap="none" strike="noStrike">
                <a:solidFill>
                  <a:srgbClr val="C00000"/>
                </a:solidFill>
                <a:latin typeface="Calibri"/>
                <a:ea typeface="Calibri"/>
                <a:cs typeface="Calibri"/>
                <a:sym typeface="Calibri"/>
              </a:rPr>
              <a:t>mean(u, na.rm = TRUE)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Noto Sans Symbols"/>
              <a:buChar char="▪"/>
            </a:pPr>
            <a:r>
              <a:rPr b="0" i="0" lang="fr-FR" sz="2400" u="none" cap="none" strike="noStrike">
                <a:solidFill>
                  <a:schemeClr val="dk1"/>
                </a:solidFill>
                <a:latin typeface="Calibri"/>
                <a:ea typeface="Calibri"/>
                <a:cs typeface="Calibri"/>
                <a:sym typeface="Calibri"/>
              </a:rPr>
              <a:t>Si le fichier texte données contient des données manquantes, on ignore les individus correspondants en utilisant la commande </a:t>
            </a:r>
            <a:r>
              <a:rPr b="0" i="0" lang="fr-FR" sz="2400" u="none" cap="none" strike="noStrike">
                <a:solidFill>
                  <a:srgbClr val="C00000"/>
                </a:solidFill>
                <a:latin typeface="Calibri"/>
                <a:ea typeface="Calibri"/>
                <a:cs typeface="Calibri"/>
                <a:sym typeface="Calibri"/>
              </a:rPr>
              <a:t>na.strings </a:t>
            </a:r>
            <a:r>
              <a:rPr b="0" i="0" lang="fr-FR" sz="24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109728" marR="0" rtl="0" algn="just">
              <a:lnSpc>
                <a:spcPct val="100000"/>
              </a:lnSpc>
              <a:spcBef>
                <a:spcPts val="0"/>
              </a:spcBef>
              <a:spcAft>
                <a:spcPts val="0"/>
              </a:spcAft>
              <a:buClr>
                <a:srgbClr val="C00000"/>
              </a:buClr>
              <a:buSzPts val="2400"/>
              <a:buFont typeface="Calibri"/>
              <a:buNone/>
            </a:pPr>
            <a:r>
              <a:rPr b="0" i="0" lang="fr-FR" sz="2400" u="none" cap="none" strike="noStrike">
                <a:solidFill>
                  <a:srgbClr val="C00000"/>
                </a:solidFill>
                <a:latin typeface="Calibri"/>
                <a:ea typeface="Calibri"/>
                <a:cs typeface="Calibri"/>
                <a:sym typeface="Calibri"/>
              </a:rPr>
              <a:t>donnees = read.table("donnees.txt", header = T, na.strings = "NA")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Noto Sans Symbols"/>
              <a:buChar char="▪"/>
            </a:pPr>
            <a:r>
              <a:rPr b="0" i="0" lang="fr-FR" sz="2400" u="none" cap="none" strike="noStrike">
                <a:solidFill>
                  <a:schemeClr val="dk1"/>
                </a:solidFill>
                <a:latin typeface="Calibri"/>
                <a:ea typeface="Calibri"/>
                <a:cs typeface="Calibri"/>
                <a:sym typeface="Calibri"/>
              </a:rPr>
              <a:t>On peut également créer un nouveau jeu de données sans valeur manquante en faisant :</a:t>
            </a:r>
            <a:endParaRPr b="0" i="0" sz="1400" u="none" cap="none" strike="noStrike">
              <a:solidFill>
                <a:srgbClr val="000000"/>
              </a:solidFill>
              <a:latin typeface="Arial"/>
              <a:ea typeface="Arial"/>
              <a:cs typeface="Arial"/>
              <a:sym typeface="Arial"/>
            </a:endParaRPr>
          </a:p>
          <a:p>
            <a:pPr indent="0" lvl="0" marL="109728" marR="0" rtl="0" algn="just">
              <a:lnSpc>
                <a:spcPct val="100000"/>
              </a:lnSpc>
              <a:spcBef>
                <a:spcPts val="0"/>
              </a:spcBef>
              <a:spcAft>
                <a:spcPts val="0"/>
              </a:spcAft>
              <a:buClr>
                <a:srgbClr val="C00000"/>
              </a:buClr>
              <a:buSzPts val="2400"/>
              <a:buFont typeface="Calibri"/>
              <a:buNone/>
            </a:pPr>
            <a:r>
              <a:rPr b="0" i="0" lang="fr-FR" sz="2400" u="none" cap="none" strike="noStrike">
                <a:solidFill>
                  <a:srgbClr val="C00000"/>
                </a:solidFill>
                <a:latin typeface="Calibri"/>
                <a:ea typeface="Calibri"/>
                <a:cs typeface="Calibri"/>
                <a:sym typeface="Calibri"/>
              </a:rPr>
              <a:t>donnees2 = na.omit(donnees) </a:t>
            </a:r>
            <a:endParaRPr b="0" i="0" sz="2400" u="none" cap="none" strike="noStrike">
              <a:solidFill>
                <a:srgbClr val="C00000"/>
              </a:solidFill>
              <a:latin typeface="Calibri"/>
              <a:ea typeface="Calibri"/>
              <a:cs typeface="Calibri"/>
              <a:sym typeface="Calibri"/>
            </a:endParaRPr>
          </a:p>
        </p:txBody>
      </p:sp>
      <p:sp>
        <p:nvSpPr>
          <p:cNvPr id="436" name="Google Shape;436;p56"/>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442" name="Google Shape;442;p57"/>
          <p:cNvPicPr preferRelativeResize="0"/>
          <p:nvPr/>
        </p:nvPicPr>
        <p:blipFill rotWithShape="1">
          <a:blip r:embed="rId3">
            <a:alphaModFix/>
          </a:blip>
          <a:srcRect b="0" l="0" r="0" t="0"/>
          <a:stretch/>
        </p:blipFill>
        <p:spPr>
          <a:xfrm>
            <a:off x="8610600" y="6006211"/>
            <a:ext cx="1870710" cy="600710"/>
          </a:xfrm>
          <a:prstGeom prst="rect">
            <a:avLst/>
          </a:prstGeom>
          <a:noFill/>
          <a:ln>
            <a:noFill/>
          </a:ln>
        </p:spPr>
      </p:pic>
      <p:sp>
        <p:nvSpPr>
          <p:cNvPr id="443" name="Google Shape;443;p57"/>
          <p:cNvSpPr/>
          <p:nvPr/>
        </p:nvSpPr>
        <p:spPr>
          <a:xfrm>
            <a:off x="523875" y="1409700"/>
            <a:ext cx="11030110" cy="4596511"/>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fr-FR" sz="2800" u="none" cap="none" strike="noStrike">
                <a:solidFill>
                  <a:schemeClr val="dk1"/>
                </a:solidFill>
                <a:latin typeface="Calibri"/>
                <a:ea typeface="Calibri"/>
                <a:cs typeface="Calibri"/>
                <a:sym typeface="Calibri"/>
              </a:rPr>
              <a:t>Gestion des valeurs manquantes: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Compter le nombre de valeurs manquantes dans chacune des colonnes</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rgbClr val="C00000"/>
              </a:buClr>
              <a:buSzPts val="2800"/>
              <a:buFont typeface="Calibri"/>
              <a:buNone/>
            </a:pPr>
            <a:r>
              <a:rPr b="0" i="0" lang="fr-FR" sz="2800" u="none" cap="none" strike="noStrike">
                <a:solidFill>
                  <a:srgbClr val="C00000"/>
                </a:solidFill>
                <a:latin typeface="Calibri"/>
                <a:ea typeface="Calibri"/>
                <a:cs typeface="Calibri"/>
                <a:sym typeface="Calibri"/>
              </a:rPr>
              <a:t>sapply(données, sum(is.na(x)))</a:t>
            </a:r>
            <a:endParaRPr b="0" i="0" sz="2800" u="none" cap="none" strike="noStrike">
              <a:solidFill>
                <a:srgbClr val="C00000"/>
              </a:solidFill>
              <a:latin typeface="Calibri"/>
              <a:ea typeface="Calibri"/>
              <a:cs typeface="Calibri"/>
              <a:sym typeface="Calibri"/>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Compter le nombre de NA dans une colonne en particulier</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rgbClr val="C00000"/>
              </a:buClr>
              <a:buSzPts val="2800"/>
              <a:buFont typeface="Calibri"/>
              <a:buNone/>
            </a:pPr>
            <a:r>
              <a:rPr b="0" i="0" lang="fr-FR" sz="2800" u="none" cap="none" strike="noStrike">
                <a:solidFill>
                  <a:srgbClr val="C00000"/>
                </a:solidFill>
                <a:latin typeface="Calibri"/>
                <a:ea typeface="Calibri"/>
                <a:cs typeface="Calibri"/>
                <a:sym typeface="Calibri"/>
              </a:rPr>
              <a:t>sum(is.na(données$colonne))</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Noto Sans Symbols"/>
              <a:buChar char="⮚"/>
            </a:pPr>
            <a:r>
              <a:rPr b="0" i="0" lang="fr-FR" sz="2800" u="none" cap="none" strike="noStrike">
                <a:solidFill>
                  <a:schemeClr val="dk1"/>
                </a:solidFill>
                <a:latin typeface="Calibri"/>
                <a:ea typeface="Calibri"/>
                <a:cs typeface="Calibri"/>
                <a:sym typeface="Calibri"/>
              </a:rPr>
              <a:t>Afficher les lignes dont la valeur dans la colonne "colonne" est NA</a:t>
            </a:r>
            <a:endParaRPr b="0" i="0" sz="1400" u="none" cap="none" strike="noStrike">
              <a:solidFill>
                <a:srgbClr val="000000"/>
              </a:solidFill>
              <a:latin typeface="Arial"/>
              <a:ea typeface="Arial"/>
              <a:cs typeface="Arial"/>
              <a:sym typeface="Arial"/>
            </a:endParaRPr>
          </a:p>
          <a:p>
            <a:pPr indent="0" lvl="0" marL="109728" marR="0" rtl="0" algn="l">
              <a:lnSpc>
                <a:spcPct val="100000"/>
              </a:lnSpc>
              <a:spcBef>
                <a:spcPts val="0"/>
              </a:spcBef>
              <a:spcAft>
                <a:spcPts val="0"/>
              </a:spcAft>
              <a:buClr>
                <a:schemeClr val="dk1"/>
              </a:buClr>
              <a:buSzPts val="2800"/>
              <a:buFont typeface="Calibri"/>
              <a:buNone/>
            </a:pPr>
            <a:r>
              <a:rPr b="0" i="0" lang="fr-FR" sz="2800" u="none" cap="none" strike="noStrike">
                <a:solidFill>
                  <a:schemeClr val="dk1"/>
                </a:solidFill>
                <a:latin typeface="Calibri"/>
                <a:ea typeface="Calibri"/>
                <a:cs typeface="Calibri"/>
                <a:sym typeface="Calibri"/>
              </a:rPr>
              <a:t>d</a:t>
            </a:r>
            <a:r>
              <a:rPr b="0" i="0" lang="fr-FR" sz="2800" u="none" cap="none" strike="noStrike">
                <a:solidFill>
                  <a:srgbClr val="C00000"/>
                </a:solidFill>
                <a:latin typeface="Calibri"/>
                <a:ea typeface="Calibri"/>
                <a:cs typeface="Calibri"/>
                <a:sym typeface="Calibri"/>
              </a:rPr>
              <a:t>ataset[is.na(données$colonne),]</a:t>
            </a:r>
            <a:endParaRPr b="0" i="0" sz="1400" u="none" cap="none" strike="noStrike">
              <a:solidFill>
                <a:srgbClr val="000000"/>
              </a:solidFill>
              <a:latin typeface="Arial"/>
              <a:ea typeface="Arial"/>
              <a:cs typeface="Arial"/>
              <a:sym typeface="Arial"/>
            </a:endParaRPr>
          </a:p>
        </p:txBody>
      </p:sp>
      <p:sp>
        <p:nvSpPr>
          <p:cNvPr id="444" name="Google Shape;444;p57"/>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2. Données Manquantes</a:t>
            </a:r>
            <a:endParaRPr b="1" i="0" sz="4000" u="none" cap="none" strike="noStrike">
              <a:solidFill>
                <a:srgbClr val="75707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8"/>
          <p:cNvSpPr txBox="1"/>
          <p:nvPr>
            <p:ph idx="1" type="body"/>
          </p:nvPr>
        </p:nvSpPr>
        <p:spPr>
          <a:xfrm>
            <a:off x="772732" y="1481328"/>
            <a:ext cx="10586434" cy="5116024"/>
          </a:xfrm>
          <a:prstGeom prst="rect">
            <a:avLst/>
          </a:prstGeom>
          <a:noFill/>
          <a:ln>
            <a:noFill/>
          </a:ln>
        </p:spPr>
        <p:txBody>
          <a:bodyPr anchorCtr="0" anchor="t" bIns="45700" lIns="91425" spcFirstLastPara="1" rIns="91425" wrap="square" tIns="45700">
            <a:normAutofit fontScale="47500" lnSpcReduction="20000"/>
          </a:bodyPr>
          <a:lstStyle/>
          <a:p>
            <a:pPr indent="-132080" lvl="0" marL="228600" rtl="0" algn="l">
              <a:lnSpc>
                <a:spcPct val="90000"/>
              </a:lnSpc>
              <a:spcBef>
                <a:spcPts val="0"/>
              </a:spcBef>
              <a:spcAft>
                <a:spcPts val="0"/>
              </a:spcAft>
              <a:buClr>
                <a:schemeClr val="dk1"/>
              </a:buClr>
              <a:buSzPct val="100000"/>
              <a:buNone/>
            </a:pPr>
            <a:r>
              <a:t/>
            </a:r>
            <a:endParaRPr sz="3200">
              <a:latin typeface="Times New Roman"/>
              <a:ea typeface="Times New Roman"/>
              <a:cs typeface="Times New Roman"/>
              <a:sym typeface="Times New Roman"/>
            </a:endParaRPr>
          </a:p>
          <a:p>
            <a:pPr indent="0" lvl="0" marL="109728" rtl="0" algn="l">
              <a:lnSpc>
                <a:spcPct val="90000"/>
              </a:lnSpc>
              <a:spcBef>
                <a:spcPts val="1000"/>
              </a:spcBef>
              <a:spcAft>
                <a:spcPts val="0"/>
              </a:spcAft>
              <a:buClr>
                <a:schemeClr val="dk1"/>
              </a:buClr>
              <a:buSzPct val="100000"/>
              <a:buNone/>
            </a:pPr>
            <a:r>
              <a:rPr lang="fr-FR" sz="5100"/>
              <a:t>De nombreux jeux de données sur lesquels vous serez amenés à travailler peuvent comporter des variables avec des caractères spéciaux.</a:t>
            </a:r>
            <a:endParaRPr/>
          </a:p>
          <a:p>
            <a:pPr indent="0" lvl="0" marL="109728" rtl="0" algn="l">
              <a:lnSpc>
                <a:spcPct val="90000"/>
              </a:lnSpc>
              <a:spcBef>
                <a:spcPts val="1000"/>
              </a:spcBef>
              <a:spcAft>
                <a:spcPts val="0"/>
              </a:spcAft>
              <a:buClr>
                <a:schemeClr val="dk1"/>
              </a:buClr>
              <a:buSzPct val="100000"/>
              <a:buNone/>
            </a:pPr>
            <a:r>
              <a:t/>
            </a:r>
            <a:endParaRPr sz="5100"/>
          </a:p>
          <a:p>
            <a:pPr indent="0" lvl="0" marL="109728" rtl="0" algn="l">
              <a:lnSpc>
                <a:spcPct val="90000"/>
              </a:lnSpc>
              <a:spcBef>
                <a:spcPts val="1000"/>
              </a:spcBef>
              <a:spcAft>
                <a:spcPts val="0"/>
              </a:spcAft>
              <a:buClr>
                <a:schemeClr val="dk1"/>
              </a:buClr>
              <a:buSzPct val="100000"/>
              <a:buNone/>
            </a:pPr>
            <a:r>
              <a:rPr lang="fr-FR" sz="5100"/>
              <a:t>Pour enlever tous les caractères spéciaux pour faciliter les calculs sur ces données. Nous utilisons la fonction gsub() qui permet de remplacer des caractères par d'autres.</a:t>
            </a:r>
            <a:endParaRPr/>
          </a:p>
          <a:p>
            <a:pPr indent="0" lvl="0" marL="109728" rtl="0" algn="l">
              <a:lnSpc>
                <a:spcPct val="90000"/>
              </a:lnSpc>
              <a:spcBef>
                <a:spcPts val="1000"/>
              </a:spcBef>
              <a:spcAft>
                <a:spcPts val="0"/>
              </a:spcAft>
              <a:buClr>
                <a:schemeClr val="dk1"/>
              </a:buClr>
              <a:buSzPct val="100000"/>
              <a:buNone/>
            </a:pPr>
            <a:r>
              <a:t/>
            </a:r>
            <a:endParaRPr sz="5100"/>
          </a:p>
          <a:p>
            <a:pPr indent="0" lvl="0" marL="109728" rtl="0" algn="l">
              <a:lnSpc>
                <a:spcPct val="90000"/>
              </a:lnSpc>
              <a:spcBef>
                <a:spcPts val="1000"/>
              </a:spcBef>
              <a:spcAft>
                <a:spcPts val="0"/>
              </a:spcAft>
              <a:buClr>
                <a:srgbClr val="C00000"/>
              </a:buClr>
              <a:buSzPct val="100000"/>
              <a:buNone/>
            </a:pPr>
            <a:r>
              <a:rPr b="1" lang="fr-FR" sz="5100">
                <a:solidFill>
                  <a:srgbClr val="C00000"/>
                </a:solidFill>
              </a:rPr>
              <a:t>Exemple : Passer de $8,684 à 8684</a:t>
            </a:r>
            <a:endParaRPr/>
          </a:p>
          <a:p>
            <a:pPr indent="0" lvl="0" marL="109728" rtl="0" algn="l">
              <a:lnSpc>
                <a:spcPct val="90000"/>
              </a:lnSpc>
              <a:spcBef>
                <a:spcPts val="1000"/>
              </a:spcBef>
              <a:spcAft>
                <a:spcPts val="0"/>
              </a:spcAft>
              <a:buClr>
                <a:schemeClr val="dk1"/>
              </a:buClr>
              <a:buSzPct val="100000"/>
              <a:buNone/>
            </a:pPr>
            <a:r>
              <a:t/>
            </a:r>
            <a:endParaRPr sz="5100"/>
          </a:p>
          <a:p>
            <a:pPr indent="0" lvl="0" marL="109728" rtl="0" algn="l">
              <a:lnSpc>
                <a:spcPct val="90000"/>
              </a:lnSpc>
              <a:spcBef>
                <a:spcPts val="1000"/>
              </a:spcBef>
              <a:spcAft>
                <a:spcPts val="0"/>
              </a:spcAft>
              <a:buClr>
                <a:srgbClr val="0070C0"/>
              </a:buClr>
              <a:buSzPct val="100000"/>
              <a:buNone/>
            </a:pPr>
            <a:r>
              <a:rPr lang="fr-FR" sz="5100">
                <a:solidFill>
                  <a:srgbClr val="0070C0"/>
                </a:solidFill>
              </a:rPr>
              <a:t>gsub(",","",données$colonne)</a:t>
            </a:r>
            <a:endParaRPr/>
          </a:p>
          <a:p>
            <a:pPr indent="0" lvl="0" marL="109728" rtl="0" algn="l">
              <a:lnSpc>
                <a:spcPct val="90000"/>
              </a:lnSpc>
              <a:spcBef>
                <a:spcPts val="1000"/>
              </a:spcBef>
              <a:spcAft>
                <a:spcPts val="0"/>
              </a:spcAft>
              <a:buClr>
                <a:srgbClr val="0070C0"/>
              </a:buClr>
              <a:buSzPct val="100000"/>
              <a:buNone/>
            </a:pPr>
            <a:r>
              <a:rPr lang="fr-FR" sz="5100">
                <a:solidFill>
                  <a:srgbClr val="0070C0"/>
                </a:solidFill>
              </a:rPr>
              <a:t>gsub("\\$","",données$colonne)</a:t>
            </a:r>
            <a:endParaRPr/>
          </a:p>
          <a:p>
            <a:pPr indent="0" lvl="0" marL="109728" rtl="0" algn="l">
              <a:lnSpc>
                <a:spcPct val="90000"/>
              </a:lnSpc>
              <a:spcBef>
                <a:spcPts val="1000"/>
              </a:spcBef>
              <a:spcAft>
                <a:spcPts val="0"/>
              </a:spcAft>
              <a:buClr>
                <a:srgbClr val="0070C0"/>
              </a:buClr>
              <a:buSzPct val="100000"/>
              <a:buNone/>
            </a:pPr>
            <a:br>
              <a:rPr lang="fr-FR" sz="2400">
                <a:solidFill>
                  <a:srgbClr val="0070C0"/>
                </a:solidFill>
              </a:rPr>
            </a:br>
            <a:endParaRPr sz="2600">
              <a:solidFill>
                <a:srgbClr val="0070C0"/>
              </a:solidFill>
              <a:latin typeface="Times New Roman"/>
              <a:ea typeface="Times New Roman"/>
              <a:cs typeface="Times New Roman"/>
              <a:sym typeface="Times New Roman"/>
            </a:endParaRPr>
          </a:p>
        </p:txBody>
      </p:sp>
      <p:sp>
        <p:nvSpPr>
          <p:cNvPr id="451" name="Google Shape;451;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t>‹#›</a:t>
            </a:fld>
            <a:endParaRPr/>
          </a:p>
        </p:txBody>
      </p:sp>
      <p:pic>
        <p:nvPicPr>
          <p:cNvPr descr="logo-esprit" id="452" name="Google Shape;452;p58"/>
          <p:cNvPicPr preferRelativeResize="0"/>
          <p:nvPr/>
        </p:nvPicPr>
        <p:blipFill rotWithShape="1">
          <a:blip r:embed="rId3">
            <a:alphaModFix/>
          </a:blip>
          <a:srcRect b="0" l="0" r="0" t="0"/>
          <a:stretch/>
        </p:blipFill>
        <p:spPr>
          <a:xfrm>
            <a:off x="8666322" y="5770626"/>
            <a:ext cx="1870710" cy="600710"/>
          </a:xfrm>
          <a:prstGeom prst="rect">
            <a:avLst/>
          </a:prstGeom>
          <a:noFill/>
          <a:ln>
            <a:noFill/>
          </a:ln>
        </p:spPr>
      </p:pic>
      <p:sp>
        <p:nvSpPr>
          <p:cNvPr id="453" name="Google Shape;453;p58"/>
          <p:cNvSpPr/>
          <p:nvPr/>
        </p:nvSpPr>
        <p:spPr>
          <a:xfrm>
            <a:off x="457200" y="482823"/>
            <a:ext cx="11487150" cy="7905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0" i="0" lang="fr-FR" sz="4000" u="none" cap="none" strike="noStrike">
                <a:solidFill>
                  <a:srgbClr val="C00000"/>
                </a:solidFill>
                <a:latin typeface="Calibri"/>
                <a:ea typeface="Calibri"/>
                <a:cs typeface="Calibri"/>
                <a:sym typeface="Calibri"/>
              </a:rPr>
              <a:t>       </a:t>
            </a:r>
            <a:r>
              <a:rPr b="1" i="0" lang="fr-FR" sz="4000" u="none" cap="none" strike="noStrike">
                <a:solidFill>
                  <a:srgbClr val="757070"/>
                </a:solidFill>
                <a:latin typeface="Calibri"/>
                <a:ea typeface="Calibri"/>
                <a:cs typeface="Calibri"/>
                <a:sym typeface="Calibri"/>
              </a:rPr>
              <a:t>3. Données Spéciales</a:t>
            </a:r>
            <a:endParaRPr b="1" i="0" sz="4000" u="none" cap="none" strike="noStrike">
              <a:solidFill>
                <a:srgbClr val="757070"/>
              </a:solidFill>
              <a:latin typeface="Calibri"/>
              <a:ea typeface="Calibri"/>
              <a:cs typeface="Calibri"/>
              <a:sym typeface="Calibri"/>
            </a:endParaRPr>
          </a:p>
        </p:txBody>
      </p:sp>
      <p:sp>
        <p:nvSpPr>
          <p:cNvPr id="454" name="Google Shape;454;p58"/>
          <p:cNvSpPr/>
          <p:nvPr/>
        </p:nvSpPr>
        <p:spPr>
          <a:xfrm>
            <a:off x="523875" y="1409700"/>
            <a:ext cx="11030110" cy="4596511"/>
          </a:xfrm>
          <a:prstGeom prst="roundRect">
            <a:avLst>
              <a:gd fmla="val 16667"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C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