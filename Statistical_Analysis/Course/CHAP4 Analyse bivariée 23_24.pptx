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37" roundtripDataSignature="AMtx7mgcnyj/Hplq9PxKg2aRVAExBuY6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F3FE45-22A1-4603-B69A-E95418FF2058}">
  <a:tblStyle styleId="{32F3FE45-22A1-4603-B69A-E95418FF205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4b83c9e7e1_0_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14b83c9e7e1_0_2:notes"/>
          <p:cNvSpPr/>
          <p:nvPr>
            <p:ph idx="2" type="sldImg"/>
          </p:nvPr>
        </p:nvSpPr>
        <p:spPr>
          <a:xfrm>
            <a:off x="1524300" y="514350"/>
            <a:ext cx="6096300" cy="2571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4b83c9e7e1_0_1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g14b83c9e7e1_0_13:notes"/>
          <p:cNvSpPr/>
          <p:nvPr>
            <p:ph idx="2" type="sldImg"/>
          </p:nvPr>
        </p:nvSpPr>
        <p:spPr>
          <a:xfrm>
            <a:off x="1524300" y="514350"/>
            <a:ext cx="6096300" cy="2571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4b83c9e7e1_0_4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14b83c9e7e1_0_46:notes"/>
          <p:cNvSpPr/>
          <p:nvPr>
            <p:ph idx="2" type="sldImg"/>
          </p:nvPr>
        </p:nvSpPr>
        <p:spPr>
          <a:xfrm>
            <a:off x="1524300" y="514350"/>
            <a:ext cx="6096300" cy="2571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4b83c9e7e1_0_5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g14b83c9e7e1_0_54:notes"/>
          <p:cNvSpPr/>
          <p:nvPr>
            <p:ph idx="2" type="sldImg"/>
          </p:nvPr>
        </p:nvSpPr>
        <p:spPr>
          <a:xfrm>
            <a:off x="1524300" y="514350"/>
            <a:ext cx="6096300" cy="2571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1" name="Shape 11"/>
        <p:cNvGrpSpPr/>
        <p:nvPr/>
      </p:nvGrpSpPr>
      <p:grpSpPr>
        <a:xfrm>
          <a:off x="0" y="0"/>
          <a:ext cx="0" cy="0"/>
          <a:chOff x="0" y="0"/>
          <a:chExt cx="0" cy="0"/>
        </a:xfrm>
      </p:grpSpPr>
      <p:sp>
        <p:nvSpPr>
          <p:cNvPr id="12" name="Google Shape;12;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17" name="Shape 17"/>
        <p:cNvGrpSpPr/>
        <p:nvPr/>
      </p:nvGrpSpPr>
      <p:grpSpPr>
        <a:xfrm>
          <a:off x="0" y="0"/>
          <a:ext cx="0" cy="0"/>
          <a:chOff x="0" y="0"/>
          <a:chExt cx="0" cy="0"/>
        </a:xfrm>
      </p:grpSpPr>
      <p:sp>
        <p:nvSpPr>
          <p:cNvPr id="18" name="Google Shape;18;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23" name="Shape 23"/>
        <p:cNvGrpSpPr/>
        <p:nvPr/>
      </p:nvGrpSpPr>
      <p:grpSpPr>
        <a:xfrm>
          <a:off x="0" y="0"/>
          <a:ext cx="0" cy="0"/>
          <a:chOff x="0" y="0"/>
          <a:chExt cx="0" cy="0"/>
        </a:xfrm>
      </p:grpSpPr>
      <p:sp>
        <p:nvSpPr>
          <p:cNvPr id="24" name="Google Shape;24;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29" name="Shape 29"/>
        <p:cNvGrpSpPr/>
        <p:nvPr/>
      </p:nvGrpSpPr>
      <p:grpSpPr>
        <a:xfrm>
          <a:off x="0" y="0"/>
          <a:ext cx="0" cy="0"/>
          <a:chOff x="0" y="0"/>
          <a:chExt cx="0" cy="0"/>
        </a:xfrm>
      </p:grpSpPr>
      <p:sp>
        <p:nvSpPr>
          <p:cNvPr id="30" name="Google Shape;3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36" name="Shape 36"/>
        <p:cNvGrpSpPr/>
        <p:nvPr/>
      </p:nvGrpSpPr>
      <p:grpSpPr>
        <a:xfrm>
          <a:off x="0" y="0"/>
          <a:ext cx="0" cy="0"/>
          <a:chOff x="0" y="0"/>
          <a:chExt cx="0" cy="0"/>
        </a:xfrm>
      </p:grpSpPr>
      <p:sp>
        <p:nvSpPr>
          <p:cNvPr id="37" name="Google Shape;37;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45" name="Shape 45"/>
        <p:cNvGrpSpPr/>
        <p:nvPr/>
      </p:nvGrpSpPr>
      <p:grpSpPr>
        <a:xfrm>
          <a:off x="0" y="0"/>
          <a:ext cx="0" cy="0"/>
          <a:chOff x="0" y="0"/>
          <a:chExt cx="0" cy="0"/>
        </a:xfrm>
      </p:grpSpPr>
      <p:sp>
        <p:nvSpPr>
          <p:cNvPr id="46" name="Google Shape;4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0" name="Shape 50"/>
        <p:cNvGrpSpPr/>
        <p:nvPr/>
      </p:nvGrpSpPr>
      <p:grpSpPr>
        <a:xfrm>
          <a:off x="0" y="0"/>
          <a:ext cx="0" cy="0"/>
          <a:chOff x="0" y="0"/>
          <a:chExt cx="0" cy="0"/>
        </a:xfrm>
      </p:grpSpPr>
      <p:sp>
        <p:nvSpPr>
          <p:cNvPr id="51" name="Google Shape;5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6"/>
          <p:cNvSpPr/>
          <p:nvPr>
            <p:ph idx="2" type="pic"/>
          </p:nvPr>
        </p:nvSpPr>
        <p:spPr>
          <a:xfrm>
            <a:off x="5183188" y="987425"/>
            <a:ext cx="6172200" cy="4873625"/>
          </a:xfrm>
          <a:prstGeom prst="rect">
            <a:avLst/>
          </a:prstGeom>
          <a:noFill/>
          <a:ln>
            <a:noFill/>
          </a:ln>
        </p:spPr>
      </p:sp>
      <p:sp>
        <p:nvSpPr>
          <p:cNvPr id="64" name="Google Shape;64;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louernos-nature.fr/logiciel-r-ecologie-naturalist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image" Target="../media/image27.png"/><Relationship Id="rId6" Type="http://schemas.openxmlformats.org/officeDocument/2006/relationships/image" Target="../media/image16.png"/><Relationship Id="rId7" Type="http://schemas.openxmlformats.org/officeDocument/2006/relationships/image" Target="../media/image14.png"/><Relationship Id="rId8"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300162" y="2178183"/>
            <a:ext cx="9144000" cy="1551263"/>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7200"/>
              <a:buFont typeface="Times New Roman"/>
              <a:buNone/>
            </a:pPr>
            <a:r>
              <a:rPr lang="fr-FR" sz="7200">
                <a:latin typeface="Times New Roman"/>
                <a:ea typeface="Times New Roman"/>
                <a:cs typeface="Times New Roman"/>
                <a:sym typeface="Times New Roman"/>
              </a:rPr>
              <a:t>Analyse statistique Bivariée</a:t>
            </a:r>
            <a:endParaRPr sz="7200">
              <a:latin typeface="Times New Roman"/>
              <a:ea typeface="Times New Roman"/>
              <a:cs typeface="Times New Roman"/>
              <a:sym typeface="Times New Roman"/>
            </a:endParaRPr>
          </a:p>
        </p:txBody>
      </p:sp>
      <p:sp>
        <p:nvSpPr>
          <p:cNvPr id="85" name="Google Shape;85;p1"/>
          <p:cNvSpPr txBox="1"/>
          <p:nvPr/>
        </p:nvSpPr>
        <p:spPr>
          <a:xfrm>
            <a:off x="3905250" y="3857408"/>
            <a:ext cx="39338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Times New Roman"/>
                <a:ea typeface="Times New Roman"/>
                <a:cs typeface="Times New Roman"/>
                <a:sym typeface="Times New Roman"/>
              </a:rPr>
              <a:t>4 ERP-BI</a:t>
            </a:r>
            <a:endParaRPr b="0" i="0" sz="1400" u="none" cap="none" strike="noStrike">
              <a:solidFill>
                <a:srgbClr val="000000"/>
              </a:solidFill>
              <a:latin typeface="Arial"/>
              <a:ea typeface="Arial"/>
              <a:cs typeface="Arial"/>
              <a:sym typeface="Arial"/>
            </a:endParaRPr>
          </a:p>
        </p:txBody>
      </p:sp>
      <p:pic>
        <p:nvPicPr>
          <p:cNvPr id="86" name="Google Shape;86;p1"/>
          <p:cNvPicPr preferRelativeResize="0"/>
          <p:nvPr/>
        </p:nvPicPr>
        <p:blipFill rotWithShape="1">
          <a:blip r:embed="rId3">
            <a:alphaModFix/>
          </a:blip>
          <a:srcRect b="0" l="0" r="0" t="0"/>
          <a:stretch/>
        </p:blipFill>
        <p:spPr>
          <a:xfrm>
            <a:off x="4797200" y="518047"/>
            <a:ext cx="2335700" cy="862925"/>
          </a:xfrm>
          <a:prstGeom prst="rect">
            <a:avLst/>
          </a:prstGeom>
          <a:noFill/>
          <a:ln>
            <a:noFill/>
          </a:ln>
        </p:spPr>
      </p:pic>
      <p:sp>
        <p:nvSpPr>
          <p:cNvPr id="87" name="Google Shape;87;p1"/>
          <p:cNvSpPr txBox="1"/>
          <p:nvPr/>
        </p:nvSpPr>
        <p:spPr>
          <a:xfrm>
            <a:off x="6816080" y="6488668"/>
            <a:ext cx="3852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00000"/>
                </a:solidFill>
                <a:latin typeface="Times New Roman"/>
                <a:ea typeface="Times New Roman"/>
                <a:cs typeface="Times New Roman"/>
                <a:sym typeface="Times New Roman"/>
              </a:rPr>
              <a:t>Année universitaire 202</a:t>
            </a:r>
            <a:r>
              <a:rPr lang="fr-FR" sz="2000">
                <a:latin typeface="Times New Roman"/>
                <a:ea typeface="Times New Roman"/>
                <a:cs typeface="Times New Roman"/>
                <a:sym typeface="Times New Roman"/>
              </a:rPr>
              <a:t>3</a:t>
            </a:r>
            <a:r>
              <a:rPr b="0" i="0" lang="fr-FR" sz="2000" u="none" cap="none" strike="noStrike">
                <a:solidFill>
                  <a:srgbClr val="000000"/>
                </a:solidFill>
                <a:latin typeface="Times New Roman"/>
                <a:ea typeface="Times New Roman"/>
                <a:cs typeface="Times New Roman"/>
                <a:sym typeface="Times New Roman"/>
              </a:rPr>
              <a:t>/202</a:t>
            </a:r>
            <a:r>
              <a:rPr lang="fr-FR" sz="2000">
                <a:latin typeface="Times New Roman"/>
                <a:ea typeface="Times New Roman"/>
                <a:cs typeface="Times New Roman"/>
                <a:sym typeface="Times New Roman"/>
              </a:rPr>
              <a:t>4</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1225460" y="744991"/>
            <a:ext cx="10515600" cy="61595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Pour commencer</a:t>
            </a:r>
            <a:endParaRPr/>
          </a:p>
        </p:txBody>
      </p:sp>
      <p:sp>
        <p:nvSpPr>
          <p:cNvPr id="93" name="Google Shape;93;p2"/>
          <p:cNvSpPr txBox="1"/>
          <p:nvPr>
            <p:ph idx="1" type="body"/>
          </p:nvPr>
        </p:nvSpPr>
        <p:spPr>
          <a:xfrm>
            <a:off x="268357" y="1419225"/>
            <a:ext cx="11827565" cy="4824413"/>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Clr>
                <a:schemeClr val="dk1"/>
              </a:buClr>
              <a:buSzPts val="4000"/>
              <a:buNone/>
            </a:pPr>
            <a:r>
              <a:t/>
            </a:r>
            <a:endParaRPr sz="4000"/>
          </a:p>
          <a:p>
            <a:pPr indent="-228600" lvl="0" marL="228600" rtl="0" algn="l">
              <a:lnSpc>
                <a:spcPct val="90000"/>
              </a:lnSpc>
              <a:spcBef>
                <a:spcPts val="1000"/>
              </a:spcBef>
              <a:spcAft>
                <a:spcPts val="0"/>
              </a:spcAft>
              <a:buClr>
                <a:schemeClr val="dk1"/>
              </a:buClr>
              <a:buSzPts val="4000"/>
              <a:buChar char="•"/>
            </a:pPr>
            <a:r>
              <a:rPr lang="fr-FR" sz="4000">
                <a:latin typeface="Times New Roman"/>
                <a:ea typeface="Times New Roman"/>
                <a:cs typeface="Times New Roman"/>
                <a:sym typeface="Times New Roman"/>
              </a:rPr>
              <a:t>La statistique bivariée est l’étude </a:t>
            </a:r>
            <a:r>
              <a:rPr b="1" lang="fr-FR" sz="4000">
                <a:solidFill>
                  <a:srgbClr val="FF0000"/>
                </a:solidFill>
                <a:latin typeface="Times New Roman"/>
                <a:ea typeface="Times New Roman"/>
                <a:cs typeface="Times New Roman"/>
                <a:sym typeface="Times New Roman"/>
              </a:rPr>
              <a:t>des relations </a:t>
            </a:r>
            <a:r>
              <a:rPr lang="fr-FR" sz="4000">
                <a:latin typeface="Times New Roman"/>
                <a:ea typeface="Times New Roman"/>
                <a:cs typeface="Times New Roman"/>
                <a:sym typeface="Times New Roman"/>
              </a:rPr>
              <a:t>entre deux variables, quantitatives ou qualitatives. </a:t>
            </a:r>
            <a:endParaRPr/>
          </a:p>
          <a:p>
            <a:pPr indent="0" lvl="0" marL="0" rtl="0" algn="l">
              <a:lnSpc>
                <a:spcPct val="90000"/>
              </a:lnSpc>
              <a:spcBef>
                <a:spcPts val="1000"/>
              </a:spcBef>
              <a:spcAft>
                <a:spcPts val="0"/>
              </a:spcAft>
              <a:buClr>
                <a:schemeClr val="dk1"/>
              </a:buClr>
              <a:buSzPts val="4000"/>
              <a:buNone/>
            </a:pPr>
            <a:r>
              <a:t/>
            </a:r>
            <a:endParaRPr sz="4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4000"/>
              <a:buChar char="•"/>
            </a:pPr>
            <a:r>
              <a:rPr lang="fr-FR" sz="4000">
                <a:latin typeface="Times New Roman"/>
                <a:ea typeface="Times New Roman"/>
                <a:cs typeface="Times New Roman"/>
                <a:sym typeface="Times New Roman"/>
              </a:rPr>
              <a:t>La statistique bivariée fait partie de la statistique descriptive.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1203960" y="417378"/>
            <a:ext cx="10515600" cy="97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Times New Roman"/>
              <a:buNone/>
            </a:pPr>
            <a:r>
              <a:rPr b="1" lang="fr-FR">
                <a:solidFill>
                  <a:srgbClr val="FF0000"/>
                </a:solidFill>
                <a:latin typeface="Times New Roman"/>
                <a:ea typeface="Times New Roman"/>
                <a:cs typeface="Times New Roman"/>
                <a:sym typeface="Times New Roman"/>
              </a:rPr>
              <a:t>1. Deux variables quantitatives</a:t>
            </a:r>
            <a:endParaRPr/>
          </a:p>
        </p:txBody>
      </p:sp>
      <p:sp>
        <p:nvSpPr>
          <p:cNvPr id="99" name="Google Shape;99;p3"/>
          <p:cNvSpPr txBox="1"/>
          <p:nvPr>
            <p:ph idx="1" type="body"/>
          </p:nvPr>
        </p:nvSpPr>
        <p:spPr>
          <a:xfrm>
            <a:off x="838200" y="1571625"/>
            <a:ext cx="10515600" cy="4605338"/>
          </a:xfrm>
          <a:prstGeom prst="rect">
            <a:avLst/>
          </a:prstGeom>
          <a:noFill/>
          <a:ln>
            <a:noFill/>
          </a:ln>
        </p:spPr>
        <p:txBody>
          <a:bodyPr anchorCtr="0" anchor="t" bIns="45700" lIns="91425" spcFirstLastPara="1" rIns="91425" wrap="square" tIns="45700">
            <a:normAutofit/>
          </a:bodyPr>
          <a:lstStyle/>
          <a:p>
            <a:pPr indent="-228600" lvl="0" marL="228600" rtl="0" algn="l">
              <a:lnSpc>
                <a:spcPct val="70000"/>
              </a:lnSpc>
              <a:spcBef>
                <a:spcPts val="0"/>
              </a:spcBef>
              <a:spcAft>
                <a:spcPts val="0"/>
              </a:spcAft>
              <a:buClr>
                <a:schemeClr val="dk1"/>
              </a:buClr>
              <a:buSzPts val="3330"/>
              <a:buChar char="•"/>
            </a:pPr>
            <a:r>
              <a:rPr lang="fr-FR" sz="3330">
                <a:latin typeface="Times New Roman"/>
                <a:ea typeface="Times New Roman"/>
                <a:cs typeface="Times New Roman"/>
                <a:sym typeface="Times New Roman"/>
              </a:rPr>
              <a:t>Soit deux caractères quantitatifs X et Y.</a:t>
            </a:r>
            <a:endParaRPr/>
          </a:p>
          <a:p>
            <a:pPr indent="0" lvl="0" marL="0" rtl="0" algn="l">
              <a:lnSpc>
                <a:spcPct val="70000"/>
              </a:lnSpc>
              <a:spcBef>
                <a:spcPts val="1000"/>
              </a:spcBef>
              <a:spcAft>
                <a:spcPts val="0"/>
              </a:spcAft>
              <a:buClr>
                <a:schemeClr val="dk1"/>
              </a:buClr>
              <a:buSzPts val="3330"/>
              <a:buNone/>
            </a:pPr>
            <a:r>
              <a:t/>
            </a:r>
            <a:endParaRPr sz="3330">
              <a:latin typeface="Times New Roman"/>
              <a:ea typeface="Times New Roman"/>
              <a:cs typeface="Times New Roman"/>
              <a:sym typeface="Times New Roman"/>
            </a:endParaRPr>
          </a:p>
          <a:p>
            <a:pPr indent="-228600" lvl="0" marL="228600" rtl="0" algn="l">
              <a:lnSpc>
                <a:spcPct val="70000"/>
              </a:lnSpc>
              <a:spcBef>
                <a:spcPts val="1000"/>
              </a:spcBef>
              <a:spcAft>
                <a:spcPts val="0"/>
              </a:spcAft>
              <a:buClr>
                <a:schemeClr val="dk1"/>
              </a:buClr>
              <a:buSzPts val="3330"/>
              <a:buChar char="•"/>
            </a:pPr>
            <a:r>
              <a:rPr lang="fr-FR" sz="3330">
                <a:latin typeface="Times New Roman"/>
                <a:ea typeface="Times New Roman"/>
                <a:cs typeface="Times New Roman"/>
                <a:sym typeface="Times New Roman"/>
              </a:rPr>
              <a:t> On dit qu'il existe une </a:t>
            </a:r>
            <a:r>
              <a:rPr b="1" lang="fr-FR" sz="3330">
                <a:solidFill>
                  <a:srgbClr val="FF0000"/>
                </a:solidFill>
                <a:latin typeface="Times New Roman"/>
                <a:ea typeface="Times New Roman"/>
                <a:cs typeface="Times New Roman"/>
                <a:sym typeface="Times New Roman"/>
              </a:rPr>
              <a:t>relation</a:t>
            </a:r>
            <a:r>
              <a:rPr lang="fr-FR" sz="3330">
                <a:latin typeface="Times New Roman"/>
                <a:ea typeface="Times New Roman"/>
                <a:cs typeface="Times New Roman"/>
                <a:sym typeface="Times New Roman"/>
              </a:rPr>
              <a:t> entre X et Y si l'attribution des modalités de X et de Y ne se fait pas au hasard, c'est à dire si les valeurs de X </a:t>
            </a:r>
            <a:r>
              <a:rPr b="1" lang="fr-FR" sz="3330">
                <a:solidFill>
                  <a:srgbClr val="FF0000"/>
                </a:solidFill>
                <a:latin typeface="Times New Roman"/>
                <a:ea typeface="Times New Roman"/>
                <a:cs typeface="Times New Roman"/>
                <a:sym typeface="Times New Roman"/>
              </a:rPr>
              <a:t>dépendent</a:t>
            </a:r>
            <a:r>
              <a:rPr lang="fr-FR" sz="3330">
                <a:latin typeface="Times New Roman"/>
                <a:ea typeface="Times New Roman"/>
                <a:cs typeface="Times New Roman"/>
                <a:sym typeface="Times New Roman"/>
              </a:rPr>
              <a:t> des valeurs de Y ou si les valeurs de Y </a:t>
            </a:r>
            <a:r>
              <a:rPr b="1" lang="fr-FR" sz="3330">
                <a:solidFill>
                  <a:srgbClr val="FF0000"/>
                </a:solidFill>
                <a:latin typeface="Times New Roman"/>
                <a:ea typeface="Times New Roman"/>
                <a:cs typeface="Times New Roman"/>
                <a:sym typeface="Times New Roman"/>
              </a:rPr>
              <a:t>dépendent</a:t>
            </a:r>
            <a:r>
              <a:rPr b="1" lang="fr-FR" sz="3330">
                <a:latin typeface="Times New Roman"/>
                <a:ea typeface="Times New Roman"/>
                <a:cs typeface="Times New Roman"/>
                <a:sym typeface="Times New Roman"/>
              </a:rPr>
              <a:t> </a:t>
            </a:r>
            <a:r>
              <a:rPr lang="fr-FR" sz="3330">
                <a:latin typeface="Times New Roman"/>
                <a:ea typeface="Times New Roman"/>
                <a:cs typeface="Times New Roman"/>
                <a:sym typeface="Times New Roman"/>
              </a:rPr>
              <a:t>des valeurs de X.</a:t>
            </a:r>
            <a:endParaRPr/>
          </a:p>
          <a:p>
            <a:pPr indent="0" lvl="0" marL="0" rtl="0" algn="l">
              <a:lnSpc>
                <a:spcPct val="70000"/>
              </a:lnSpc>
              <a:spcBef>
                <a:spcPts val="1000"/>
              </a:spcBef>
              <a:spcAft>
                <a:spcPts val="0"/>
              </a:spcAft>
              <a:buClr>
                <a:schemeClr val="dk1"/>
              </a:buClr>
              <a:buSzPts val="3330"/>
              <a:buNone/>
            </a:pPr>
            <a:r>
              <a:t/>
            </a:r>
            <a:endParaRPr sz="3330">
              <a:latin typeface="Times New Roman"/>
              <a:ea typeface="Times New Roman"/>
              <a:cs typeface="Times New Roman"/>
              <a:sym typeface="Times New Roman"/>
            </a:endParaRPr>
          </a:p>
          <a:p>
            <a:pPr indent="-228600" lvl="0" marL="228600" rtl="0" algn="l">
              <a:lnSpc>
                <a:spcPct val="70000"/>
              </a:lnSpc>
              <a:spcBef>
                <a:spcPts val="1000"/>
              </a:spcBef>
              <a:spcAft>
                <a:spcPts val="0"/>
              </a:spcAft>
              <a:buClr>
                <a:schemeClr val="dk1"/>
              </a:buClr>
              <a:buSzPts val="3330"/>
              <a:buChar char="•"/>
            </a:pPr>
            <a:r>
              <a:rPr lang="fr-FR" sz="3330">
                <a:latin typeface="Times New Roman"/>
                <a:ea typeface="Times New Roman"/>
                <a:cs typeface="Times New Roman"/>
                <a:sym typeface="Times New Roman"/>
              </a:rPr>
              <a:t>En d'autres termes, si Y dépend de X, on peut trouver une fonction f telle que : </a:t>
            </a:r>
            <a:r>
              <a:rPr b="1" lang="fr-FR" sz="3330">
                <a:solidFill>
                  <a:srgbClr val="FF0000"/>
                </a:solidFill>
                <a:latin typeface="Times New Roman"/>
                <a:ea typeface="Times New Roman"/>
                <a:cs typeface="Times New Roman"/>
                <a:sym typeface="Times New Roman"/>
              </a:rPr>
              <a:t>Y=f(X)</a:t>
            </a:r>
            <a:br>
              <a:rPr lang="fr-FR" sz="3330">
                <a:latin typeface="Times New Roman"/>
                <a:ea typeface="Times New Roman"/>
                <a:cs typeface="Times New Roman"/>
                <a:sym typeface="Times New Roman"/>
              </a:rPr>
            </a:br>
            <a:r>
              <a:rPr lang="fr-FR" sz="3330">
                <a:latin typeface="Times New Roman"/>
                <a:ea typeface="Times New Roman"/>
                <a:cs typeface="Times New Roman"/>
                <a:sym typeface="Times New Roman"/>
              </a:rPr>
              <a:t> </a:t>
            </a:r>
            <a:endParaRPr/>
          </a:p>
          <a:p>
            <a:pPr indent="-64135" lvl="0" marL="228600" rtl="0" algn="l">
              <a:lnSpc>
                <a:spcPct val="70000"/>
              </a:lnSpc>
              <a:spcBef>
                <a:spcPts val="1000"/>
              </a:spcBef>
              <a:spcAft>
                <a:spcPts val="0"/>
              </a:spcAft>
              <a:buClr>
                <a:schemeClr val="dk1"/>
              </a:buClr>
              <a:buSzPts val="2590"/>
              <a:buNone/>
            </a:pPr>
            <a:r>
              <a:t/>
            </a:r>
            <a:endParaRPr sz="259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1230938" y="540768"/>
            <a:ext cx="10515600" cy="7683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Représentation graphique </a:t>
            </a:r>
            <a:endParaRPr/>
          </a:p>
        </p:txBody>
      </p:sp>
      <p:sp>
        <p:nvSpPr>
          <p:cNvPr id="105" name="Google Shape;105;p4"/>
          <p:cNvSpPr txBox="1"/>
          <p:nvPr>
            <p:ph idx="1" type="body"/>
          </p:nvPr>
        </p:nvSpPr>
        <p:spPr>
          <a:xfrm>
            <a:off x="838200" y="1304924"/>
            <a:ext cx="10515600" cy="5187949"/>
          </a:xfrm>
          <a:prstGeom prst="rect">
            <a:avLst/>
          </a:prstGeom>
          <a:noFill/>
          <a:ln>
            <a:noFill/>
          </a:ln>
        </p:spPr>
        <p:txBody>
          <a:bodyPr anchorCtr="0" anchor="t" bIns="45700" lIns="91425" spcFirstLastPara="1" rIns="91425" wrap="square" tIns="45700">
            <a:normAutofit/>
          </a:bodyPr>
          <a:lstStyle/>
          <a:p>
            <a:pPr indent="-71120" lvl="0" marL="228600" rtl="0" algn="l">
              <a:lnSpc>
                <a:spcPct val="70000"/>
              </a:lnSpc>
              <a:spcBef>
                <a:spcPts val="0"/>
              </a:spcBef>
              <a:spcAft>
                <a:spcPts val="0"/>
              </a:spcAft>
              <a:buClr>
                <a:schemeClr val="dk1"/>
              </a:buClr>
              <a:buSzPts val="2480"/>
              <a:buNone/>
            </a:pPr>
            <a:r>
              <a:t/>
            </a:r>
            <a:endParaRPr sz="2480"/>
          </a:p>
          <a:p>
            <a:pPr indent="-228600" lvl="0" marL="228600" rtl="0" algn="l">
              <a:lnSpc>
                <a:spcPct val="70000"/>
              </a:lnSpc>
              <a:spcBef>
                <a:spcPts val="1000"/>
              </a:spcBef>
              <a:spcAft>
                <a:spcPts val="0"/>
              </a:spcAft>
              <a:buClr>
                <a:schemeClr val="dk1"/>
              </a:buClr>
              <a:buSzPts val="2945"/>
              <a:buChar char="•"/>
            </a:pPr>
            <a:r>
              <a:rPr lang="fr-FR" sz="2945">
                <a:latin typeface="Times New Roman"/>
                <a:ea typeface="Times New Roman"/>
                <a:cs typeface="Times New Roman"/>
                <a:sym typeface="Times New Roman"/>
              </a:rPr>
              <a:t>La comparaison de deux variables quantitatives se fait en premier lieu graphiquement, en représentant l’ensemble des couples de valeurs sous forme d’un nuage de points.</a:t>
            </a:r>
            <a:endParaRPr/>
          </a:p>
          <a:p>
            <a:pPr indent="0" lvl="0" marL="0" rtl="0" algn="l">
              <a:lnSpc>
                <a:spcPct val="70000"/>
              </a:lnSpc>
              <a:spcBef>
                <a:spcPts val="1000"/>
              </a:spcBef>
              <a:spcAft>
                <a:spcPts val="0"/>
              </a:spcAft>
              <a:buClr>
                <a:schemeClr val="dk1"/>
              </a:buClr>
              <a:buSzPts val="2945"/>
              <a:buNone/>
            </a:pPr>
            <a:r>
              <a:t/>
            </a:r>
            <a:endParaRPr sz="2945">
              <a:latin typeface="Times New Roman"/>
              <a:ea typeface="Times New Roman"/>
              <a:cs typeface="Times New Roman"/>
              <a:sym typeface="Times New Roman"/>
            </a:endParaRPr>
          </a:p>
          <a:p>
            <a:pPr indent="-228600" lvl="0" marL="228600" rtl="0" algn="l">
              <a:lnSpc>
                <a:spcPct val="70000"/>
              </a:lnSpc>
              <a:spcBef>
                <a:spcPts val="1000"/>
              </a:spcBef>
              <a:spcAft>
                <a:spcPts val="0"/>
              </a:spcAft>
              <a:buClr>
                <a:schemeClr val="dk1"/>
              </a:buClr>
              <a:buSzPts val="2945"/>
              <a:buChar char="•"/>
            </a:pPr>
            <a:r>
              <a:rPr lang="fr-FR" sz="2945">
                <a:latin typeface="Times New Roman"/>
                <a:ea typeface="Times New Roman"/>
                <a:cs typeface="Times New Roman"/>
                <a:sym typeface="Times New Roman"/>
              </a:rPr>
              <a:t> L'ensemble des points forme un nuage de points dont la forme permet de caractériser la relation à l'aide de trois critères :</a:t>
            </a:r>
            <a:endParaRPr/>
          </a:p>
          <a:p>
            <a:pPr indent="0" lvl="0" marL="0" rtl="0" algn="l">
              <a:lnSpc>
                <a:spcPct val="70000"/>
              </a:lnSpc>
              <a:spcBef>
                <a:spcPts val="1000"/>
              </a:spcBef>
              <a:spcAft>
                <a:spcPts val="0"/>
              </a:spcAft>
              <a:buClr>
                <a:schemeClr val="dk1"/>
              </a:buClr>
              <a:buSzPts val="2170"/>
              <a:buNone/>
            </a:pPr>
            <a:r>
              <a:t/>
            </a:r>
            <a:endParaRPr b="1" sz="2170">
              <a:solidFill>
                <a:srgbClr val="FF0000"/>
              </a:solidFill>
              <a:latin typeface="Times New Roman"/>
              <a:ea typeface="Times New Roman"/>
              <a:cs typeface="Times New Roman"/>
              <a:sym typeface="Times New Roman"/>
            </a:endParaRPr>
          </a:p>
          <a:p>
            <a:pPr indent="-228600" lvl="2" marL="1143000" rtl="0" algn="l">
              <a:lnSpc>
                <a:spcPct val="70000"/>
              </a:lnSpc>
              <a:spcBef>
                <a:spcPts val="500"/>
              </a:spcBef>
              <a:spcAft>
                <a:spcPts val="0"/>
              </a:spcAft>
              <a:buClr>
                <a:srgbClr val="FF0000"/>
              </a:buClr>
              <a:buSzPts val="2170"/>
              <a:buFont typeface="Noto Sans"/>
              <a:buChar char="⮚"/>
            </a:pPr>
            <a:r>
              <a:rPr b="1" lang="fr-FR" sz="2170">
                <a:solidFill>
                  <a:srgbClr val="FF0000"/>
                </a:solidFill>
                <a:latin typeface="Times New Roman"/>
                <a:ea typeface="Times New Roman"/>
                <a:cs typeface="Times New Roman"/>
                <a:sym typeface="Times New Roman"/>
              </a:rPr>
              <a:t>Intensité de la relation</a:t>
            </a:r>
            <a:endParaRPr b="1">
              <a:solidFill>
                <a:srgbClr val="FF0000"/>
              </a:solidFill>
            </a:endParaRPr>
          </a:p>
          <a:p>
            <a:pPr indent="-228600" lvl="2" marL="1143000" rtl="0" algn="l">
              <a:lnSpc>
                <a:spcPct val="70000"/>
              </a:lnSpc>
              <a:spcBef>
                <a:spcPts val="500"/>
              </a:spcBef>
              <a:spcAft>
                <a:spcPts val="0"/>
              </a:spcAft>
              <a:buClr>
                <a:srgbClr val="FF0000"/>
              </a:buClr>
              <a:buSzPts val="2170"/>
              <a:buFont typeface="Noto Sans"/>
              <a:buChar char="⮚"/>
            </a:pPr>
            <a:r>
              <a:rPr b="1" lang="fr-FR" sz="2170">
                <a:solidFill>
                  <a:srgbClr val="FF0000"/>
                </a:solidFill>
                <a:latin typeface="Times New Roman"/>
                <a:ea typeface="Times New Roman"/>
                <a:cs typeface="Times New Roman"/>
                <a:sym typeface="Times New Roman"/>
              </a:rPr>
              <a:t>Forme de la relation</a:t>
            </a:r>
            <a:endParaRPr b="1">
              <a:solidFill>
                <a:srgbClr val="FF0000"/>
              </a:solidFill>
            </a:endParaRPr>
          </a:p>
          <a:p>
            <a:pPr indent="-228600" lvl="2" marL="1143000" rtl="0" algn="l">
              <a:lnSpc>
                <a:spcPct val="70000"/>
              </a:lnSpc>
              <a:spcBef>
                <a:spcPts val="500"/>
              </a:spcBef>
              <a:spcAft>
                <a:spcPts val="0"/>
              </a:spcAft>
              <a:buClr>
                <a:srgbClr val="FF0000"/>
              </a:buClr>
              <a:buSzPts val="2170"/>
              <a:buFont typeface="Noto Sans"/>
              <a:buChar char="⮚"/>
            </a:pPr>
            <a:r>
              <a:rPr b="1" lang="fr-FR" sz="2170">
                <a:solidFill>
                  <a:srgbClr val="FF0000"/>
                </a:solidFill>
                <a:latin typeface="Times New Roman"/>
                <a:ea typeface="Times New Roman"/>
                <a:cs typeface="Times New Roman"/>
                <a:sym typeface="Times New Roman"/>
              </a:rPr>
              <a:t>Sens de la relation</a:t>
            </a:r>
            <a:br>
              <a:rPr lang="fr-FR" sz="1860"/>
            </a:br>
            <a:r>
              <a:rPr lang="fr-FR" sz="1550"/>
              <a:t> </a:t>
            </a:r>
            <a:br>
              <a:rPr lang="fr-FR" sz="1550"/>
            </a:br>
            <a:br>
              <a:rPr lang="fr-FR" sz="1550"/>
            </a:br>
            <a:br>
              <a:rPr lang="fr-FR" sz="1550"/>
            </a:br>
            <a:r>
              <a:rPr lang="fr-FR" sz="1550"/>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1279071" y="629104"/>
            <a:ext cx="10515600" cy="61594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Intensité de la corrélation </a:t>
            </a:r>
            <a:endParaRPr/>
          </a:p>
        </p:txBody>
      </p:sp>
      <p:pic>
        <p:nvPicPr>
          <p:cNvPr id="111" name="Google Shape;111;p5"/>
          <p:cNvPicPr preferRelativeResize="0"/>
          <p:nvPr>
            <p:ph idx="1" type="body"/>
          </p:nvPr>
        </p:nvPicPr>
        <p:blipFill rotWithShape="1">
          <a:blip r:embed="rId3">
            <a:alphaModFix/>
          </a:blip>
          <a:srcRect b="0" l="0" r="0" t="0"/>
          <a:stretch/>
        </p:blipFill>
        <p:spPr>
          <a:xfrm>
            <a:off x="619124" y="4109843"/>
            <a:ext cx="10515600" cy="2383031"/>
          </a:xfrm>
          <a:prstGeom prst="rect">
            <a:avLst/>
          </a:prstGeom>
          <a:noFill/>
          <a:ln>
            <a:noFill/>
          </a:ln>
        </p:spPr>
      </p:pic>
      <p:sp>
        <p:nvSpPr>
          <p:cNvPr id="112" name="Google Shape;112;p5"/>
          <p:cNvSpPr txBox="1"/>
          <p:nvPr/>
        </p:nvSpPr>
        <p:spPr>
          <a:xfrm>
            <a:off x="619124" y="1466801"/>
            <a:ext cx="10106025" cy="283154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FF0000"/>
              </a:buClr>
              <a:buSzPts val="2000"/>
              <a:buFont typeface="Arial"/>
              <a:buChar char="•"/>
            </a:pPr>
            <a:r>
              <a:rPr b="1" i="0" lang="fr-FR" sz="2000" u="none" cap="none" strike="noStrike">
                <a:solidFill>
                  <a:srgbClr val="FF0000"/>
                </a:solidFill>
                <a:latin typeface="Times New Roman"/>
                <a:ea typeface="Times New Roman"/>
                <a:cs typeface="Times New Roman"/>
                <a:sym typeface="Times New Roman"/>
              </a:rPr>
              <a:t>une relation est forte</a:t>
            </a:r>
            <a:r>
              <a:rPr b="0" i="0" lang="fr-FR" sz="2000" u="none" cap="none" strike="noStrike">
                <a:solidFill>
                  <a:schemeClr val="dk1"/>
                </a:solidFill>
                <a:latin typeface="Times New Roman"/>
                <a:ea typeface="Times New Roman"/>
                <a:cs typeface="Times New Roman"/>
                <a:sym typeface="Times New Roman"/>
              </a:rPr>
              <a:t> si les valeurs prises par X sont proches aux valeurs prises par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chemeClr val="dk1"/>
                </a:solidFill>
                <a:latin typeface="Times New Roman"/>
                <a:ea typeface="Times New Roman"/>
                <a:cs typeface="Times New Roman"/>
                <a:sym typeface="Times New Roman"/>
              </a:rPr>
              <a:t>=&gt; le nuage de point prend alors la forme d'une ligne ou d'une courbe dont les points s'écartent peu.</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0000"/>
              </a:buClr>
              <a:buSzPts val="2000"/>
              <a:buFont typeface="Arial"/>
              <a:buChar char="•"/>
            </a:pPr>
            <a:r>
              <a:rPr b="1" i="0" lang="fr-FR" sz="2000" u="none" cap="none" strike="noStrike">
                <a:solidFill>
                  <a:srgbClr val="FF0000"/>
                </a:solidFill>
                <a:latin typeface="Times New Roman"/>
                <a:ea typeface="Times New Roman"/>
                <a:cs typeface="Times New Roman"/>
                <a:sym typeface="Times New Roman"/>
              </a:rPr>
              <a:t>Une relation est faible </a:t>
            </a:r>
            <a:r>
              <a:rPr b="0" i="0" lang="fr-FR" sz="2000" u="none" cap="none" strike="noStrike">
                <a:solidFill>
                  <a:schemeClr val="dk1"/>
                </a:solidFill>
                <a:latin typeface="Times New Roman"/>
                <a:ea typeface="Times New Roman"/>
                <a:cs typeface="Times New Roman"/>
                <a:sym typeface="Times New Roman"/>
              </a:rPr>
              <a:t>si les valeurs prises par X sont éloignées des valeurs prises par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chemeClr val="dk1"/>
                </a:solidFill>
                <a:latin typeface="Times New Roman"/>
                <a:ea typeface="Times New Roman"/>
                <a:cs typeface="Times New Roman"/>
                <a:sym typeface="Times New Roman"/>
              </a:rPr>
              <a:t>=&gt; le nuage de point n'a pas la forme d'une ligne ou d'une courbe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0000"/>
              </a:buClr>
              <a:buSzPts val="2000"/>
              <a:buFont typeface="Arial"/>
              <a:buChar char="•"/>
            </a:pPr>
            <a:r>
              <a:rPr b="1" i="0" lang="fr-FR" sz="2000" u="none" cap="none" strike="noStrike">
                <a:solidFill>
                  <a:srgbClr val="FF0000"/>
                </a:solidFill>
                <a:latin typeface="Times New Roman"/>
                <a:ea typeface="Times New Roman"/>
                <a:cs typeface="Times New Roman"/>
                <a:sym typeface="Times New Roman"/>
              </a:rPr>
              <a:t>Une relation est nulle</a:t>
            </a:r>
            <a:r>
              <a:rPr b="0" i="0" lang="fr-FR" sz="2000" u="none" cap="none" strike="noStrike">
                <a:solidFill>
                  <a:schemeClr val="dk1"/>
                </a:solidFill>
                <a:latin typeface="Times New Roman"/>
                <a:ea typeface="Times New Roman"/>
                <a:cs typeface="Times New Roman"/>
                <a:sym typeface="Times New Roman"/>
              </a:rPr>
              <a:t> si les valeurs de X ne permettent d’avoir aucune information sur les valeurs de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chemeClr val="dk1"/>
                </a:solidFill>
                <a:latin typeface="Times New Roman"/>
                <a:ea typeface="Times New Roman"/>
                <a:cs typeface="Times New Roman"/>
                <a:sym typeface="Times New Roman"/>
              </a:rPr>
              <a:t>=&gt;le nuage de point a la forme d'un carré, d'un cercle, sans véritables lignes directrices.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6"/>
          <p:cNvPicPr preferRelativeResize="0"/>
          <p:nvPr/>
        </p:nvPicPr>
        <p:blipFill rotWithShape="1">
          <a:blip r:embed="rId3">
            <a:alphaModFix/>
          </a:blip>
          <a:srcRect b="0" l="0" r="0" t="0"/>
          <a:stretch/>
        </p:blipFill>
        <p:spPr>
          <a:xfrm>
            <a:off x="619124" y="2962275"/>
            <a:ext cx="11496675" cy="3525044"/>
          </a:xfrm>
          <a:prstGeom prst="rect">
            <a:avLst/>
          </a:prstGeom>
          <a:noFill/>
          <a:ln>
            <a:noFill/>
          </a:ln>
        </p:spPr>
      </p:pic>
      <p:sp>
        <p:nvSpPr>
          <p:cNvPr id="118" name="Google Shape;118;p6"/>
          <p:cNvSpPr txBox="1"/>
          <p:nvPr>
            <p:ph type="title"/>
          </p:nvPr>
        </p:nvSpPr>
        <p:spPr>
          <a:xfrm>
            <a:off x="1230086" y="561069"/>
            <a:ext cx="10515600" cy="61594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Sens de la corrélation </a:t>
            </a:r>
            <a:endParaRPr/>
          </a:p>
        </p:txBody>
      </p:sp>
      <p:graphicFrame>
        <p:nvGraphicFramePr>
          <p:cNvPr id="119" name="Google Shape;119;p6"/>
          <p:cNvGraphicFramePr/>
          <p:nvPr/>
        </p:nvGraphicFramePr>
        <p:xfrm>
          <a:off x="619124" y="1276350"/>
          <a:ext cx="3000000" cy="3000000"/>
        </p:xfrm>
        <a:graphic>
          <a:graphicData uri="http://schemas.openxmlformats.org/drawingml/2006/table">
            <a:tbl>
              <a:tblPr>
                <a:noFill/>
                <a:tableStyleId>{32F3FE45-22A1-4603-B69A-E95418FF2058}</a:tableStyleId>
              </a:tblPr>
              <a:tblGrid>
                <a:gridCol w="10839450"/>
              </a:tblGrid>
              <a:tr h="16134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1452154" y="495754"/>
            <a:ext cx="10515600" cy="835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Illustration graphique</a:t>
            </a:r>
            <a:endParaRPr/>
          </a:p>
        </p:txBody>
      </p:sp>
      <p:pic>
        <p:nvPicPr>
          <p:cNvPr id="125" name="Google Shape;125;p7"/>
          <p:cNvPicPr preferRelativeResize="0"/>
          <p:nvPr>
            <p:ph idx="1" type="body"/>
          </p:nvPr>
        </p:nvPicPr>
        <p:blipFill rotWithShape="1">
          <a:blip r:embed="rId3">
            <a:alphaModFix/>
          </a:blip>
          <a:srcRect b="0" l="0" r="0" t="0"/>
          <a:stretch/>
        </p:blipFill>
        <p:spPr>
          <a:xfrm>
            <a:off x="1828800" y="1292218"/>
            <a:ext cx="8329612" cy="3927482"/>
          </a:xfrm>
          <a:prstGeom prst="rect">
            <a:avLst/>
          </a:prstGeom>
          <a:noFill/>
          <a:ln>
            <a:noFill/>
          </a:ln>
        </p:spPr>
      </p:pic>
      <p:sp>
        <p:nvSpPr>
          <p:cNvPr id="126" name="Google Shape;126;p7"/>
          <p:cNvSpPr txBox="1"/>
          <p:nvPr/>
        </p:nvSpPr>
        <p:spPr>
          <a:xfrm>
            <a:off x="476250" y="5210175"/>
            <a:ext cx="10877550"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dk1"/>
                </a:solidFill>
                <a:latin typeface="Times New Roman"/>
                <a:ea typeface="Times New Roman"/>
                <a:cs typeface="Times New Roman"/>
                <a:sym typeface="Times New Roman"/>
              </a:rPr>
              <a:t>Liaison linéaire positive: </a:t>
            </a:r>
            <a:r>
              <a:rPr b="0" i="0" lang="fr-FR" sz="2400" u="none" cap="none" strike="noStrike">
                <a:solidFill>
                  <a:schemeClr val="dk1"/>
                </a:solidFill>
                <a:latin typeface="Times New Roman"/>
                <a:ea typeface="Times New Roman"/>
                <a:cs typeface="Times New Roman"/>
                <a:sym typeface="Times New Roman"/>
              </a:rPr>
              <a:t>X et Y évoluent dans le même sens, une augmentation de X entraîne une augmentation de Y , de même ordre quelle que soit la valeur de X. le nuage de point peut s’ajuster à une droite.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dk1"/>
                </a:solidFill>
                <a:latin typeface="Times New Roman"/>
                <a:ea typeface="Times New Roman"/>
                <a:cs typeface="Times New Roman"/>
                <a:sym typeface="Times New Roman"/>
              </a:rPr>
              <a:t>Liaison linéaire négative: </a:t>
            </a:r>
            <a:r>
              <a:rPr b="0" i="0" lang="fr-FR" sz="2400" u="none" cap="none" strike="noStrike">
                <a:solidFill>
                  <a:schemeClr val="dk1"/>
                </a:solidFill>
                <a:latin typeface="Times New Roman"/>
                <a:ea typeface="Times New Roman"/>
                <a:cs typeface="Times New Roman"/>
                <a:sym typeface="Times New Roman"/>
              </a:rPr>
              <a:t>X et Y évoluent en sens inverse.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8"/>
          <p:cNvPicPr preferRelativeResize="0"/>
          <p:nvPr>
            <p:ph idx="1" type="body"/>
          </p:nvPr>
        </p:nvPicPr>
        <p:blipFill rotWithShape="1">
          <a:blip r:embed="rId3">
            <a:alphaModFix/>
          </a:blip>
          <a:srcRect b="0" l="0" r="0" t="0"/>
          <a:stretch/>
        </p:blipFill>
        <p:spPr>
          <a:xfrm>
            <a:off x="1733550" y="1200150"/>
            <a:ext cx="8134350" cy="4086225"/>
          </a:xfrm>
          <a:prstGeom prst="rect">
            <a:avLst/>
          </a:prstGeom>
          <a:noFill/>
          <a:ln>
            <a:noFill/>
          </a:ln>
        </p:spPr>
      </p:pic>
      <p:sp>
        <p:nvSpPr>
          <p:cNvPr id="132" name="Google Shape;132;p8"/>
          <p:cNvSpPr txBox="1"/>
          <p:nvPr/>
        </p:nvSpPr>
        <p:spPr>
          <a:xfrm>
            <a:off x="1230085" y="521879"/>
            <a:ext cx="10515600" cy="8350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Times New Roman"/>
              <a:buNone/>
            </a:pPr>
            <a:r>
              <a:rPr b="1" i="0" lang="fr-FR" sz="4400" u="none" cap="none" strike="noStrike">
                <a:solidFill>
                  <a:schemeClr val="dk1"/>
                </a:solidFill>
                <a:latin typeface="Times New Roman"/>
                <a:ea typeface="Times New Roman"/>
                <a:cs typeface="Times New Roman"/>
                <a:sym typeface="Times New Roman"/>
              </a:rPr>
              <a:t>Illustration graphique</a:t>
            </a:r>
            <a:endParaRPr b="0" i="0" sz="1400" u="none" cap="none" strike="noStrike">
              <a:solidFill>
                <a:srgbClr val="000000"/>
              </a:solidFill>
              <a:latin typeface="Arial"/>
              <a:ea typeface="Arial"/>
              <a:cs typeface="Arial"/>
              <a:sym typeface="Arial"/>
            </a:endParaRPr>
          </a:p>
        </p:txBody>
      </p:sp>
      <p:sp>
        <p:nvSpPr>
          <p:cNvPr id="133" name="Google Shape;133;p8"/>
          <p:cNvSpPr txBox="1"/>
          <p:nvPr/>
        </p:nvSpPr>
        <p:spPr>
          <a:xfrm>
            <a:off x="657225" y="5153025"/>
            <a:ext cx="10763250"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fr-FR" sz="2000" u="none" cap="none" strike="noStrike">
                <a:solidFill>
                  <a:schemeClr val="dk1"/>
                </a:solidFill>
                <a:latin typeface="Times New Roman"/>
                <a:ea typeface="Times New Roman"/>
                <a:cs typeface="Times New Roman"/>
                <a:sym typeface="Times New Roman"/>
              </a:rPr>
              <a:t>Liaison monotone non-linéaire</a:t>
            </a:r>
            <a:r>
              <a:rPr b="0" i="0" lang="fr-FR" sz="2000" u="none" cap="none" strike="noStrike">
                <a:solidFill>
                  <a:schemeClr val="dk1"/>
                </a:solidFill>
                <a:latin typeface="Times New Roman"/>
                <a:ea typeface="Times New Roman"/>
                <a:cs typeface="Times New Roman"/>
                <a:sym typeface="Times New Roman"/>
              </a:rPr>
              <a:t>:  si elle est strictement croissante ou strictement décroissante, c'est-à-dire si elle ne comporte pas de minima ou de maxima. Toutes les relations linéaires sont monotones.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fr-FR" sz="2000" u="none" cap="none" strike="noStrike">
                <a:solidFill>
                  <a:schemeClr val="dk1"/>
                </a:solidFill>
                <a:latin typeface="Times New Roman"/>
                <a:ea typeface="Times New Roman"/>
                <a:cs typeface="Times New Roman"/>
                <a:sym typeface="Times New Roman"/>
              </a:rPr>
              <a:t>Liaison non-linéaire non-monotone</a:t>
            </a:r>
            <a:r>
              <a:rPr b="0" i="0" lang="fr-FR" sz="2000" u="none" cap="none" strike="noStrike">
                <a:solidFill>
                  <a:schemeClr val="dk1"/>
                </a:solidFill>
                <a:latin typeface="Times New Roman"/>
                <a:ea typeface="Times New Roman"/>
                <a:cs typeface="Times New Roman"/>
                <a:sym typeface="Times New Roman"/>
              </a:rPr>
              <a:t>: Il y a une relation fonctionnelle entre X et Y . Mais la relation n'est pas monotone, Y peut augmenter ou diminuer selon la valeur de 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1217023" y="482691"/>
            <a:ext cx="10515600" cy="835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Illustration graphique</a:t>
            </a:r>
            <a:endParaRPr/>
          </a:p>
        </p:txBody>
      </p:sp>
      <p:pic>
        <p:nvPicPr>
          <p:cNvPr id="139" name="Google Shape;139;p9"/>
          <p:cNvPicPr preferRelativeResize="0"/>
          <p:nvPr>
            <p:ph idx="1" type="body"/>
          </p:nvPr>
        </p:nvPicPr>
        <p:blipFill rotWithShape="1">
          <a:blip r:embed="rId3">
            <a:alphaModFix/>
          </a:blip>
          <a:srcRect b="0" l="0" r="0" t="0"/>
          <a:stretch/>
        </p:blipFill>
        <p:spPr>
          <a:xfrm>
            <a:off x="1833562" y="1419225"/>
            <a:ext cx="8524875" cy="4019550"/>
          </a:xfrm>
          <a:prstGeom prst="rect">
            <a:avLst/>
          </a:prstGeom>
          <a:noFill/>
          <a:ln>
            <a:noFill/>
          </a:ln>
        </p:spPr>
      </p:pic>
      <p:pic>
        <p:nvPicPr>
          <p:cNvPr id="140" name="Google Shape;140;p9"/>
          <p:cNvPicPr preferRelativeResize="0"/>
          <p:nvPr/>
        </p:nvPicPr>
        <p:blipFill rotWithShape="1">
          <a:blip r:embed="rId4">
            <a:alphaModFix/>
          </a:blip>
          <a:srcRect b="0" l="0" r="0" t="0"/>
          <a:stretch/>
        </p:blipFill>
        <p:spPr>
          <a:xfrm>
            <a:off x="1681162" y="1423987"/>
            <a:ext cx="8829675" cy="4010025"/>
          </a:xfrm>
          <a:prstGeom prst="rect">
            <a:avLst/>
          </a:prstGeom>
          <a:noFill/>
          <a:ln>
            <a:noFill/>
          </a:ln>
        </p:spPr>
      </p:pic>
      <p:sp>
        <p:nvSpPr>
          <p:cNvPr id="141" name="Google Shape;141;p9"/>
          <p:cNvSpPr txBox="1"/>
          <p:nvPr/>
        </p:nvSpPr>
        <p:spPr>
          <a:xfrm>
            <a:off x="838199" y="5334207"/>
            <a:ext cx="10734675"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fr-FR" sz="2800" u="none" cap="none" strike="noStrike">
                <a:solidFill>
                  <a:schemeClr val="dk1"/>
                </a:solidFill>
                <a:latin typeface="Times New Roman"/>
                <a:ea typeface="Times New Roman"/>
                <a:cs typeface="Times New Roman"/>
                <a:sym typeface="Times New Roman"/>
              </a:rPr>
              <a:t>La valeur de X ne donne pas une  indication sur la valeur de Y , et inversement.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fr-FR" sz="2800" u="none" cap="none" strike="noStrike">
                <a:solidFill>
                  <a:schemeClr val="dk1"/>
                </a:solidFill>
                <a:latin typeface="Times New Roman"/>
                <a:ea typeface="Times New Roman"/>
                <a:cs typeface="Times New Roman"/>
                <a:sym typeface="Times New Roman"/>
              </a:rPr>
              <a:t>X (ou Y ) est constant quelle que soit la valeur de la seconde variable</a:t>
            </a:r>
            <a:r>
              <a:rPr b="0" i="0" lang="fr-FR" sz="2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1256211" y="521881"/>
            <a:ext cx="10515600" cy="7683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Calcul d’indicateur</a:t>
            </a:r>
            <a:endParaRPr/>
          </a:p>
        </p:txBody>
      </p:sp>
      <p:sp>
        <p:nvSpPr>
          <p:cNvPr id="147" name="Google Shape;147;p10"/>
          <p:cNvSpPr txBox="1"/>
          <p:nvPr>
            <p:ph idx="1" type="body"/>
          </p:nvPr>
        </p:nvSpPr>
        <p:spPr>
          <a:xfrm>
            <a:off x="695325" y="1533525"/>
            <a:ext cx="10515600" cy="48720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latin typeface="Times New Roman"/>
                <a:ea typeface="Times New Roman"/>
                <a:cs typeface="Times New Roman"/>
                <a:sym typeface="Times New Roman"/>
              </a:rPr>
              <a:t>En plus d’une représentation graphique, on peut calculer certains indicateurs permettant de mesurer le degré d’association de deux variables quantitatives.</a:t>
            </a:r>
            <a:endParaRPr/>
          </a:p>
          <a:p>
            <a:pPr indent="-228600" lvl="0" marL="228600" rtl="0" algn="l">
              <a:lnSpc>
                <a:spcPct val="90000"/>
              </a:lnSpc>
              <a:spcBef>
                <a:spcPts val="1000"/>
              </a:spcBef>
              <a:spcAft>
                <a:spcPts val="0"/>
              </a:spcAft>
              <a:buClr>
                <a:schemeClr val="dk1"/>
              </a:buClr>
              <a:buSzPts val="2800"/>
              <a:buChar char="•"/>
            </a:pPr>
            <a:r>
              <a:rPr lang="fr-FR">
                <a:latin typeface="Times New Roman"/>
                <a:ea typeface="Times New Roman"/>
                <a:cs typeface="Times New Roman"/>
                <a:sym typeface="Times New Roman"/>
              </a:rPr>
              <a:t> Le calcul du </a:t>
            </a:r>
            <a:r>
              <a:rPr b="1" lang="fr-FR">
                <a:latin typeface="Times New Roman"/>
                <a:ea typeface="Times New Roman"/>
                <a:cs typeface="Times New Roman"/>
                <a:sym typeface="Times New Roman"/>
              </a:rPr>
              <a:t>coefficient de corrélation</a:t>
            </a:r>
            <a:r>
              <a:rPr lang="fr-FR">
                <a:latin typeface="Times New Roman"/>
                <a:ea typeface="Times New Roman"/>
                <a:cs typeface="Times New Roman"/>
                <a:sym typeface="Times New Roman"/>
              </a:rPr>
              <a:t> peut être effectué en utilisant deux méthodes:</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228600" lvl="3" marL="1600200" rtl="0" algn="l">
              <a:lnSpc>
                <a:spcPct val="90000"/>
              </a:lnSpc>
              <a:spcBef>
                <a:spcPts val="500"/>
              </a:spcBef>
              <a:spcAft>
                <a:spcPts val="0"/>
              </a:spcAft>
              <a:buClr>
                <a:srgbClr val="FF0000"/>
              </a:buClr>
              <a:buSzPts val="2800"/>
              <a:buFont typeface="Noto Sans"/>
              <a:buChar char="⮚"/>
            </a:pPr>
            <a:r>
              <a:rPr b="1" lang="fr-FR" sz="2800">
                <a:solidFill>
                  <a:srgbClr val="FF0000"/>
                </a:solidFill>
                <a:latin typeface="Times New Roman"/>
                <a:ea typeface="Times New Roman"/>
                <a:cs typeface="Times New Roman"/>
                <a:sym typeface="Times New Roman"/>
              </a:rPr>
              <a:t> corrélation r de Pearson</a:t>
            </a:r>
            <a:endParaRPr/>
          </a:p>
          <a:p>
            <a:pPr indent="-228600" lvl="3" marL="1600200" rtl="0" algn="l">
              <a:lnSpc>
                <a:spcPct val="90000"/>
              </a:lnSpc>
              <a:spcBef>
                <a:spcPts val="500"/>
              </a:spcBef>
              <a:spcAft>
                <a:spcPts val="0"/>
              </a:spcAft>
              <a:buClr>
                <a:srgbClr val="FF0000"/>
              </a:buClr>
              <a:buSzPts val="2800"/>
              <a:buFont typeface="Noto Sans"/>
              <a:buChar char="⮚"/>
            </a:pPr>
            <a:r>
              <a:rPr b="1" lang="fr-FR" sz="2800">
                <a:solidFill>
                  <a:srgbClr val="FF0000"/>
                </a:solidFill>
                <a:latin typeface="Times New Roman"/>
                <a:ea typeface="Times New Roman"/>
                <a:cs typeface="Times New Roman"/>
                <a:sym typeface="Times New Roman"/>
              </a:rPr>
              <a:t>coefficient de corrélation</a:t>
            </a:r>
            <a:r>
              <a:rPr lang="fr-FR" sz="2800">
                <a:solidFill>
                  <a:srgbClr val="FF0000"/>
                </a:solidFill>
                <a:latin typeface="Times New Roman"/>
                <a:ea typeface="Times New Roman"/>
                <a:cs typeface="Times New Roman"/>
                <a:sym typeface="Times New Roman"/>
              </a:rPr>
              <a:t> </a:t>
            </a:r>
            <a:r>
              <a:rPr b="1" lang="fr-FR" sz="2800">
                <a:solidFill>
                  <a:srgbClr val="FF0000"/>
                </a:solidFill>
                <a:latin typeface="Times New Roman"/>
                <a:ea typeface="Times New Roman"/>
                <a:cs typeface="Times New Roman"/>
                <a:sym typeface="Times New Roman"/>
              </a:rPr>
              <a:t>Spearman</a:t>
            </a:r>
            <a:endParaRPr/>
          </a:p>
          <a:p>
            <a:pPr indent="0" lvl="0" marL="0" rtl="0" algn="l">
              <a:lnSpc>
                <a:spcPct val="90000"/>
              </a:lnSpc>
              <a:spcBef>
                <a:spcPts val="1000"/>
              </a:spcBef>
              <a:spcAft>
                <a:spcPts val="0"/>
              </a:spcAft>
              <a:buClr>
                <a:schemeClr val="dk1"/>
              </a:buClr>
              <a:buSzPts val="3200"/>
              <a:buNone/>
            </a:pPr>
            <a:r>
              <a:rPr lang="fr-FR" sz="3200">
                <a:latin typeface="Times New Roman"/>
                <a:ea typeface="Times New Roman"/>
                <a:cs typeface="Times New Roman"/>
                <a:sym typeface="Times New Roman"/>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838200" y="365126"/>
            <a:ext cx="10515600" cy="7683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Coefficient de corrélation de Pearson</a:t>
            </a:r>
            <a:endParaRPr/>
          </a:p>
        </p:txBody>
      </p:sp>
      <p:sp>
        <p:nvSpPr>
          <p:cNvPr id="153" name="Google Shape;153;p11"/>
          <p:cNvSpPr txBox="1"/>
          <p:nvPr>
            <p:ph idx="1" type="body"/>
          </p:nvPr>
        </p:nvSpPr>
        <p:spPr>
          <a:xfrm>
            <a:off x="838200" y="1390649"/>
            <a:ext cx="10515600" cy="5238751"/>
          </a:xfrm>
          <a:prstGeom prst="rect">
            <a:avLst/>
          </a:prstGeom>
          <a:blipFill rotWithShape="1">
            <a:blip r:embed="rId3">
              <a:alphaModFix/>
            </a:blip>
            <a:stretch>
              <a:fillRect b="0" l="-1214" r="0" t="-2789"/>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fr-FR"/>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ph type="title"/>
          </p:nvPr>
        </p:nvSpPr>
        <p:spPr>
          <a:xfrm>
            <a:off x="1217023" y="600257"/>
            <a:ext cx="10515600" cy="730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Interprétation </a:t>
            </a:r>
            <a:endParaRPr/>
          </a:p>
        </p:txBody>
      </p:sp>
      <p:sp>
        <p:nvSpPr>
          <p:cNvPr id="159" name="Google Shape;159;p12"/>
          <p:cNvSpPr txBox="1"/>
          <p:nvPr>
            <p:ph idx="1" type="body"/>
          </p:nvPr>
        </p:nvSpPr>
        <p:spPr>
          <a:xfrm>
            <a:off x="690562" y="1095376"/>
            <a:ext cx="10515600" cy="4805363"/>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Char char="•"/>
            </a:pPr>
            <a:r>
              <a:rPr lang="fr-FR" sz="2400">
                <a:latin typeface="Times New Roman"/>
                <a:ea typeface="Times New Roman"/>
                <a:cs typeface="Times New Roman"/>
                <a:sym typeface="Times New Roman"/>
              </a:rPr>
              <a:t>Le coefficient de Pearson varie entre -1 et +1. Son interprétation est la suivante :</a:t>
            </a:r>
            <a:endParaRPr/>
          </a:p>
          <a:p>
            <a:pPr indent="0" lvl="0" marL="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ts val="2400"/>
              <a:buFont typeface="Noto Sans"/>
              <a:buChar char="⮚"/>
            </a:pPr>
            <a:r>
              <a:rPr lang="fr-FR">
                <a:latin typeface="Times New Roman"/>
                <a:ea typeface="Times New Roman"/>
                <a:cs typeface="Times New Roman"/>
                <a:sym typeface="Times New Roman"/>
              </a:rPr>
              <a:t> si </a:t>
            </a:r>
            <a:r>
              <a:rPr i="1" lang="fr-FR">
                <a:latin typeface="Times New Roman"/>
                <a:ea typeface="Times New Roman"/>
                <a:cs typeface="Times New Roman"/>
                <a:sym typeface="Times New Roman"/>
              </a:rPr>
              <a:t>r</a:t>
            </a:r>
            <a:r>
              <a:rPr lang="fr-FR">
                <a:latin typeface="Times New Roman"/>
                <a:ea typeface="Times New Roman"/>
                <a:cs typeface="Times New Roman"/>
                <a:sym typeface="Times New Roman"/>
              </a:rPr>
              <a:t> est proche de 0, il n'y a pas de relation linéaire entre X et Y</a:t>
            </a:r>
            <a:endParaRPr/>
          </a:p>
          <a:p>
            <a:pPr indent="-228600" lvl="1" marL="685800" rtl="0" algn="l">
              <a:lnSpc>
                <a:spcPct val="90000"/>
              </a:lnSpc>
              <a:spcBef>
                <a:spcPts val="500"/>
              </a:spcBef>
              <a:spcAft>
                <a:spcPts val="0"/>
              </a:spcAft>
              <a:buClr>
                <a:schemeClr val="dk1"/>
              </a:buClr>
              <a:buSzPts val="2400"/>
              <a:buFont typeface="Noto Sans"/>
              <a:buChar char="⮚"/>
            </a:pPr>
            <a:r>
              <a:rPr lang="fr-FR">
                <a:latin typeface="Times New Roman"/>
                <a:ea typeface="Times New Roman"/>
                <a:cs typeface="Times New Roman"/>
                <a:sym typeface="Times New Roman"/>
              </a:rPr>
              <a:t>si </a:t>
            </a:r>
            <a:r>
              <a:rPr i="1" lang="fr-FR">
                <a:latin typeface="Times New Roman"/>
                <a:ea typeface="Times New Roman"/>
                <a:cs typeface="Times New Roman"/>
                <a:sym typeface="Times New Roman"/>
              </a:rPr>
              <a:t>r </a:t>
            </a:r>
            <a:r>
              <a:rPr lang="fr-FR">
                <a:latin typeface="Times New Roman"/>
                <a:ea typeface="Times New Roman"/>
                <a:cs typeface="Times New Roman"/>
                <a:sym typeface="Times New Roman"/>
              </a:rPr>
              <a:t>est proche de -1, il existe une forte relation linéaire négative entre X et Y.</a:t>
            </a:r>
            <a:endParaRPr/>
          </a:p>
          <a:p>
            <a:pPr indent="-228600" lvl="1" marL="685800" rtl="0" algn="l">
              <a:lnSpc>
                <a:spcPct val="90000"/>
              </a:lnSpc>
              <a:spcBef>
                <a:spcPts val="500"/>
              </a:spcBef>
              <a:spcAft>
                <a:spcPts val="0"/>
              </a:spcAft>
              <a:buClr>
                <a:schemeClr val="dk1"/>
              </a:buClr>
              <a:buSzPts val="2400"/>
              <a:buFont typeface="Noto Sans"/>
              <a:buChar char="⮚"/>
            </a:pPr>
            <a:r>
              <a:rPr lang="fr-FR">
                <a:latin typeface="Times New Roman"/>
                <a:ea typeface="Times New Roman"/>
                <a:cs typeface="Times New Roman"/>
                <a:sym typeface="Times New Roman"/>
              </a:rPr>
              <a:t>si </a:t>
            </a:r>
            <a:r>
              <a:rPr i="1" lang="fr-FR">
                <a:latin typeface="Times New Roman"/>
                <a:ea typeface="Times New Roman"/>
                <a:cs typeface="Times New Roman"/>
                <a:sym typeface="Times New Roman"/>
              </a:rPr>
              <a:t>r</a:t>
            </a:r>
            <a:r>
              <a:rPr lang="fr-FR">
                <a:latin typeface="Times New Roman"/>
                <a:ea typeface="Times New Roman"/>
                <a:cs typeface="Times New Roman"/>
                <a:sym typeface="Times New Roman"/>
              </a:rPr>
              <a:t> est proche de 1, il existe une forte relation linéaire positive entre X et Y</a:t>
            </a:r>
            <a:endParaRPr/>
          </a:p>
          <a:p>
            <a:pPr indent="-228600" lvl="0" marL="228600" rtl="0" algn="l">
              <a:lnSpc>
                <a:spcPct val="90000"/>
              </a:lnSpc>
              <a:spcBef>
                <a:spcPts val="1000"/>
              </a:spcBef>
              <a:spcAft>
                <a:spcPts val="0"/>
              </a:spcAft>
              <a:buClr>
                <a:schemeClr val="dk1"/>
              </a:buClr>
              <a:buSzPts val="2400"/>
              <a:buChar char="•"/>
            </a:pPr>
            <a:r>
              <a:rPr lang="fr-FR" sz="2400">
                <a:latin typeface="Times New Roman"/>
                <a:ea typeface="Times New Roman"/>
                <a:cs typeface="Times New Roman"/>
                <a:sym typeface="Times New Roman"/>
              </a:rPr>
              <a:t>Le </a:t>
            </a:r>
            <a:r>
              <a:rPr b="1" lang="fr-FR" sz="2400">
                <a:latin typeface="Times New Roman"/>
                <a:ea typeface="Times New Roman"/>
                <a:cs typeface="Times New Roman"/>
                <a:sym typeface="Times New Roman"/>
              </a:rPr>
              <a:t>signe</a:t>
            </a:r>
            <a:r>
              <a:rPr lang="fr-FR" sz="2400">
                <a:latin typeface="Times New Roman"/>
                <a:ea typeface="Times New Roman"/>
                <a:cs typeface="Times New Roman"/>
                <a:sym typeface="Times New Roman"/>
              </a:rPr>
              <a:t> de </a:t>
            </a:r>
            <a:r>
              <a:rPr i="1" lang="fr-FR" sz="2400">
                <a:latin typeface="Times New Roman"/>
                <a:ea typeface="Times New Roman"/>
                <a:cs typeface="Times New Roman"/>
                <a:sym typeface="Times New Roman"/>
              </a:rPr>
              <a:t>r</a:t>
            </a:r>
            <a:r>
              <a:rPr lang="fr-FR" sz="2400">
                <a:latin typeface="Times New Roman"/>
                <a:ea typeface="Times New Roman"/>
                <a:cs typeface="Times New Roman"/>
                <a:sym typeface="Times New Roman"/>
              </a:rPr>
              <a:t> indique le sens de la relation tandis que la valeur absolue de</a:t>
            </a:r>
            <a:r>
              <a:rPr i="1" lang="fr-FR" sz="2400">
                <a:latin typeface="Times New Roman"/>
                <a:ea typeface="Times New Roman"/>
                <a:cs typeface="Times New Roman"/>
                <a:sym typeface="Times New Roman"/>
              </a:rPr>
              <a:t> r </a:t>
            </a:r>
            <a:r>
              <a:rPr lang="fr-FR" sz="2400">
                <a:latin typeface="Times New Roman"/>
                <a:ea typeface="Times New Roman"/>
                <a:cs typeface="Times New Roman"/>
                <a:sym typeface="Times New Roman"/>
              </a:rPr>
              <a:t> indique l'</a:t>
            </a:r>
            <a:r>
              <a:rPr b="1" lang="fr-FR" sz="2400">
                <a:latin typeface="Times New Roman"/>
                <a:ea typeface="Times New Roman"/>
                <a:cs typeface="Times New Roman"/>
                <a:sym typeface="Times New Roman"/>
              </a:rPr>
              <a:t>intensité</a:t>
            </a:r>
            <a:r>
              <a:rPr lang="fr-FR" sz="2400">
                <a:latin typeface="Times New Roman"/>
                <a:ea typeface="Times New Roman"/>
                <a:cs typeface="Times New Roman"/>
                <a:sym typeface="Times New Roman"/>
              </a:rPr>
              <a:t> de la relation.</a:t>
            </a:r>
            <a:endParaRPr/>
          </a:p>
        </p:txBody>
      </p:sp>
      <p:pic>
        <p:nvPicPr>
          <p:cNvPr id="160" name="Google Shape;160;p12"/>
          <p:cNvPicPr preferRelativeResize="0"/>
          <p:nvPr/>
        </p:nvPicPr>
        <p:blipFill rotWithShape="1">
          <a:blip r:embed="rId3">
            <a:alphaModFix/>
          </a:blip>
          <a:srcRect b="0" l="0" r="0" t="0"/>
          <a:stretch/>
        </p:blipFill>
        <p:spPr>
          <a:xfrm>
            <a:off x="1671637" y="4479131"/>
            <a:ext cx="8848725" cy="19002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txBox="1"/>
          <p:nvPr>
            <p:ph type="title"/>
          </p:nvPr>
        </p:nvSpPr>
        <p:spPr>
          <a:xfrm>
            <a:off x="1243149" y="534944"/>
            <a:ext cx="10515600" cy="730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Limites du coefficient de Pearson</a:t>
            </a:r>
            <a:endParaRPr/>
          </a:p>
        </p:txBody>
      </p:sp>
      <p:sp>
        <p:nvSpPr>
          <p:cNvPr id="166" name="Google Shape;166;p13"/>
          <p:cNvSpPr txBox="1"/>
          <p:nvPr>
            <p:ph idx="1" type="body"/>
          </p:nvPr>
        </p:nvSpPr>
        <p:spPr>
          <a:xfrm>
            <a:off x="762000" y="1601786"/>
            <a:ext cx="10515600" cy="489108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Char char="•"/>
            </a:pPr>
            <a:r>
              <a:rPr lang="fr-FR" sz="3600">
                <a:latin typeface="Times New Roman"/>
                <a:ea typeface="Times New Roman"/>
                <a:cs typeface="Times New Roman"/>
                <a:sym typeface="Times New Roman"/>
              </a:rPr>
              <a:t>Le coefficient de Pearson n'est applicable que pour mesurer la relation entre deux variables X et Y ayant </a:t>
            </a:r>
            <a:r>
              <a:rPr b="1" lang="fr-FR" sz="3600">
                <a:solidFill>
                  <a:srgbClr val="FF0000"/>
                </a:solidFill>
                <a:latin typeface="Times New Roman"/>
                <a:ea typeface="Times New Roman"/>
                <a:cs typeface="Times New Roman"/>
                <a:sym typeface="Times New Roman"/>
              </a:rPr>
              <a:t>une distribution normale </a:t>
            </a:r>
            <a:r>
              <a:rPr lang="fr-FR" sz="3600">
                <a:latin typeface="Times New Roman"/>
                <a:ea typeface="Times New Roman"/>
                <a:cs typeface="Times New Roman"/>
                <a:sym typeface="Times New Roman"/>
              </a:rPr>
              <a:t>et ne comportant pas de</a:t>
            </a:r>
            <a:r>
              <a:rPr b="1" lang="fr-FR" sz="3600">
                <a:solidFill>
                  <a:srgbClr val="FF0000"/>
                </a:solidFill>
                <a:latin typeface="Times New Roman"/>
                <a:ea typeface="Times New Roman"/>
                <a:cs typeface="Times New Roman"/>
                <a:sym typeface="Times New Roman"/>
              </a:rPr>
              <a:t> valeurs exceptionnelles.</a:t>
            </a:r>
            <a:endParaRPr/>
          </a:p>
          <a:p>
            <a:pPr indent="0" lvl="0" marL="0" rtl="0" algn="l">
              <a:lnSpc>
                <a:spcPct val="90000"/>
              </a:lnSpc>
              <a:spcBef>
                <a:spcPts val="1000"/>
              </a:spcBef>
              <a:spcAft>
                <a:spcPts val="0"/>
              </a:spcAft>
              <a:buClr>
                <a:schemeClr val="dk1"/>
              </a:buClr>
              <a:buSzPts val="3600"/>
              <a:buNone/>
            </a:pPr>
            <a:r>
              <a:t/>
            </a:r>
            <a:endParaRPr b="1" sz="3600">
              <a:solidFill>
                <a:srgbClr val="FF000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3600"/>
              <a:buChar char="•"/>
            </a:pPr>
            <a:r>
              <a:rPr lang="fr-FR" sz="3600">
                <a:latin typeface="Times New Roman"/>
                <a:ea typeface="Times New Roman"/>
                <a:cs typeface="Times New Roman"/>
                <a:sym typeface="Times New Roman"/>
              </a:rPr>
              <a:t>L'absence d'une relation linéaire ne signifie pas l'absence de toute relation entre les deux caractères étudiés.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4"/>
          <p:cNvSpPr txBox="1"/>
          <p:nvPr>
            <p:ph type="title"/>
          </p:nvPr>
        </p:nvSpPr>
        <p:spPr>
          <a:xfrm>
            <a:off x="1334589" y="495754"/>
            <a:ext cx="10304417" cy="7778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959"/>
              <a:buFont typeface="Calibri"/>
              <a:buNone/>
            </a:pPr>
            <a:br>
              <a:rPr lang="fr-FR" sz="3959"/>
            </a:br>
            <a:r>
              <a:rPr b="1" lang="fr-FR" sz="4410">
                <a:latin typeface="Times New Roman"/>
                <a:ea typeface="Times New Roman"/>
                <a:cs typeface="Times New Roman"/>
                <a:sym typeface="Times New Roman"/>
              </a:rPr>
              <a:t>Le coefficient de corrélation de Spearman(de rang)</a:t>
            </a:r>
            <a:br>
              <a:rPr b="1" lang="fr-FR" sz="4410">
                <a:latin typeface="Times New Roman"/>
                <a:ea typeface="Times New Roman"/>
                <a:cs typeface="Times New Roman"/>
                <a:sym typeface="Times New Roman"/>
              </a:rPr>
            </a:br>
            <a:endParaRPr b="1" sz="4410">
              <a:latin typeface="Times New Roman"/>
              <a:ea typeface="Times New Roman"/>
              <a:cs typeface="Times New Roman"/>
              <a:sym typeface="Times New Roman"/>
            </a:endParaRPr>
          </a:p>
        </p:txBody>
      </p:sp>
      <p:sp>
        <p:nvSpPr>
          <p:cNvPr id="172" name="Google Shape;172;p14"/>
          <p:cNvSpPr txBox="1"/>
          <p:nvPr>
            <p:ph idx="1" type="body"/>
          </p:nvPr>
        </p:nvSpPr>
        <p:spPr>
          <a:xfrm>
            <a:off x="838200" y="1524000"/>
            <a:ext cx="10515600" cy="4652963"/>
          </a:xfrm>
          <a:prstGeom prst="rect">
            <a:avLst/>
          </a:prstGeom>
          <a:blipFill rotWithShape="1">
            <a:blip r:embed="rId3">
              <a:alphaModFix/>
            </a:blip>
            <a:stretch>
              <a:fillRect b="0" l="-1041" r="-693" t="-2226"/>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fr-F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5"/>
          <p:cNvSpPr txBox="1"/>
          <p:nvPr>
            <p:ph type="title"/>
          </p:nvPr>
        </p:nvSpPr>
        <p:spPr>
          <a:xfrm>
            <a:off x="1360714" y="587195"/>
            <a:ext cx="10515600" cy="635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Test de corrélation</a:t>
            </a:r>
            <a:endParaRPr/>
          </a:p>
        </p:txBody>
      </p:sp>
      <p:sp>
        <p:nvSpPr>
          <p:cNvPr id="178" name="Google Shape;178;p15"/>
          <p:cNvSpPr txBox="1"/>
          <p:nvPr>
            <p:ph idx="1" type="body"/>
          </p:nvPr>
        </p:nvSpPr>
        <p:spPr>
          <a:xfrm>
            <a:off x="838200" y="1314450"/>
            <a:ext cx="10515600" cy="4862513"/>
          </a:xfrm>
          <a:prstGeom prst="rect">
            <a:avLst/>
          </a:prstGeom>
          <a:blipFill rotWithShape="1">
            <a:blip r:embed="rId3">
              <a:alphaModFix/>
            </a:blip>
            <a:stretch>
              <a:fillRect b="0" l="-1214" r="0" t="-2131"/>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fr-FR"/>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ph idx="1" type="body"/>
          </p:nvPr>
        </p:nvSpPr>
        <p:spPr>
          <a:xfrm>
            <a:off x="1145449" y="797718"/>
            <a:ext cx="10515600" cy="52625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fr-FR">
                <a:latin typeface="Times New Roman"/>
                <a:ea typeface="Times New Roman"/>
                <a:cs typeface="Times New Roman"/>
                <a:sym typeface="Times New Roman"/>
              </a:rPr>
              <a:t>Règles de décision et conclusion du test:</a:t>
            </a:r>
            <a:endParaRPr/>
          </a:p>
          <a:p>
            <a:pPr indent="0" lvl="0" marL="0" rtl="0" algn="l">
              <a:lnSpc>
                <a:spcPct val="90000"/>
              </a:lnSpc>
              <a:spcBef>
                <a:spcPts val="1000"/>
              </a:spcBef>
              <a:spcAft>
                <a:spcPts val="0"/>
              </a:spcAft>
              <a:buClr>
                <a:schemeClr val="dk1"/>
              </a:buClr>
              <a:buSzPts val="2800"/>
              <a:buNone/>
            </a:pPr>
            <a:r>
              <a:rPr i="1" lang="fr-FR">
                <a:latin typeface="Times New Roman"/>
                <a:ea typeface="Times New Roman"/>
                <a:cs typeface="Times New Roman"/>
                <a:sym typeface="Times New Roman"/>
              </a:rPr>
              <a:t>Si H</a:t>
            </a:r>
            <a:r>
              <a:rPr baseline="-25000" i="1" lang="fr-FR">
                <a:latin typeface="Times New Roman"/>
                <a:ea typeface="Times New Roman"/>
                <a:cs typeface="Times New Roman"/>
                <a:sym typeface="Times New Roman"/>
              </a:rPr>
              <a:t>1</a:t>
            </a:r>
            <a:r>
              <a:rPr i="1" lang="fr-FR">
                <a:latin typeface="Times New Roman"/>
                <a:ea typeface="Times New Roman"/>
                <a:cs typeface="Times New Roman"/>
                <a:sym typeface="Times New Roman"/>
              </a:rPr>
              <a:t> bilatérale : valeur théorique critique t</a:t>
            </a:r>
            <a:r>
              <a:rPr baseline="-25000" i="1" lang="fr-FR">
                <a:latin typeface="Times New Roman"/>
                <a:ea typeface="Times New Roman"/>
                <a:cs typeface="Times New Roman"/>
                <a:sym typeface="Times New Roman"/>
              </a:rPr>
              <a:t>(ddl ; α = 5%)</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fr-FR">
                <a:latin typeface="Times New Roman"/>
                <a:ea typeface="Times New Roman"/>
                <a:cs typeface="Times New Roman"/>
                <a:sym typeface="Times New Roman"/>
              </a:rPr>
              <a:t>t</a:t>
            </a:r>
            <a:r>
              <a:rPr baseline="-25000" lang="fr-FR">
                <a:latin typeface="Times New Roman"/>
                <a:ea typeface="Times New Roman"/>
                <a:cs typeface="Times New Roman"/>
                <a:sym typeface="Times New Roman"/>
              </a:rPr>
              <a:t>obs</a:t>
            </a:r>
            <a:r>
              <a:rPr lang="fr-FR">
                <a:latin typeface="Times New Roman"/>
                <a:ea typeface="Times New Roman"/>
                <a:cs typeface="Times New Roman"/>
                <a:sym typeface="Times New Roman"/>
              </a:rPr>
              <a:t> &lt; t</a:t>
            </a:r>
            <a:r>
              <a:rPr baseline="-25000" lang="fr-FR">
                <a:latin typeface="Times New Roman"/>
                <a:ea typeface="Times New Roman"/>
                <a:cs typeface="Times New Roman"/>
                <a:sym typeface="Times New Roman"/>
              </a:rPr>
              <a:t>ddl ; α = 5%</a:t>
            </a:r>
            <a:r>
              <a:rPr lang="fr-FR">
                <a:latin typeface="Times New Roman"/>
                <a:ea typeface="Times New Roman"/>
                <a:cs typeface="Times New Roman"/>
                <a:sym typeface="Times New Roman"/>
              </a:rPr>
              <a:t> : acceptation de H</a:t>
            </a:r>
            <a:r>
              <a:rPr baseline="-25000" lang="fr-FR">
                <a:latin typeface="Times New Roman"/>
                <a:ea typeface="Times New Roman"/>
                <a:cs typeface="Times New Roman"/>
                <a:sym typeface="Times New Roman"/>
              </a:rPr>
              <a:t>0</a:t>
            </a:r>
            <a:r>
              <a:rPr lang="fr-FR">
                <a:latin typeface="Times New Roman"/>
                <a:ea typeface="Times New Roman"/>
                <a:cs typeface="Times New Roman"/>
                <a:sym typeface="Times New Roman"/>
              </a:rPr>
              <a:t> d'où absence de liaison significative entre X et Y.</a:t>
            </a:r>
            <a:endParaRPr/>
          </a:p>
          <a:p>
            <a:pPr indent="0" lvl="0" marL="0" rtl="0" algn="l">
              <a:lnSpc>
                <a:spcPct val="90000"/>
              </a:lnSpc>
              <a:spcBef>
                <a:spcPts val="1000"/>
              </a:spcBef>
              <a:spcAft>
                <a:spcPts val="0"/>
              </a:spcAft>
              <a:buClr>
                <a:schemeClr val="dk1"/>
              </a:buClr>
              <a:buSzPts val="2800"/>
              <a:buNone/>
            </a:pPr>
            <a:r>
              <a:rPr lang="fr-FR">
                <a:latin typeface="Times New Roman"/>
                <a:ea typeface="Times New Roman"/>
                <a:cs typeface="Times New Roman"/>
                <a:sym typeface="Times New Roman"/>
              </a:rPr>
              <a:t>t</a:t>
            </a:r>
            <a:r>
              <a:rPr baseline="-25000" lang="fr-FR">
                <a:latin typeface="Times New Roman"/>
                <a:ea typeface="Times New Roman"/>
                <a:cs typeface="Times New Roman"/>
                <a:sym typeface="Times New Roman"/>
              </a:rPr>
              <a:t>obs</a:t>
            </a:r>
            <a:r>
              <a:rPr lang="fr-FR">
                <a:latin typeface="Times New Roman"/>
                <a:ea typeface="Times New Roman"/>
                <a:cs typeface="Times New Roman"/>
                <a:sym typeface="Times New Roman"/>
              </a:rPr>
              <a:t> ≥ t</a:t>
            </a:r>
            <a:r>
              <a:rPr baseline="-25000" lang="fr-FR">
                <a:latin typeface="Times New Roman"/>
                <a:ea typeface="Times New Roman"/>
                <a:cs typeface="Times New Roman"/>
                <a:sym typeface="Times New Roman"/>
              </a:rPr>
              <a:t>ddl ; α = 5%</a:t>
            </a:r>
            <a:r>
              <a:rPr lang="fr-FR">
                <a:latin typeface="Times New Roman"/>
                <a:ea typeface="Times New Roman"/>
                <a:cs typeface="Times New Roman"/>
                <a:sym typeface="Times New Roman"/>
              </a:rPr>
              <a:t> : rejet de H</a:t>
            </a:r>
            <a:r>
              <a:rPr baseline="-25000" lang="fr-FR">
                <a:latin typeface="Times New Roman"/>
                <a:ea typeface="Times New Roman"/>
                <a:cs typeface="Times New Roman"/>
                <a:sym typeface="Times New Roman"/>
              </a:rPr>
              <a:t>0</a:t>
            </a:r>
            <a:r>
              <a:rPr lang="fr-FR">
                <a:latin typeface="Times New Roman"/>
                <a:ea typeface="Times New Roman"/>
                <a:cs typeface="Times New Roman"/>
                <a:sym typeface="Times New Roman"/>
              </a:rPr>
              <a:t> d'où liaison significative entre X et Y.</a:t>
            </a:r>
            <a:endParaRPr/>
          </a:p>
          <a:p>
            <a:pPr indent="0" lvl="0" marL="0" rtl="0" algn="l">
              <a:lnSpc>
                <a:spcPct val="90000"/>
              </a:lnSpc>
              <a:spcBef>
                <a:spcPts val="1000"/>
              </a:spcBef>
              <a:spcAft>
                <a:spcPts val="0"/>
              </a:spcAft>
              <a:buClr>
                <a:schemeClr val="dk1"/>
              </a:buClr>
              <a:buSzPts val="2800"/>
              <a:buNone/>
            </a:pPr>
            <a:r>
              <a:rPr i="1" lang="fr-FR">
                <a:latin typeface="Times New Roman"/>
                <a:ea typeface="Times New Roman"/>
                <a:cs typeface="Times New Roman"/>
                <a:sym typeface="Times New Roman"/>
              </a:rPr>
              <a:t>Si H</a:t>
            </a:r>
            <a:r>
              <a:rPr baseline="-25000" i="1" lang="fr-FR">
                <a:latin typeface="Times New Roman"/>
                <a:ea typeface="Times New Roman"/>
                <a:cs typeface="Times New Roman"/>
                <a:sym typeface="Times New Roman"/>
              </a:rPr>
              <a:t>1</a:t>
            </a:r>
            <a:r>
              <a:rPr i="1" lang="fr-FR">
                <a:latin typeface="Times New Roman"/>
                <a:ea typeface="Times New Roman"/>
                <a:cs typeface="Times New Roman"/>
                <a:sym typeface="Times New Roman"/>
              </a:rPr>
              <a:t> unilatérale : valeur théorique critique t</a:t>
            </a:r>
            <a:r>
              <a:rPr baseline="-25000" i="1" lang="fr-FR">
                <a:latin typeface="Times New Roman"/>
                <a:ea typeface="Times New Roman"/>
                <a:cs typeface="Times New Roman"/>
                <a:sym typeface="Times New Roman"/>
              </a:rPr>
              <a:t>ddl ; α = 10%</a:t>
            </a:r>
            <a:endParaRPr/>
          </a:p>
          <a:p>
            <a:pPr indent="0" lvl="0" marL="0" rtl="0" algn="l">
              <a:lnSpc>
                <a:spcPct val="90000"/>
              </a:lnSpc>
              <a:spcBef>
                <a:spcPts val="1000"/>
              </a:spcBef>
              <a:spcAft>
                <a:spcPts val="0"/>
              </a:spcAft>
              <a:buClr>
                <a:schemeClr val="dk1"/>
              </a:buClr>
              <a:buSzPts val="2800"/>
              <a:buNone/>
            </a:pPr>
            <a:r>
              <a:rPr lang="fr-FR">
                <a:latin typeface="Times New Roman"/>
                <a:ea typeface="Times New Roman"/>
                <a:cs typeface="Times New Roman"/>
                <a:sym typeface="Times New Roman"/>
              </a:rPr>
              <a:t>t</a:t>
            </a:r>
            <a:r>
              <a:rPr baseline="-25000" lang="fr-FR">
                <a:latin typeface="Times New Roman"/>
                <a:ea typeface="Times New Roman"/>
                <a:cs typeface="Times New Roman"/>
                <a:sym typeface="Times New Roman"/>
              </a:rPr>
              <a:t>obs</a:t>
            </a:r>
            <a:r>
              <a:rPr lang="fr-FR">
                <a:latin typeface="Times New Roman"/>
                <a:ea typeface="Times New Roman"/>
                <a:cs typeface="Times New Roman"/>
                <a:sym typeface="Times New Roman"/>
              </a:rPr>
              <a:t> &lt; t</a:t>
            </a:r>
            <a:r>
              <a:rPr baseline="-25000" lang="fr-FR">
                <a:latin typeface="Times New Roman"/>
                <a:ea typeface="Times New Roman"/>
                <a:cs typeface="Times New Roman"/>
                <a:sym typeface="Times New Roman"/>
              </a:rPr>
              <a:t>ddl ; α = 10%</a:t>
            </a:r>
            <a:r>
              <a:rPr lang="fr-FR">
                <a:latin typeface="Times New Roman"/>
                <a:ea typeface="Times New Roman"/>
                <a:cs typeface="Times New Roman"/>
                <a:sym typeface="Times New Roman"/>
              </a:rPr>
              <a:t> : acceptation de H</a:t>
            </a:r>
            <a:r>
              <a:rPr baseline="-25000" lang="fr-FR">
                <a:latin typeface="Times New Roman"/>
                <a:ea typeface="Times New Roman"/>
                <a:cs typeface="Times New Roman"/>
                <a:sym typeface="Times New Roman"/>
              </a:rPr>
              <a:t>0</a:t>
            </a:r>
            <a:r>
              <a:rPr lang="fr-FR">
                <a:latin typeface="Times New Roman"/>
                <a:ea typeface="Times New Roman"/>
                <a:cs typeface="Times New Roman"/>
                <a:sym typeface="Times New Roman"/>
              </a:rPr>
              <a:t> d'où absence de liaison significative entre X et Y</a:t>
            </a:r>
            <a:endParaRPr/>
          </a:p>
          <a:p>
            <a:pPr indent="0" lvl="0" marL="0" rtl="0" algn="l">
              <a:lnSpc>
                <a:spcPct val="90000"/>
              </a:lnSpc>
              <a:spcBef>
                <a:spcPts val="1000"/>
              </a:spcBef>
              <a:spcAft>
                <a:spcPts val="0"/>
              </a:spcAft>
              <a:buClr>
                <a:schemeClr val="dk1"/>
              </a:buClr>
              <a:buSzPts val="2800"/>
              <a:buNone/>
            </a:pPr>
            <a:r>
              <a:rPr lang="fr-FR">
                <a:latin typeface="Times New Roman"/>
                <a:ea typeface="Times New Roman"/>
                <a:cs typeface="Times New Roman"/>
                <a:sym typeface="Times New Roman"/>
              </a:rPr>
              <a:t>t</a:t>
            </a:r>
            <a:r>
              <a:rPr baseline="-25000" lang="fr-FR">
                <a:latin typeface="Times New Roman"/>
                <a:ea typeface="Times New Roman"/>
                <a:cs typeface="Times New Roman"/>
                <a:sym typeface="Times New Roman"/>
              </a:rPr>
              <a:t>obs</a:t>
            </a:r>
            <a:r>
              <a:rPr lang="fr-FR">
                <a:latin typeface="Times New Roman"/>
                <a:ea typeface="Times New Roman"/>
                <a:cs typeface="Times New Roman"/>
                <a:sym typeface="Times New Roman"/>
              </a:rPr>
              <a:t> ≥ t</a:t>
            </a:r>
            <a:r>
              <a:rPr baseline="-25000" lang="fr-FR">
                <a:latin typeface="Times New Roman"/>
                <a:ea typeface="Times New Roman"/>
                <a:cs typeface="Times New Roman"/>
                <a:sym typeface="Times New Roman"/>
              </a:rPr>
              <a:t>ddl ; α = 10%</a:t>
            </a:r>
            <a:r>
              <a:rPr lang="fr-FR">
                <a:latin typeface="Times New Roman"/>
                <a:ea typeface="Times New Roman"/>
                <a:cs typeface="Times New Roman"/>
                <a:sym typeface="Times New Roman"/>
              </a:rPr>
              <a:t> : rejet de H</a:t>
            </a:r>
            <a:r>
              <a:rPr baseline="-25000" lang="fr-FR">
                <a:latin typeface="Times New Roman"/>
                <a:ea typeface="Times New Roman"/>
                <a:cs typeface="Times New Roman"/>
                <a:sym typeface="Times New Roman"/>
              </a:rPr>
              <a:t>0</a:t>
            </a:r>
            <a:r>
              <a:rPr lang="fr-FR">
                <a:latin typeface="Times New Roman"/>
                <a:ea typeface="Times New Roman"/>
                <a:cs typeface="Times New Roman"/>
                <a:sym typeface="Times New Roman"/>
              </a:rPr>
              <a:t> d'où liaison positive ou négative significative entre X et Y</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14b83c9e7e1_0_2"/>
          <p:cNvSpPr txBox="1"/>
          <p:nvPr/>
        </p:nvSpPr>
        <p:spPr>
          <a:xfrm>
            <a:off x="723275" y="1366225"/>
            <a:ext cx="11291700" cy="5227200"/>
          </a:xfrm>
          <a:prstGeom prst="rect">
            <a:avLst/>
          </a:prstGeom>
          <a:noFill/>
          <a:ln>
            <a:noFill/>
          </a:ln>
        </p:spPr>
        <p:txBody>
          <a:bodyPr anchorCtr="0" anchor="t" bIns="91425" lIns="91425" spcFirstLastPara="1" rIns="91425" wrap="square" tIns="91425">
            <a:spAutoFit/>
          </a:bodyPr>
          <a:lstStyle/>
          <a:p>
            <a:pPr indent="0" lvl="0" marL="228600" marR="0" rtl="0" algn="l">
              <a:lnSpc>
                <a:spcPct val="90000"/>
              </a:lnSpc>
              <a:spcBef>
                <a:spcPts val="0"/>
              </a:spcBef>
              <a:spcAft>
                <a:spcPts val="0"/>
              </a:spcAft>
              <a:buClr>
                <a:srgbClr val="000000"/>
              </a:buClr>
              <a:buSzPts val="2800"/>
              <a:buFont typeface="Arial"/>
              <a:buNone/>
            </a:pPr>
            <a:r>
              <a:rPr b="0" i="0" lang="fr-FR" sz="2800" u="none" cap="none" strike="noStrike">
                <a:solidFill>
                  <a:schemeClr val="dk1"/>
                </a:solidFill>
                <a:latin typeface="Calibri"/>
                <a:ea typeface="Calibri"/>
                <a:cs typeface="Calibri"/>
                <a:sym typeface="Calibri"/>
              </a:rPr>
              <a:t>Le </a:t>
            </a:r>
            <a:r>
              <a:rPr b="0" i="0" lang="fr-FR" sz="2800" u="none" cap="none" strike="noStrike">
                <a:solidFill>
                  <a:schemeClr val="dk1"/>
                </a:solidFill>
                <a:uFill>
                  <a:noFill/>
                </a:uFill>
                <a:latin typeface="Calibri"/>
                <a:ea typeface="Calibri"/>
                <a:cs typeface="Calibri"/>
                <a:sym typeface="Calibri"/>
                <a:hlinkClick r:id="rId3">
                  <a:extLst>
                    <a:ext uri="{A12FA001-AC4F-418D-AE19-62706E023703}">
                      <ahyp:hlinkClr val="tx"/>
                    </a:ext>
                  </a:extLst>
                </a:hlinkClick>
              </a:rPr>
              <a:t>langage R</a:t>
            </a:r>
            <a:r>
              <a:rPr b="0" i="0" lang="fr-FR" sz="2800" u="none" cap="none" strike="noStrike">
                <a:solidFill>
                  <a:schemeClr val="dk1"/>
                </a:solidFill>
                <a:latin typeface="Calibri"/>
                <a:ea typeface="Calibri"/>
                <a:cs typeface="Calibri"/>
                <a:sym typeface="Calibri"/>
              </a:rPr>
              <a:t> possède deux fonctions de calcul du coefficient de corrélation.</a:t>
            </a:r>
            <a:endParaRPr b="0" i="0" sz="2800" u="none" cap="none" strike="noStrike">
              <a:solidFill>
                <a:schemeClr val="dk1"/>
              </a:solidFill>
              <a:latin typeface="Calibri"/>
              <a:ea typeface="Calibri"/>
              <a:cs typeface="Calibri"/>
              <a:sym typeface="Calibri"/>
            </a:endParaRPr>
          </a:p>
          <a:p>
            <a:pPr indent="0" lvl="0" marL="228600" marR="0" rtl="0" algn="l">
              <a:lnSpc>
                <a:spcPct val="9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228600" marR="0" rtl="0" algn="l">
              <a:lnSpc>
                <a:spcPct val="90000"/>
              </a:lnSpc>
              <a:spcBef>
                <a:spcPts val="0"/>
              </a:spcBef>
              <a:spcAft>
                <a:spcPts val="0"/>
              </a:spcAft>
              <a:buClr>
                <a:srgbClr val="000000"/>
              </a:buClr>
              <a:buSzPts val="2800"/>
              <a:buFont typeface="Arial"/>
              <a:buNone/>
            </a:pPr>
            <a:r>
              <a:rPr b="0" i="0" lang="fr-FR" sz="2800" u="none" cap="none" strike="noStrike">
                <a:solidFill>
                  <a:schemeClr val="dk1"/>
                </a:solidFill>
                <a:latin typeface="Calibri"/>
                <a:ea typeface="Calibri"/>
                <a:cs typeface="Calibri"/>
                <a:sym typeface="Calibri"/>
              </a:rPr>
              <a:t> 1-La première est la fonction </a:t>
            </a:r>
            <a:r>
              <a:rPr b="0" i="0" lang="fr-FR" sz="2800" u="none" cap="none" strike="noStrike">
                <a:solidFill>
                  <a:srgbClr val="FF0000"/>
                </a:solidFill>
                <a:latin typeface="Calibri"/>
                <a:ea typeface="Calibri"/>
                <a:cs typeface="Calibri"/>
                <a:sym typeface="Calibri"/>
              </a:rPr>
              <a:t>cor()</a:t>
            </a:r>
            <a:r>
              <a:rPr b="0" i="0" lang="fr-FR" sz="2800" u="none" cap="none" strike="noStrike">
                <a:solidFill>
                  <a:schemeClr val="dk1"/>
                </a:solidFill>
                <a:latin typeface="Calibri"/>
                <a:ea typeface="Calibri"/>
                <a:cs typeface="Calibri"/>
                <a:sym typeface="Calibri"/>
              </a:rPr>
              <a:t> qui utilise trois attributs : les variables aléatoires A, B et la méthode employée : pearson (par défaut), kendall ou spearman.</a:t>
            </a:r>
            <a:endParaRPr b="0" i="0" sz="2800" u="none" cap="none" strike="noStrike">
              <a:solidFill>
                <a:schemeClr val="dk1"/>
              </a:solidFill>
              <a:latin typeface="Calibri"/>
              <a:ea typeface="Calibri"/>
              <a:cs typeface="Calibri"/>
              <a:sym typeface="Calibri"/>
            </a:endParaRPr>
          </a:p>
          <a:p>
            <a:pPr indent="0" lvl="0" marL="228600" marR="0" rtl="0" algn="l">
              <a:lnSpc>
                <a:spcPct val="90000"/>
              </a:lnSpc>
              <a:spcBef>
                <a:spcPts val="0"/>
              </a:spcBef>
              <a:spcAft>
                <a:spcPts val="0"/>
              </a:spcAft>
              <a:buClr>
                <a:srgbClr val="000000"/>
              </a:buClr>
              <a:buSzPts val="2800"/>
              <a:buFont typeface="Arial"/>
              <a:buNone/>
            </a:pPr>
            <a:r>
              <a:rPr b="0" i="0" lang="fr-FR" sz="2800" u="none" cap="none" strike="noStrike">
                <a:solidFill>
                  <a:srgbClr val="FF0000"/>
                </a:solidFill>
                <a:latin typeface="Calibri"/>
                <a:ea typeface="Calibri"/>
                <a:cs typeface="Calibri"/>
                <a:sym typeface="Calibri"/>
              </a:rPr>
              <a:t>                                     cor(A,B, method="pearson")</a:t>
            </a:r>
            <a:endParaRPr b="0" i="0" sz="2800" u="none" cap="none" strike="noStrike">
              <a:solidFill>
                <a:srgbClr val="FF0000"/>
              </a:solidFill>
              <a:latin typeface="Calibri"/>
              <a:ea typeface="Calibri"/>
              <a:cs typeface="Calibri"/>
              <a:sym typeface="Calibri"/>
            </a:endParaRPr>
          </a:p>
          <a:p>
            <a:pPr indent="0" lvl="0" marL="228600" marR="0" rtl="0" algn="l">
              <a:lnSpc>
                <a:spcPct val="9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228600" marR="0" rtl="0" algn="l">
              <a:lnSpc>
                <a:spcPct val="90000"/>
              </a:lnSpc>
              <a:spcBef>
                <a:spcPts val="0"/>
              </a:spcBef>
              <a:spcAft>
                <a:spcPts val="0"/>
              </a:spcAft>
              <a:buClr>
                <a:srgbClr val="000000"/>
              </a:buClr>
              <a:buSzPts val="2800"/>
              <a:buFont typeface="Arial"/>
              <a:buNone/>
            </a:pPr>
            <a:r>
              <a:rPr b="0" i="0" lang="fr-FR" sz="2800" u="none" cap="none" strike="noStrike">
                <a:solidFill>
                  <a:schemeClr val="dk1"/>
                </a:solidFill>
                <a:latin typeface="Calibri"/>
                <a:ea typeface="Calibri"/>
                <a:cs typeface="Calibri"/>
                <a:sym typeface="Calibri"/>
              </a:rPr>
              <a:t>2-La fonction </a:t>
            </a:r>
            <a:r>
              <a:rPr b="0" i="0" lang="fr-FR" sz="2800" u="none" cap="none" strike="noStrike">
                <a:solidFill>
                  <a:srgbClr val="FF0000"/>
                </a:solidFill>
                <a:latin typeface="Calibri"/>
                <a:ea typeface="Calibri"/>
                <a:cs typeface="Calibri"/>
                <a:sym typeface="Calibri"/>
              </a:rPr>
              <a:t>cor.test()</a:t>
            </a:r>
            <a:r>
              <a:rPr b="0" i="0" lang="fr-FR" sz="2800" u="none" cap="none" strike="noStrike">
                <a:solidFill>
                  <a:schemeClr val="dk1"/>
                </a:solidFill>
                <a:latin typeface="Calibri"/>
                <a:ea typeface="Calibri"/>
                <a:cs typeface="Calibri"/>
                <a:sym typeface="Calibri"/>
              </a:rPr>
              <a:t> permet d’aller plus loin dans l’analyse statistique. Elle teste elle aussi l’association entre deux variables en utilisant les méthodes de pearson (par défaut), kendall ou de spearman. Mais elle calcule aussi le niveau de significativité de la corrélation .</a:t>
            </a:r>
            <a:endParaRPr b="0" i="0" sz="2800" u="none" cap="none" strike="noStrike">
              <a:solidFill>
                <a:schemeClr val="dk1"/>
              </a:solidFill>
              <a:latin typeface="Calibri"/>
              <a:ea typeface="Calibri"/>
              <a:cs typeface="Calibri"/>
              <a:sym typeface="Calibri"/>
            </a:endParaRPr>
          </a:p>
          <a:p>
            <a:pPr indent="0" lvl="0" marL="228600" marR="0" rtl="0" algn="l">
              <a:lnSpc>
                <a:spcPct val="90000"/>
              </a:lnSpc>
              <a:spcBef>
                <a:spcPts val="0"/>
              </a:spcBef>
              <a:spcAft>
                <a:spcPts val="0"/>
              </a:spcAft>
              <a:buClr>
                <a:srgbClr val="000000"/>
              </a:buClr>
              <a:buSzPts val="2800"/>
              <a:buFont typeface="Arial"/>
              <a:buNone/>
            </a:pPr>
            <a:r>
              <a:rPr b="0" i="0" lang="fr-FR" sz="2800" u="none" cap="none" strike="noStrike">
                <a:solidFill>
                  <a:srgbClr val="FF0000"/>
                </a:solidFill>
                <a:latin typeface="Calibri"/>
                <a:ea typeface="Calibri"/>
                <a:cs typeface="Calibri"/>
                <a:sym typeface="Calibri"/>
              </a:rPr>
              <a:t>                                     </a:t>
            </a:r>
            <a:endParaRPr b="0" i="0" sz="2800" u="none" cap="none" strike="noStrike">
              <a:solidFill>
                <a:srgbClr val="FF0000"/>
              </a:solidFill>
              <a:latin typeface="Calibri"/>
              <a:ea typeface="Calibri"/>
              <a:cs typeface="Calibri"/>
              <a:sym typeface="Calibri"/>
            </a:endParaRPr>
          </a:p>
          <a:p>
            <a:pPr indent="0" lvl="0" marL="228600" marR="0" rtl="0" algn="l">
              <a:lnSpc>
                <a:spcPct val="90000"/>
              </a:lnSpc>
              <a:spcBef>
                <a:spcPts val="0"/>
              </a:spcBef>
              <a:spcAft>
                <a:spcPts val="0"/>
              </a:spcAft>
              <a:buClr>
                <a:srgbClr val="000000"/>
              </a:buClr>
              <a:buSzPts val="2800"/>
              <a:buFont typeface="Arial"/>
              <a:buNone/>
            </a:pPr>
            <a:r>
              <a:rPr b="0" i="0" lang="fr-FR" sz="2800" u="none" cap="none" strike="noStrike">
                <a:solidFill>
                  <a:srgbClr val="FF0000"/>
                </a:solidFill>
                <a:latin typeface="Calibri"/>
                <a:ea typeface="Calibri"/>
                <a:cs typeface="Calibri"/>
                <a:sym typeface="Calibri"/>
              </a:rPr>
              <a:t>                                     cor.test(A,B, method="kendall")</a:t>
            </a:r>
            <a:endParaRPr b="0" i="0" sz="2800" u="none" cap="none" strike="noStrike">
              <a:solidFill>
                <a:srgbClr val="FF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ph type="title"/>
          </p:nvPr>
        </p:nvSpPr>
        <p:spPr>
          <a:xfrm>
            <a:off x="1278455" y="574132"/>
            <a:ext cx="9955601" cy="863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Conditions d’application des Tests de corrélation </a:t>
            </a:r>
            <a:endParaRPr/>
          </a:p>
        </p:txBody>
      </p:sp>
      <p:sp>
        <p:nvSpPr>
          <p:cNvPr id="194" name="Google Shape;194;p17"/>
          <p:cNvSpPr txBox="1"/>
          <p:nvPr>
            <p:ph idx="1" type="body"/>
          </p:nvPr>
        </p:nvSpPr>
        <p:spPr>
          <a:xfrm>
            <a:off x="851263" y="1716405"/>
            <a:ext cx="10515600" cy="46434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4000"/>
              <a:buChar char="•"/>
            </a:pPr>
            <a:r>
              <a:rPr lang="fr-FR" sz="4000"/>
              <a:t> </a:t>
            </a:r>
            <a:r>
              <a:rPr lang="fr-FR" sz="4000">
                <a:latin typeface="Times New Roman"/>
                <a:ea typeface="Times New Roman"/>
                <a:cs typeface="Times New Roman"/>
                <a:sym typeface="Times New Roman"/>
              </a:rPr>
              <a:t>Le test de corrélation de Spearman est un test dit robuste car il ne dépend pas de la distribution des données.</a:t>
            </a:r>
            <a:endParaRPr/>
          </a:p>
          <a:p>
            <a:pPr indent="-228600" lvl="0" marL="228600" rtl="0" algn="l">
              <a:lnSpc>
                <a:spcPct val="90000"/>
              </a:lnSpc>
              <a:spcBef>
                <a:spcPts val="1000"/>
              </a:spcBef>
              <a:spcAft>
                <a:spcPts val="0"/>
              </a:spcAft>
              <a:buClr>
                <a:schemeClr val="dk1"/>
              </a:buClr>
              <a:buSzPts val="4000"/>
              <a:buChar char="•"/>
            </a:pPr>
            <a:r>
              <a:rPr lang="fr-FR" sz="4000">
                <a:latin typeface="Times New Roman"/>
                <a:ea typeface="Times New Roman"/>
                <a:cs typeface="Times New Roman"/>
                <a:sym typeface="Times New Roman"/>
              </a:rPr>
              <a:t> Le test de corrélation de </a:t>
            </a:r>
            <a:r>
              <a:rPr b="1" lang="fr-FR" sz="4000">
                <a:latin typeface="Times New Roman"/>
                <a:ea typeface="Times New Roman"/>
                <a:cs typeface="Times New Roman"/>
                <a:sym typeface="Times New Roman"/>
              </a:rPr>
              <a:t>Pearson</a:t>
            </a:r>
            <a:r>
              <a:rPr lang="fr-FR" sz="4000">
                <a:latin typeface="Times New Roman"/>
                <a:ea typeface="Times New Roman"/>
                <a:cs typeface="Times New Roman"/>
                <a:sym typeface="Times New Roman"/>
              </a:rPr>
              <a:t> ne s’applique pas que lorsque les variables suivent une </a:t>
            </a:r>
            <a:r>
              <a:rPr b="1" lang="fr-FR" sz="4000">
                <a:latin typeface="Times New Roman"/>
                <a:ea typeface="Times New Roman"/>
                <a:cs typeface="Times New Roman"/>
                <a:sym typeface="Times New Roman"/>
              </a:rPr>
              <a:t>loi normale </a:t>
            </a:r>
            <a:r>
              <a:rPr lang="fr-FR" sz="4000">
                <a:latin typeface="Times New Roman"/>
                <a:ea typeface="Times New Roman"/>
                <a:cs typeface="Times New Roman"/>
                <a:sym typeface="Times New Roman"/>
              </a:rPr>
              <a:t>et de variances égales.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8"/>
          <p:cNvSpPr txBox="1"/>
          <p:nvPr>
            <p:ph type="title"/>
          </p:nvPr>
        </p:nvSpPr>
        <p:spPr>
          <a:xfrm>
            <a:off x="1321525" y="534942"/>
            <a:ext cx="10515600" cy="7778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Times New Roman"/>
              <a:buNone/>
            </a:pPr>
            <a:r>
              <a:rPr b="1" lang="fr-FR">
                <a:solidFill>
                  <a:srgbClr val="FF0000"/>
                </a:solidFill>
                <a:latin typeface="Times New Roman"/>
                <a:ea typeface="Times New Roman"/>
                <a:cs typeface="Times New Roman"/>
                <a:sym typeface="Times New Roman"/>
              </a:rPr>
              <a:t>2. Deux variables qualitatives</a:t>
            </a:r>
            <a:endParaRPr/>
          </a:p>
        </p:txBody>
      </p:sp>
      <p:sp>
        <p:nvSpPr>
          <p:cNvPr id="200" name="Google Shape;200;p18"/>
          <p:cNvSpPr txBox="1"/>
          <p:nvPr>
            <p:ph idx="1" type="body"/>
          </p:nvPr>
        </p:nvSpPr>
        <p:spPr>
          <a:xfrm>
            <a:off x="838200" y="1600200"/>
            <a:ext cx="10515600" cy="45767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t/>
            </a:r>
            <a:endParaRPr sz="36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3600"/>
              <a:buChar char="•"/>
            </a:pPr>
            <a:r>
              <a:rPr lang="fr-FR" sz="3600">
                <a:latin typeface="Times New Roman"/>
                <a:ea typeface="Times New Roman"/>
                <a:cs typeface="Times New Roman"/>
                <a:sym typeface="Times New Roman"/>
              </a:rPr>
              <a:t>Pour tester l’existence d’un lien entre les modalités de deux variable qualitatives:</a:t>
            </a:r>
            <a:endParaRPr/>
          </a:p>
          <a:p>
            <a:pPr indent="-228600" lvl="1" marL="685800" rtl="0" algn="l">
              <a:lnSpc>
                <a:spcPct val="90000"/>
              </a:lnSpc>
              <a:spcBef>
                <a:spcPts val="500"/>
              </a:spcBef>
              <a:spcAft>
                <a:spcPts val="0"/>
              </a:spcAft>
              <a:buClr>
                <a:schemeClr val="dk1"/>
              </a:buClr>
              <a:buSzPts val="3200"/>
              <a:buFont typeface="Noto Sans"/>
              <a:buChar char="⮚"/>
            </a:pPr>
            <a:r>
              <a:rPr lang="fr-FR" sz="3200">
                <a:latin typeface="Times New Roman"/>
                <a:ea typeface="Times New Roman"/>
                <a:cs typeface="Times New Roman"/>
                <a:sym typeface="Times New Roman"/>
              </a:rPr>
              <a:t>On utilise de test de </a:t>
            </a:r>
            <a:r>
              <a:rPr b="1" lang="fr-FR" sz="3200">
                <a:latin typeface="Times New Roman"/>
                <a:ea typeface="Times New Roman"/>
                <a:cs typeface="Times New Roman"/>
                <a:sym typeface="Times New Roman"/>
              </a:rPr>
              <a:t>CHI-2.</a:t>
            </a:r>
            <a:endParaRPr/>
          </a:p>
          <a:p>
            <a:pPr indent="-228600" lvl="1" marL="685800" rtl="0" algn="l">
              <a:lnSpc>
                <a:spcPct val="90000"/>
              </a:lnSpc>
              <a:spcBef>
                <a:spcPts val="500"/>
              </a:spcBef>
              <a:spcAft>
                <a:spcPts val="0"/>
              </a:spcAft>
              <a:buClr>
                <a:schemeClr val="dk1"/>
              </a:buClr>
              <a:buSzPts val="3200"/>
              <a:buFont typeface="Noto Sans"/>
              <a:buChar char="⮚"/>
            </a:pPr>
            <a:r>
              <a:rPr lang="fr-FR" sz="3200">
                <a:latin typeface="Times New Roman"/>
                <a:ea typeface="Times New Roman"/>
                <a:cs typeface="Times New Roman"/>
                <a:sym typeface="Times New Roman"/>
              </a:rPr>
              <a:t>Une représentation graphique.</a:t>
            </a:r>
            <a:endParaRPr/>
          </a:p>
          <a:p>
            <a:pPr indent="0" lvl="0" marL="228600" rtl="0" algn="l">
              <a:lnSpc>
                <a:spcPct val="90000"/>
              </a:lnSpc>
              <a:spcBef>
                <a:spcPts val="1000"/>
              </a:spcBef>
              <a:spcAft>
                <a:spcPts val="0"/>
              </a:spcAft>
              <a:buClr>
                <a:schemeClr val="dk1"/>
              </a:buClr>
              <a:buSzPts val="3600"/>
              <a:buNone/>
            </a:pPr>
            <a:r>
              <a:t/>
            </a:r>
            <a:endParaRPr b="1" sz="36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9"/>
          <p:cNvSpPr txBox="1"/>
          <p:nvPr>
            <p:ph type="title"/>
          </p:nvPr>
        </p:nvSpPr>
        <p:spPr>
          <a:xfrm>
            <a:off x="1243148" y="469628"/>
            <a:ext cx="10515600" cy="8731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Tableau de contingence </a:t>
            </a:r>
            <a:endParaRPr/>
          </a:p>
        </p:txBody>
      </p:sp>
      <p:sp>
        <p:nvSpPr>
          <p:cNvPr id="206" name="Google Shape;206;p19"/>
          <p:cNvSpPr txBox="1"/>
          <p:nvPr>
            <p:ph idx="1" type="body"/>
          </p:nvPr>
        </p:nvSpPr>
        <p:spPr>
          <a:xfrm>
            <a:off x="838200" y="1378901"/>
            <a:ext cx="10515600" cy="53435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latin typeface="Times New Roman"/>
                <a:ea typeface="Times New Roman"/>
                <a:cs typeface="Times New Roman"/>
                <a:sym typeface="Times New Roman"/>
              </a:rPr>
              <a:t>Pour étudier la relation entre deux variables qualitatives, on construit d’abord un tableau appelé table de contingence ou tableau croisé.</a:t>
            </a:r>
            <a:endParaRPr/>
          </a:p>
        </p:txBody>
      </p:sp>
      <p:pic>
        <p:nvPicPr>
          <p:cNvPr id="207" name="Google Shape;207;p19"/>
          <p:cNvPicPr preferRelativeResize="0"/>
          <p:nvPr/>
        </p:nvPicPr>
        <p:blipFill rotWithShape="1">
          <a:blip r:embed="rId3">
            <a:alphaModFix/>
          </a:blip>
          <a:srcRect b="0" l="0" r="0" t="0"/>
          <a:stretch/>
        </p:blipFill>
        <p:spPr>
          <a:xfrm>
            <a:off x="3572289" y="2353917"/>
            <a:ext cx="5295900" cy="2743200"/>
          </a:xfrm>
          <a:prstGeom prst="rect">
            <a:avLst/>
          </a:prstGeom>
          <a:noFill/>
          <a:ln>
            <a:noFill/>
          </a:ln>
        </p:spPr>
      </p:pic>
      <p:sp>
        <p:nvSpPr>
          <p:cNvPr id="208" name="Google Shape;208;p19"/>
          <p:cNvSpPr/>
          <p:nvPr/>
        </p:nvSpPr>
        <p:spPr>
          <a:xfrm>
            <a:off x="500271" y="5545083"/>
            <a:ext cx="6096000" cy="1244956"/>
          </a:xfrm>
          <a:prstGeom prst="rect">
            <a:avLst/>
          </a:prstGeom>
          <a:blipFill rotWithShape="1">
            <a:blip r:embed="rId4">
              <a:alphaModFix/>
            </a:blip>
            <a:stretch>
              <a:fillRect b="-6860" l="0" r="0" t="-244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09" name="Google Shape;209;p19"/>
          <p:cNvSpPr txBox="1"/>
          <p:nvPr/>
        </p:nvSpPr>
        <p:spPr>
          <a:xfrm>
            <a:off x="4522305" y="5152153"/>
            <a:ext cx="4154556"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Calibri"/>
                <a:ea typeface="Calibri"/>
                <a:cs typeface="Calibri"/>
                <a:sym typeface="Calibri"/>
              </a:rPr>
              <a:t>Tableau de contingence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0"/>
          <p:cNvSpPr txBox="1"/>
          <p:nvPr>
            <p:ph type="title"/>
          </p:nvPr>
        </p:nvSpPr>
        <p:spPr>
          <a:xfrm>
            <a:off x="1269275" y="419365"/>
            <a:ext cx="10515600" cy="87726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Tableau d’effectifs corrigés</a:t>
            </a:r>
            <a:endParaRPr/>
          </a:p>
        </p:txBody>
      </p:sp>
      <p:sp>
        <p:nvSpPr>
          <p:cNvPr id="215" name="Google Shape;215;p20"/>
          <p:cNvSpPr txBox="1"/>
          <p:nvPr>
            <p:ph idx="1" type="body"/>
          </p:nvPr>
        </p:nvSpPr>
        <p:spPr>
          <a:xfrm>
            <a:off x="838200" y="1530626"/>
            <a:ext cx="10515600" cy="464633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latin typeface="Times New Roman"/>
                <a:ea typeface="Times New Roman"/>
                <a:cs typeface="Times New Roman"/>
                <a:sym typeface="Times New Roman"/>
              </a:rPr>
              <a:t>L’effectif corrigé se calcul ainsi:</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16" name="Google Shape;216;p20"/>
          <p:cNvSpPr txBox="1"/>
          <p:nvPr/>
        </p:nvSpPr>
        <p:spPr>
          <a:xfrm>
            <a:off x="5027542" y="2141883"/>
            <a:ext cx="1898790" cy="85760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217" name="Google Shape;217;p20"/>
          <p:cNvPicPr preferRelativeResize="0"/>
          <p:nvPr/>
        </p:nvPicPr>
        <p:blipFill rotWithShape="1">
          <a:blip r:embed="rId4">
            <a:alphaModFix/>
          </a:blip>
          <a:srcRect b="0" l="0" r="0" t="0"/>
          <a:stretch/>
        </p:blipFill>
        <p:spPr>
          <a:xfrm>
            <a:off x="3613465" y="3429000"/>
            <a:ext cx="5191125" cy="2609850"/>
          </a:xfrm>
          <a:prstGeom prst="rect">
            <a:avLst/>
          </a:prstGeom>
          <a:noFill/>
          <a:ln>
            <a:noFill/>
          </a:ln>
        </p:spPr>
      </p:pic>
      <p:sp>
        <p:nvSpPr>
          <p:cNvPr id="218" name="Google Shape;218;p20"/>
          <p:cNvSpPr/>
          <p:nvPr/>
        </p:nvSpPr>
        <p:spPr>
          <a:xfrm>
            <a:off x="1995576" y="2820585"/>
            <a:ext cx="1133061" cy="1828800"/>
          </a:xfrm>
          <a:prstGeom prst="curvedRightArrow">
            <a:avLst>
              <a:gd fmla="val 25000" name="adj1"/>
              <a:gd fmla="val 50000" name="adj2"/>
              <a:gd fmla="val 25000" name="adj3"/>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9" name="Google Shape;219;p20"/>
          <p:cNvSpPr txBox="1"/>
          <p:nvPr/>
        </p:nvSpPr>
        <p:spPr>
          <a:xfrm>
            <a:off x="4313583" y="5997060"/>
            <a:ext cx="4154556"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Calibri"/>
                <a:ea typeface="Calibri"/>
                <a:cs typeface="Calibri"/>
                <a:sym typeface="Calibri"/>
              </a:rPr>
              <a:t>Tableau d’effectifs corrigés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ph type="title"/>
          </p:nvPr>
        </p:nvSpPr>
        <p:spPr>
          <a:xfrm>
            <a:off x="1238320" y="497457"/>
            <a:ext cx="10515600" cy="9070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Test de Khi-deux</a:t>
            </a:r>
            <a:endParaRPr/>
          </a:p>
        </p:txBody>
      </p:sp>
      <p:sp>
        <p:nvSpPr>
          <p:cNvPr id="225" name="Google Shape;225;p21"/>
          <p:cNvSpPr txBox="1"/>
          <p:nvPr>
            <p:ph idx="1" type="body"/>
          </p:nvPr>
        </p:nvSpPr>
        <p:spPr>
          <a:xfrm>
            <a:off x="838200" y="1540565"/>
            <a:ext cx="10515600" cy="5029200"/>
          </a:xfrm>
          <a:prstGeom prst="rect">
            <a:avLst/>
          </a:prstGeom>
          <a:blipFill rotWithShape="1">
            <a:blip r:embed="rId3">
              <a:alphaModFix/>
            </a:blip>
            <a:stretch>
              <a:fillRect b="0" l="-1214" r="0" t="-2907"/>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fr-F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1071355" y="489423"/>
            <a:ext cx="10515600" cy="8474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Exemple</a:t>
            </a:r>
            <a:r>
              <a:rPr lang="fr-FR"/>
              <a:t>:</a:t>
            </a:r>
            <a:endParaRPr/>
          </a:p>
        </p:txBody>
      </p:sp>
      <p:pic>
        <p:nvPicPr>
          <p:cNvPr id="231" name="Google Shape;231;p22"/>
          <p:cNvPicPr preferRelativeResize="0"/>
          <p:nvPr>
            <p:ph idx="1" type="body"/>
          </p:nvPr>
        </p:nvPicPr>
        <p:blipFill rotWithShape="1">
          <a:blip r:embed="rId3">
            <a:alphaModFix/>
          </a:blip>
          <a:srcRect b="0" l="0" r="0" t="0"/>
          <a:stretch/>
        </p:blipFill>
        <p:spPr>
          <a:xfrm>
            <a:off x="214106" y="1441375"/>
            <a:ext cx="5734050" cy="1828800"/>
          </a:xfrm>
          <a:prstGeom prst="rect">
            <a:avLst/>
          </a:prstGeom>
          <a:noFill/>
          <a:ln>
            <a:noFill/>
          </a:ln>
        </p:spPr>
      </p:pic>
      <p:sp>
        <p:nvSpPr>
          <p:cNvPr id="232" name="Google Shape;232;p22"/>
          <p:cNvSpPr txBox="1"/>
          <p:nvPr/>
        </p:nvSpPr>
        <p:spPr>
          <a:xfrm>
            <a:off x="299417" y="3175810"/>
            <a:ext cx="564873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Calibri"/>
                <a:ea typeface="Calibri"/>
                <a:cs typeface="Calibri"/>
                <a:sym typeface="Calibri"/>
              </a:rPr>
              <a:t>Croisement entre l’exposition au produit chimique et l’état du système immunitaire</a:t>
            </a:r>
            <a:endParaRPr b="0" i="0" sz="1400" u="none" cap="none" strike="noStrike">
              <a:solidFill>
                <a:srgbClr val="000000"/>
              </a:solidFill>
              <a:latin typeface="Arial"/>
              <a:ea typeface="Arial"/>
              <a:cs typeface="Arial"/>
              <a:sym typeface="Arial"/>
            </a:endParaRPr>
          </a:p>
        </p:txBody>
      </p:sp>
      <p:sp>
        <p:nvSpPr>
          <p:cNvPr id="233" name="Google Shape;233;p22"/>
          <p:cNvSpPr/>
          <p:nvPr/>
        </p:nvSpPr>
        <p:spPr>
          <a:xfrm>
            <a:off x="5671932" y="2037522"/>
            <a:ext cx="848137" cy="337303"/>
          </a:xfrm>
          <a:prstGeom prst="curvedDownArrow">
            <a:avLst>
              <a:gd fmla="val 25000" name="adj1"/>
              <a:gd fmla="val 50000" name="adj2"/>
              <a:gd fmla="val 25000" name="adj3"/>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34" name="Google Shape;234;p22"/>
          <p:cNvPicPr preferRelativeResize="0"/>
          <p:nvPr/>
        </p:nvPicPr>
        <p:blipFill rotWithShape="1">
          <a:blip r:embed="rId4">
            <a:alphaModFix/>
          </a:blip>
          <a:srcRect b="0" l="0" r="0" t="0"/>
          <a:stretch/>
        </p:blipFill>
        <p:spPr>
          <a:xfrm>
            <a:off x="6520069" y="1441375"/>
            <a:ext cx="5457825" cy="1828800"/>
          </a:xfrm>
          <a:prstGeom prst="rect">
            <a:avLst/>
          </a:prstGeom>
          <a:noFill/>
          <a:ln>
            <a:noFill/>
          </a:ln>
        </p:spPr>
      </p:pic>
      <p:sp>
        <p:nvSpPr>
          <p:cNvPr id="235" name="Google Shape;235;p22"/>
          <p:cNvSpPr txBox="1"/>
          <p:nvPr/>
        </p:nvSpPr>
        <p:spPr>
          <a:xfrm>
            <a:off x="6329155" y="3270175"/>
            <a:ext cx="564873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Calibri"/>
                <a:ea typeface="Calibri"/>
                <a:cs typeface="Calibri"/>
                <a:sym typeface="Calibri"/>
              </a:rPr>
              <a:t>Tableau de contingence théorique</a:t>
            </a:r>
            <a:endParaRPr b="0" i="0" sz="1800" u="none" cap="none" strike="noStrike">
              <a:solidFill>
                <a:schemeClr val="dk1"/>
              </a:solidFill>
              <a:latin typeface="Calibri"/>
              <a:ea typeface="Calibri"/>
              <a:cs typeface="Calibri"/>
              <a:sym typeface="Calibri"/>
            </a:endParaRPr>
          </a:p>
        </p:txBody>
      </p:sp>
      <p:sp>
        <p:nvSpPr>
          <p:cNvPr id="236" name="Google Shape;236;p22"/>
          <p:cNvSpPr/>
          <p:nvPr/>
        </p:nvSpPr>
        <p:spPr>
          <a:xfrm>
            <a:off x="612283" y="3900355"/>
            <a:ext cx="4779835" cy="632096"/>
          </a:xfrm>
          <a:prstGeom prst="rect">
            <a:avLst/>
          </a:prstGeom>
          <a:blipFill rotWithShape="1">
            <a:blip r:embed="rId5">
              <a:alphaModFix/>
            </a:blip>
            <a:stretch>
              <a:fillRect b="0" l="-101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237" name="Google Shape;237;p22"/>
          <p:cNvPicPr preferRelativeResize="0"/>
          <p:nvPr/>
        </p:nvPicPr>
        <p:blipFill rotWithShape="1">
          <a:blip r:embed="rId6">
            <a:alphaModFix/>
          </a:blip>
          <a:srcRect b="0" l="0" r="0" t="0"/>
          <a:stretch/>
        </p:blipFill>
        <p:spPr>
          <a:xfrm>
            <a:off x="2044285" y="5500764"/>
            <a:ext cx="6920810" cy="534573"/>
          </a:xfrm>
          <a:prstGeom prst="rect">
            <a:avLst/>
          </a:prstGeom>
          <a:noFill/>
          <a:ln>
            <a:noFill/>
          </a:ln>
        </p:spPr>
      </p:pic>
      <p:sp>
        <p:nvSpPr>
          <p:cNvPr id="238" name="Google Shape;238;p22"/>
          <p:cNvSpPr txBox="1"/>
          <p:nvPr/>
        </p:nvSpPr>
        <p:spPr>
          <a:xfrm>
            <a:off x="562588" y="5093960"/>
            <a:ext cx="251854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Calibri"/>
                <a:ea typeface="Calibri"/>
                <a:cs typeface="Calibri"/>
                <a:sym typeface="Calibri"/>
              </a:rPr>
              <a:t>Application numérique:</a:t>
            </a:r>
            <a:endParaRPr b="0" i="0" sz="1400" u="none" cap="none" strike="noStrike">
              <a:solidFill>
                <a:srgbClr val="000000"/>
              </a:solidFill>
              <a:latin typeface="Arial"/>
              <a:ea typeface="Arial"/>
              <a:cs typeface="Arial"/>
              <a:sym typeface="Arial"/>
            </a:endParaRPr>
          </a:p>
        </p:txBody>
      </p:sp>
      <p:sp>
        <p:nvSpPr>
          <p:cNvPr id="239" name="Google Shape;239;p22"/>
          <p:cNvSpPr txBox="1"/>
          <p:nvPr/>
        </p:nvSpPr>
        <p:spPr>
          <a:xfrm>
            <a:off x="612282" y="6072809"/>
            <a:ext cx="8352813" cy="369332"/>
          </a:xfrm>
          <a:prstGeom prst="rect">
            <a:avLst/>
          </a:prstGeom>
          <a:blipFill rotWithShape="1">
            <a:blip r:embed="rId7">
              <a:alphaModFix/>
            </a:blip>
            <a:stretch>
              <a:fillRect b="-24587" l="-582" r="0" t="-819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0" name="Google Shape;240;p22"/>
          <p:cNvSpPr txBox="1"/>
          <p:nvPr/>
        </p:nvSpPr>
        <p:spPr>
          <a:xfrm>
            <a:off x="562588" y="4506099"/>
            <a:ext cx="9193696" cy="649537"/>
          </a:xfrm>
          <a:prstGeom prst="rect">
            <a:avLst/>
          </a:prstGeom>
          <a:blipFill rotWithShape="1">
            <a:blip r:embed="rId8">
              <a:alphaModFix/>
            </a:blip>
            <a:stretch>
              <a:fillRect b="-14015" l="-529" r="0" t="-373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ph type="title"/>
          </p:nvPr>
        </p:nvSpPr>
        <p:spPr>
          <a:xfrm>
            <a:off x="1356071" y="417377"/>
            <a:ext cx="10515600" cy="87726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Illustration</a:t>
            </a:r>
            <a:r>
              <a:rPr lang="fr-FR"/>
              <a:t> </a:t>
            </a:r>
            <a:r>
              <a:rPr b="1" lang="fr-FR">
                <a:latin typeface="Times New Roman"/>
                <a:ea typeface="Times New Roman"/>
                <a:cs typeface="Times New Roman"/>
                <a:sym typeface="Times New Roman"/>
              </a:rPr>
              <a:t>graphique</a:t>
            </a:r>
            <a:endParaRPr/>
          </a:p>
        </p:txBody>
      </p:sp>
      <p:sp>
        <p:nvSpPr>
          <p:cNvPr id="246" name="Google Shape;246;p23"/>
          <p:cNvSpPr txBox="1"/>
          <p:nvPr>
            <p:ph idx="1" type="body"/>
          </p:nvPr>
        </p:nvSpPr>
        <p:spPr>
          <a:xfrm>
            <a:off x="838200" y="1242392"/>
            <a:ext cx="10515600" cy="493457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Graphiquement, nous pouvons aussi déduire l’existence de relation entre deux variables qualitatives en utilisant:</a:t>
            </a:r>
            <a:endParaRPr/>
          </a:p>
          <a:p>
            <a:pPr indent="-50800" lvl="0" marL="228600" rtl="0" algn="l">
              <a:lnSpc>
                <a:spcPct val="90000"/>
              </a:lnSpc>
              <a:spcBef>
                <a:spcPts val="1000"/>
              </a:spcBef>
              <a:spcAft>
                <a:spcPts val="0"/>
              </a:spcAft>
              <a:buClr>
                <a:schemeClr val="dk1"/>
              </a:buClr>
              <a:buSzPts val="2800"/>
              <a:buNone/>
            </a:pPr>
            <a:r>
              <a:t/>
            </a:r>
            <a:endParaRPr/>
          </a:p>
          <a:p>
            <a:pPr indent="0" lvl="1" marL="457200" rtl="0" algn="l">
              <a:lnSpc>
                <a:spcPct val="90000"/>
              </a:lnSpc>
              <a:spcBef>
                <a:spcPts val="500"/>
              </a:spcBef>
              <a:spcAft>
                <a:spcPts val="0"/>
              </a:spcAft>
              <a:buClr>
                <a:schemeClr val="dk1"/>
              </a:buClr>
              <a:buSzPts val="2400"/>
              <a:buNone/>
            </a:pPr>
            <a:r>
              <a:rPr lang="fr-FR"/>
              <a:t>le diagramme en barre regroupé                      Diagramme en mosaïque </a:t>
            </a:r>
            <a:endParaRPr/>
          </a:p>
        </p:txBody>
      </p:sp>
      <p:pic>
        <p:nvPicPr>
          <p:cNvPr id="247" name="Google Shape;247;p23"/>
          <p:cNvPicPr preferRelativeResize="0"/>
          <p:nvPr/>
        </p:nvPicPr>
        <p:blipFill rotWithShape="1">
          <a:blip r:embed="rId3">
            <a:alphaModFix/>
          </a:blip>
          <a:srcRect b="0" l="0" r="0" t="0"/>
          <a:stretch/>
        </p:blipFill>
        <p:spPr>
          <a:xfrm>
            <a:off x="1356071" y="3089483"/>
            <a:ext cx="4099476" cy="3409121"/>
          </a:xfrm>
          <a:prstGeom prst="rect">
            <a:avLst/>
          </a:prstGeom>
          <a:noFill/>
          <a:ln>
            <a:noFill/>
          </a:ln>
        </p:spPr>
      </p:pic>
      <p:cxnSp>
        <p:nvCxnSpPr>
          <p:cNvPr id="248" name="Google Shape;248;p23"/>
          <p:cNvCxnSpPr/>
          <p:nvPr/>
        </p:nvCxnSpPr>
        <p:spPr>
          <a:xfrm>
            <a:off x="5973418" y="2599081"/>
            <a:ext cx="0" cy="3888000"/>
          </a:xfrm>
          <a:prstGeom prst="straightConnector1">
            <a:avLst/>
          </a:prstGeom>
          <a:noFill/>
          <a:ln cap="flat" cmpd="sng" w="76200">
            <a:solidFill>
              <a:schemeClr val="dk1"/>
            </a:solidFill>
            <a:prstDash val="solid"/>
            <a:miter lim="800000"/>
            <a:headEnd len="sm" w="sm" type="none"/>
            <a:tailEnd len="sm" w="sm" type="none"/>
          </a:ln>
        </p:spPr>
      </p:cxnSp>
      <p:pic>
        <p:nvPicPr>
          <p:cNvPr id="249" name="Google Shape;249;p23"/>
          <p:cNvPicPr preferRelativeResize="0"/>
          <p:nvPr/>
        </p:nvPicPr>
        <p:blipFill rotWithShape="1">
          <a:blip r:embed="rId4">
            <a:alphaModFix/>
          </a:blip>
          <a:srcRect b="0" l="0" r="0" t="0"/>
          <a:stretch/>
        </p:blipFill>
        <p:spPr>
          <a:xfrm>
            <a:off x="6218583" y="3089483"/>
            <a:ext cx="4876800" cy="325326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14b83c9e7e1_0_13"/>
          <p:cNvSpPr txBox="1"/>
          <p:nvPr>
            <p:ph type="title"/>
          </p:nvPr>
        </p:nvSpPr>
        <p:spPr>
          <a:xfrm>
            <a:off x="1356071" y="417377"/>
            <a:ext cx="10515600" cy="877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Illustration</a:t>
            </a:r>
            <a:r>
              <a:rPr lang="fr-FR"/>
              <a:t> </a:t>
            </a:r>
            <a:r>
              <a:rPr b="1" lang="fr-FR">
                <a:latin typeface="Times New Roman"/>
                <a:ea typeface="Times New Roman"/>
                <a:cs typeface="Times New Roman"/>
                <a:sym typeface="Times New Roman"/>
              </a:rPr>
              <a:t>graphique</a:t>
            </a:r>
            <a:endParaRPr/>
          </a:p>
        </p:txBody>
      </p:sp>
      <p:sp>
        <p:nvSpPr>
          <p:cNvPr id="255" name="Google Shape;255;g14b83c9e7e1_0_13"/>
          <p:cNvSpPr txBox="1"/>
          <p:nvPr/>
        </p:nvSpPr>
        <p:spPr>
          <a:xfrm>
            <a:off x="739900" y="1520400"/>
            <a:ext cx="11301900" cy="1246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fr-FR" sz="2300" u="none" cap="none" strike="noStrike">
                <a:solidFill>
                  <a:schemeClr val="dk1"/>
                </a:solidFill>
                <a:latin typeface="Times New Roman"/>
                <a:ea typeface="Times New Roman"/>
                <a:cs typeface="Times New Roman"/>
                <a:sym typeface="Times New Roman"/>
              </a:rPr>
              <a:t>Un diagramme en mosaïque à 2 dimensions est une visualisation d’un tableau de contingence. Le graphique symbolise, les effectifs d’un tableau de contingence, par des mosaïques, dont la surface est proportionnelle aux effectifs des cellules du tableau</a:t>
            </a:r>
            <a:endParaRPr b="0" i="0" sz="2300" u="none" cap="none" strike="noStrike">
              <a:solidFill>
                <a:schemeClr val="dk1"/>
              </a:solidFill>
              <a:latin typeface="Times New Roman"/>
              <a:ea typeface="Times New Roman"/>
              <a:cs typeface="Times New Roman"/>
              <a:sym typeface="Times New Roman"/>
            </a:endParaRPr>
          </a:p>
        </p:txBody>
      </p:sp>
      <p:pic>
        <p:nvPicPr>
          <p:cNvPr id="256" name="Google Shape;256;g14b83c9e7e1_0_13"/>
          <p:cNvPicPr preferRelativeResize="0"/>
          <p:nvPr/>
        </p:nvPicPr>
        <p:blipFill rotWithShape="1">
          <a:blip r:embed="rId3">
            <a:alphaModFix/>
          </a:blip>
          <a:srcRect b="0" l="0" r="0" t="0"/>
          <a:stretch/>
        </p:blipFill>
        <p:spPr>
          <a:xfrm>
            <a:off x="1254950" y="3509375"/>
            <a:ext cx="3950475" cy="3037200"/>
          </a:xfrm>
          <a:prstGeom prst="rect">
            <a:avLst/>
          </a:prstGeom>
          <a:noFill/>
          <a:ln>
            <a:noFill/>
          </a:ln>
        </p:spPr>
      </p:pic>
      <p:pic>
        <p:nvPicPr>
          <p:cNvPr id="257" name="Google Shape;257;g14b83c9e7e1_0_13"/>
          <p:cNvPicPr preferRelativeResize="0"/>
          <p:nvPr/>
        </p:nvPicPr>
        <p:blipFill rotWithShape="1">
          <a:blip r:embed="rId4">
            <a:alphaModFix/>
          </a:blip>
          <a:srcRect b="0" l="0" r="0" t="0"/>
          <a:stretch/>
        </p:blipFill>
        <p:spPr>
          <a:xfrm>
            <a:off x="6710650" y="3509375"/>
            <a:ext cx="4313175" cy="3139876"/>
          </a:xfrm>
          <a:prstGeom prst="rect">
            <a:avLst/>
          </a:prstGeom>
          <a:noFill/>
          <a:ln>
            <a:noFill/>
          </a:ln>
        </p:spPr>
      </p:pic>
      <p:sp>
        <p:nvSpPr>
          <p:cNvPr id="258" name="Google Shape;258;g14b83c9e7e1_0_13"/>
          <p:cNvSpPr txBox="1"/>
          <p:nvPr/>
        </p:nvSpPr>
        <p:spPr>
          <a:xfrm>
            <a:off x="8291225" y="2993025"/>
            <a:ext cx="2853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fr-FR" sz="1700" u="none" cap="none" strike="noStrike">
                <a:solidFill>
                  <a:srgbClr val="FF0000"/>
                </a:solidFill>
                <a:latin typeface="Calibri"/>
                <a:ea typeface="Calibri"/>
                <a:cs typeface="Calibri"/>
                <a:sym typeface="Calibri"/>
              </a:rPr>
              <a:t>Sous H0</a:t>
            </a:r>
            <a:endParaRPr b="1" i="0" sz="1700" u="none" cap="none" strike="noStrike">
              <a:solidFill>
                <a:srgbClr val="FF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4"/>
          <p:cNvSpPr txBox="1"/>
          <p:nvPr>
            <p:ph type="title"/>
          </p:nvPr>
        </p:nvSpPr>
        <p:spPr>
          <a:xfrm>
            <a:off x="1204912" y="486228"/>
            <a:ext cx="11610975" cy="79692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0000"/>
              </a:buClr>
              <a:buSzPts val="4000"/>
              <a:buFont typeface="Times New Roman"/>
              <a:buNone/>
            </a:pPr>
            <a:r>
              <a:rPr b="1" lang="fr-FR" sz="4000">
                <a:solidFill>
                  <a:srgbClr val="FF0000"/>
                </a:solidFill>
                <a:latin typeface="Times New Roman"/>
                <a:ea typeface="Times New Roman"/>
                <a:cs typeface="Times New Roman"/>
                <a:sym typeface="Times New Roman"/>
              </a:rPr>
              <a:t>3.Une variable quantitative vs qualitative</a:t>
            </a:r>
            <a:endParaRPr sz="4000">
              <a:solidFill>
                <a:srgbClr val="FF0000"/>
              </a:solidFill>
              <a:latin typeface="Times New Roman"/>
              <a:ea typeface="Times New Roman"/>
              <a:cs typeface="Times New Roman"/>
              <a:sym typeface="Times New Roman"/>
            </a:endParaRPr>
          </a:p>
        </p:txBody>
      </p:sp>
      <p:sp>
        <p:nvSpPr>
          <p:cNvPr id="264" name="Google Shape;264;p24"/>
          <p:cNvSpPr txBox="1"/>
          <p:nvPr>
            <p:ph idx="1" type="body"/>
          </p:nvPr>
        </p:nvSpPr>
        <p:spPr>
          <a:xfrm>
            <a:off x="581024" y="1533525"/>
            <a:ext cx="10829925" cy="4902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latin typeface="Times New Roman"/>
                <a:ea typeface="Times New Roman"/>
                <a:cs typeface="Times New Roman"/>
                <a:sym typeface="Times New Roman"/>
              </a:rPr>
              <a:t>Croiser une variable quantitative et une variable qualitative, c’est essayer de voir si les valeurs de la variable quantitative se </a:t>
            </a:r>
            <a:r>
              <a:rPr b="1" lang="fr-FR">
                <a:solidFill>
                  <a:srgbClr val="FF0000"/>
                </a:solidFill>
                <a:latin typeface="Times New Roman"/>
                <a:ea typeface="Times New Roman"/>
                <a:cs typeface="Times New Roman"/>
                <a:sym typeface="Times New Roman"/>
              </a:rPr>
              <a:t>répartissent</a:t>
            </a:r>
            <a:r>
              <a:rPr lang="fr-FR">
                <a:latin typeface="Times New Roman"/>
                <a:ea typeface="Times New Roman"/>
                <a:cs typeface="Times New Roman"/>
                <a:sym typeface="Times New Roman"/>
              </a:rPr>
              <a:t> </a:t>
            </a:r>
            <a:r>
              <a:rPr b="1" lang="fr-FR">
                <a:solidFill>
                  <a:srgbClr val="FF0000"/>
                </a:solidFill>
                <a:latin typeface="Times New Roman"/>
                <a:ea typeface="Times New Roman"/>
                <a:cs typeface="Times New Roman"/>
                <a:sym typeface="Times New Roman"/>
              </a:rPr>
              <a:t>différemment</a:t>
            </a:r>
            <a:r>
              <a:rPr lang="fr-FR">
                <a:latin typeface="Times New Roman"/>
                <a:ea typeface="Times New Roman"/>
                <a:cs typeface="Times New Roman"/>
                <a:sym typeface="Times New Roman"/>
              </a:rPr>
              <a:t> selon la catégorie d’appartenance de la variable qualitative.</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Char char="•"/>
            </a:pPr>
            <a:r>
              <a:rPr lang="fr-FR">
                <a:latin typeface="Times New Roman"/>
                <a:ea typeface="Times New Roman"/>
                <a:cs typeface="Times New Roman"/>
                <a:sym typeface="Times New Roman"/>
              </a:rPr>
              <a:t>Pour étudier la relation entre une variable qualitative et une variable quantitative:</a:t>
            </a:r>
            <a:endParaRPr/>
          </a:p>
          <a:p>
            <a:pPr indent="-228600" lvl="1" marL="685800" rtl="0" algn="l">
              <a:lnSpc>
                <a:spcPct val="90000"/>
              </a:lnSpc>
              <a:spcBef>
                <a:spcPts val="500"/>
              </a:spcBef>
              <a:spcAft>
                <a:spcPts val="0"/>
              </a:spcAft>
              <a:buClr>
                <a:schemeClr val="dk1"/>
              </a:buClr>
              <a:buSzPts val="2400"/>
              <a:buFont typeface="Noto Sans"/>
              <a:buChar char="⮚"/>
            </a:pPr>
            <a:r>
              <a:rPr lang="fr-FR">
                <a:latin typeface="Times New Roman"/>
                <a:ea typeface="Times New Roman"/>
                <a:cs typeface="Times New Roman"/>
                <a:sym typeface="Times New Roman"/>
              </a:rPr>
              <a:t>on utilise la boite à moustache.</a:t>
            </a:r>
            <a:endParaRPr/>
          </a:p>
          <a:p>
            <a:pPr indent="-228600" lvl="1" marL="685800" rtl="0" algn="l">
              <a:lnSpc>
                <a:spcPct val="90000"/>
              </a:lnSpc>
              <a:spcBef>
                <a:spcPts val="500"/>
              </a:spcBef>
              <a:spcAft>
                <a:spcPts val="0"/>
              </a:spcAft>
              <a:buClr>
                <a:schemeClr val="dk1"/>
              </a:buClr>
              <a:buSzPts val="2400"/>
              <a:buFont typeface="Noto Sans"/>
              <a:buChar char="⮚"/>
            </a:pPr>
            <a:r>
              <a:rPr lang="fr-FR">
                <a:latin typeface="Times New Roman"/>
                <a:ea typeface="Times New Roman"/>
                <a:cs typeface="Times New Roman"/>
                <a:sym typeface="Times New Roman"/>
              </a:rPr>
              <a:t>Un test statistique.</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5"/>
          <p:cNvSpPr txBox="1"/>
          <p:nvPr>
            <p:ph type="title"/>
          </p:nvPr>
        </p:nvSpPr>
        <p:spPr>
          <a:xfrm>
            <a:off x="1217023" y="508817"/>
            <a:ext cx="10515600" cy="863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Illustration graphique</a:t>
            </a:r>
            <a:endParaRPr/>
          </a:p>
        </p:txBody>
      </p:sp>
      <p:sp>
        <p:nvSpPr>
          <p:cNvPr id="270" name="Google Shape;270;p25"/>
          <p:cNvSpPr txBox="1"/>
          <p:nvPr>
            <p:ph idx="1" type="body"/>
          </p:nvPr>
        </p:nvSpPr>
        <p:spPr>
          <a:xfrm>
            <a:off x="466725" y="1457326"/>
            <a:ext cx="11048999" cy="484822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latin typeface="Times New Roman"/>
                <a:ea typeface="Times New Roman"/>
                <a:cs typeface="Times New Roman"/>
                <a:sym typeface="Times New Roman"/>
              </a:rPr>
              <a:t>l’idéal est de commencer par une représentation graphique de type « boîte à moustache »  pour chacune des sous-populations.</a:t>
            </a:r>
            <a:endParaRPr/>
          </a:p>
          <a:p>
            <a:pPr indent="-228600" lvl="0" marL="228600" rtl="0" algn="l">
              <a:lnSpc>
                <a:spcPct val="90000"/>
              </a:lnSpc>
              <a:spcBef>
                <a:spcPts val="1000"/>
              </a:spcBef>
              <a:spcAft>
                <a:spcPts val="0"/>
              </a:spcAft>
              <a:buClr>
                <a:schemeClr val="dk1"/>
              </a:buClr>
              <a:buSzPts val="2800"/>
              <a:buChar char="•"/>
            </a:pPr>
            <a:r>
              <a:rPr lang="fr-FR">
                <a:latin typeface="Times New Roman"/>
                <a:ea typeface="Times New Roman"/>
                <a:cs typeface="Times New Roman"/>
                <a:sym typeface="Times New Roman"/>
              </a:rPr>
              <a:t>on veut en général savoir si la distribution des valeurs de la variable quantitative est la même selon les modalités de la variable qualitative (sous-populations)</a:t>
            </a:r>
            <a:endParaRPr/>
          </a:p>
        </p:txBody>
      </p:sp>
      <p:pic>
        <p:nvPicPr>
          <p:cNvPr id="271" name="Google Shape;271;p25"/>
          <p:cNvPicPr preferRelativeResize="0"/>
          <p:nvPr/>
        </p:nvPicPr>
        <p:blipFill rotWithShape="1">
          <a:blip r:embed="rId3">
            <a:alphaModFix/>
          </a:blip>
          <a:srcRect b="0" l="0" r="0" t="0"/>
          <a:stretch/>
        </p:blipFill>
        <p:spPr>
          <a:xfrm>
            <a:off x="1371600" y="3546476"/>
            <a:ext cx="8943976" cy="29876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14b83c9e7e1_0_46"/>
          <p:cNvSpPr txBox="1"/>
          <p:nvPr>
            <p:ph type="title"/>
          </p:nvPr>
        </p:nvSpPr>
        <p:spPr>
          <a:xfrm>
            <a:off x="1230086" y="587195"/>
            <a:ext cx="10515600" cy="711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Test de Statistique</a:t>
            </a:r>
            <a:endParaRPr/>
          </a:p>
        </p:txBody>
      </p:sp>
      <p:sp>
        <p:nvSpPr>
          <p:cNvPr id="277" name="Google Shape;277;g14b83c9e7e1_0_46"/>
          <p:cNvSpPr txBox="1"/>
          <p:nvPr/>
        </p:nvSpPr>
        <p:spPr>
          <a:xfrm>
            <a:off x="372825" y="1821650"/>
            <a:ext cx="11186700" cy="434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fr-FR" sz="2400" u="none" cap="none" strike="noStrike">
                <a:solidFill>
                  <a:schemeClr val="dk1"/>
                </a:solidFill>
                <a:latin typeface="Times New Roman"/>
                <a:ea typeface="Times New Roman"/>
                <a:cs typeface="Times New Roman"/>
                <a:sym typeface="Times New Roman"/>
              </a:rPr>
              <a:t>Le test le plus utilisé pour tester la liaison entre une variable quantitative et une variable qualitative à deux (2) modalités est </a:t>
            </a:r>
            <a:r>
              <a:rPr b="0" i="0" lang="fr-FR" sz="2400" u="none" cap="none" strike="noStrike">
                <a:solidFill>
                  <a:srgbClr val="FF0000"/>
                </a:solidFill>
                <a:latin typeface="Times New Roman"/>
                <a:ea typeface="Times New Roman"/>
                <a:cs typeface="Times New Roman"/>
                <a:sym typeface="Times New Roman"/>
              </a:rPr>
              <a:t>le test de Student</a:t>
            </a:r>
            <a:r>
              <a:rPr b="0" i="0" lang="fr-FR" sz="2400" u="none" cap="none" strike="noStrike">
                <a:solidFill>
                  <a:schemeClr val="dk1"/>
                </a:solidFill>
                <a:latin typeface="Times New Roman"/>
                <a:ea typeface="Times New Roman"/>
                <a:cs typeface="Times New Roman"/>
                <a:sym typeface="Times New Roman"/>
              </a:rPr>
              <a:t> (alternative test de Man-Withney).</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60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600"/>
              </a:spcBef>
              <a:spcAft>
                <a:spcPts val="0"/>
              </a:spcAft>
              <a:buClr>
                <a:srgbClr val="000000"/>
              </a:buClr>
              <a:buSzPts val="2400"/>
              <a:buFont typeface="Arial"/>
              <a:buNone/>
            </a:pPr>
            <a:r>
              <a:rPr b="0" i="0" lang="fr-FR" sz="2400" u="none" cap="none" strike="noStrike">
                <a:solidFill>
                  <a:schemeClr val="dk1"/>
                </a:solidFill>
                <a:latin typeface="Times New Roman"/>
                <a:ea typeface="Times New Roman"/>
                <a:cs typeface="Times New Roman"/>
                <a:sym typeface="Times New Roman"/>
              </a:rPr>
              <a:t>Pour une variable qualitative avec plus de deux modalités, on fait une </a:t>
            </a:r>
            <a:r>
              <a:rPr b="0" i="0" lang="fr-FR" sz="2400" u="none" cap="none" strike="noStrike">
                <a:solidFill>
                  <a:srgbClr val="FF0000"/>
                </a:solidFill>
                <a:latin typeface="Times New Roman"/>
                <a:ea typeface="Times New Roman"/>
                <a:cs typeface="Times New Roman"/>
                <a:sym typeface="Times New Roman"/>
              </a:rPr>
              <a:t>ANOVA (Analysis Of Variance)</a:t>
            </a:r>
            <a:r>
              <a:rPr b="0" i="0" lang="fr-FR" sz="2400" u="none" cap="none" strike="noStrike">
                <a:solidFill>
                  <a:schemeClr val="dk1"/>
                </a:solidFill>
                <a:latin typeface="Times New Roman"/>
                <a:ea typeface="Times New Roman"/>
                <a:cs typeface="Times New Roman"/>
                <a:sym typeface="Times New Roman"/>
              </a:rPr>
              <a:t> :analyse de la variance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60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600"/>
              </a:spcBef>
              <a:spcAft>
                <a:spcPts val="1600"/>
              </a:spcAft>
              <a:buClr>
                <a:srgbClr val="000000"/>
              </a:buClr>
              <a:buSzPts val="2400"/>
              <a:buFont typeface="Arial"/>
              <a:buNone/>
            </a:pPr>
            <a:r>
              <a:rPr b="0" i="0" lang="fr-FR" sz="2400" u="none" cap="none" strike="noStrike">
                <a:solidFill>
                  <a:schemeClr val="dk1"/>
                </a:solidFill>
                <a:latin typeface="Times New Roman"/>
                <a:ea typeface="Times New Roman"/>
                <a:cs typeface="Times New Roman"/>
                <a:sym typeface="Times New Roman"/>
              </a:rPr>
              <a:t>Les tests de Student et ANOVA requièrent certaines conditions sur la distribution de probabilité des données (On parle de test paramétrique).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6"/>
          <p:cNvSpPr txBox="1"/>
          <p:nvPr>
            <p:ph type="title"/>
          </p:nvPr>
        </p:nvSpPr>
        <p:spPr>
          <a:xfrm>
            <a:off x="1230086" y="587195"/>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Test de Statistique</a:t>
            </a:r>
            <a:endParaRPr/>
          </a:p>
        </p:txBody>
      </p:sp>
      <p:sp>
        <p:nvSpPr>
          <p:cNvPr id="283" name="Google Shape;283;p26"/>
          <p:cNvSpPr txBox="1"/>
          <p:nvPr>
            <p:ph idx="1" type="body"/>
          </p:nvPr>
        </p:nvSpPr>
        <p:spPr>
          <a:xfrm>
            <a:off x="762000" y="1409701"/>
            <a:ext cx="10515600" cy="5781674"/>
          </a:xfrm>
          <a:prstGeom prst="rect">
            <a:avLst/>
          </a:prstGeom>
          <a:blipFill rotWithShape="1">
            <a:blip r:embed="rId3">
              <a:alphaModFix/>
            </a:blip>
            <a:stretch>
              <a:fillRect b="0" l="-1157" r="0" t="-178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fr-F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14b83c9e7e1_0_54"/>
          <p:cNvSpPr txBox="1"/>
          <p:nvPr>
            <p:ph type="title"/>
          </p:nvPr>
        </p:nvSpPr>
        <p:spPr>
          <a:xfrm>
            <a:off x="1230086" y="587195"/>
            <a:ext cx="10515600" cy="711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Times New Roman"/>
              <a:buNone/>
            </a:pPr>
            <a:r>
              <a:rPr b="1" lang="fr-FR">
                <a:latin typeface="Times New Roman"/>
                <a:ea typeface="Times New Roman"/>
                <a:cs typeface="Times New Roman"/>
                <a:sym typeface="Times New Roman"/>
              </a:rPr>
              <a:t>Test de Statistique</a:t>
            </a:r>
            <a:endParaRPr/>
          </a:p>
        </p:txBody>
      </p:sp>
      <p:pic>
        <p:nvPicPr>
          <p:cNvPr id="289" name="Google Shape;289;g14b83c9e7e1_0_54"/>
          <p:cNvPicPr preferRelativeResize="0"/>
          <p:nvPr/>
        </p:nvPicPr>
        <p:blipFill rotWithShape="1">
          <a:blip r:embed="rId3">
            <a:alphaModFix/>
          </a:blip>
          <a:srcRect b="0" l="0" r="0" t="0"/>
          <a:stretch/>
        </p:blipFill>
        <p:spPr>
          <a:xfrm>
            <a:off x="1438438" y="1450895"/>
            <a:ext cx="8277225" cy="4686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2019-10-07T09:06:46Z</dcterms:created>
  <dc:creator>Utilisateur Windows</dc:creator>
</cp:coreProperties>
</file>