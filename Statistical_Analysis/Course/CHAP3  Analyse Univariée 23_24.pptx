
<file path=[Content_Types].xml><?xml version="1.0" encoding="utf-8"?>
<Types xmlns="http://schemas.openxmlformats.org/package/2006/content-types">
  <Default ContentType="image/jpeg" Extension="jpg"/>
  <Default ContentType="application/vnd.openxmlformats-officedocument.vmlDrawing" Extension="vml"/>
  <Default ContentType="application/x-fontdata" Extension="fntdata"/>
  <Default ContentType="application/xml" Extension="xml"/>
  <Default ContentType="image/png" Extension="png"/>
  <Default ContentType="application/vnd.openxmlformats-officedocument.wordprocessingml.document" Extension="docx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wordprocessingml.document" PartName="/ppt/embeddings/Microsoft_Office_Word_Document1.docx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</p:sldIdLst>
  <p:sldSz cy="6858000" cx="12192000"/>
  <p:notesSz cx="6858000" cy="9144000"/>
  <p:embeddedFontLst>
    <p:embeddedFont>
      <p:font typeface="Teko"/>
      <p:regular r:id="rId59"/>
      <p:bold r:id="rId60"/>
    </p:embeddedFont>
    <p:embeddedFont>
      <p:font typeface="Tahoma"/>
      <p:regular r:id="rId61"/>
      <p:bold r:id="rId62"/>
    </p:embeddedFont>
    <p:embeddedFont>
      <p:font typeface="Lemon"/>
      <p:regular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64" roundtripDataSignature="AMtx7miIRDE6p1G8eeqfvkHTa5bqya7D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Tahoma-bold.fntdata"/><Relationship Id="rId61" Type="http://schemas.openxmlformats.org/officeDocument/2006/relationships/font" Target="fonts/Tahoma-regular.fntdata"/><Relationship Id="rId20" Type="http://schemas.openxmlformats.org/officeDocument/2006/relationships/slide" Target="slides/slide15.xml"/><Relationship Id="rId64" Type="http://customschemas.google.com/relationships/presentationmetadata" Target="metadata"/><Relationship Id="rId63" Type="http://schemas.openxmlformats.org/officeDocument/2006/relationships/font" Target="fonts/Lemon-regular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Teko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font" Target="fonts/Teko-regular.fntdata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33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5e85aedeed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g15e85aedeed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5e85aedeed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g15e85aedeed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614f65f9a1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g1614f65f9a1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" name="Google Shape;24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8" name="Google Shape;268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7" name="Google Shape;287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" name="Google Shape;293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9" name="Google Shape;299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5" name="Google Shape;305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3" name="Google Shape;313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614f65f9a1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8" name="Google Shape;328;g1614f65f9a1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1614f65f9a1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5" name="Google Shape;335;g1614f65f9a1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2" name="Google Shape;342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1614f65f9a1_0_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9" name="Google Shape;349;g1614f65f9a1_0_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1614f65f9a1_0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7" name="Google Shape;357;g1614f65f9a1_0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1614f65f9a1_0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3" name="Google Shape;363;g1614f65f9a1_0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0" name="Google Shape;370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6" name="Google Shape;376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2" name="Google Shape;382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0" name="Google Shape;390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7" name="Google Shape;397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3" name="Google Shape;403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9" name="Google Shape;409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5" name="Google Shape;415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3" name="Google Shape;423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0" name="Google Shape;430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6" name="Google Shape;436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5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5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5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5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5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5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www.alloprof.qc.ca/BV/Pages/m1353.aspx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1.png"/><Relationship Id="rId4" Type="http://schemas.openxmlformats.org/officeDocument/2006/relationships/image" Target="../media/image1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4.png"/><Relationship Id="rId4" Type="http://schemas.openxmlformats.org/officeDocument/2006/relationships/image" Target="../media/image2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8.png"/><Relationship Id="rId4" Type="http://schemas.openxmlformats.org/officeDocument/2006/relationships/image" Target="../media/image3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5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vmlDrawing" Target="../drawings/vmlDrawing1.vml"/><Relationship Id="rId4" Type="http://schemas.openxmlformats.org/officeDocument/2006/relationships/package" Target="../embeddings/Microsoft_Office_Word_Document1.docx"/><Relationship Id="rId5" Type="http://schemas.openxmlformats.org/officeDocument/2006/relationships/package" Target="../embeddings/Microsoft_Office_Word_Document1.docx"/><Relationship Id="rId6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486862" y="1674033"/>
            <a:ext cx="8458200" cy="21602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-857250" lvl="0" marL="85725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imes New Roman"/>
              <a:buNone/>
            </a:pPr>
            <a:r>
              <a:rPr lang="fr-FR" sz="8000">
                <a:latin typeface="Times New Roman"/>
                <a:ea typeface="Times New Roman"/>
                <a:cs typeface="Times New Roman"/>
                <a:sym typeface="Times New Roman"/>
              </a:rPr>
              <a:t>Analyse Statistique Univariée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4944914" y="4149077"/>
            <a:ext cx="30963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ERP-BI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6816080" y="6488668"/>
            <a:ext cx="385192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fr-F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Année universitaire 202</a:t>
            </a:r>
            <a:r>
              <a:rPr lang="fr-F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fr-FR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/202</a:t>
            </a:r>
            <a:r>
              <a:rPr lang="fr-F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97200" y="518047"/>
            <a:ext cx="2335700" cy="86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type="title"/>
          </p:nvPr>
        </p:nvSpPr>
        <p:spPr>
          <a:xfrm>
            <a:off x="65532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b="1" lang="fr-FR">
                <a:solidFill>
                  <a:srgbClr val="FF0000"/>
                </a:solidFill>
              </a:rPr>
              <a:t>Principe de l’analyse univariée</a:t>
            </a:r>
            <a:endParaRPr/>
          </a:p>
        </p:txBody>
      </p:sp>
      <p:sp>
        <p:nvSpPr>
          <p:cNvPr id="97" name="Google Shape;97;p2"/>
          <p:cNvSpPr txBox="1"/>
          <p:nvPr>
            <p:ph idx="1" type="body"/>
          </p:nvPr>
        </p:nvSpPr>
        <p:spPr>
          <a:xfrm>
            <a:off x="774879" y="1262129"/>
            <a:ext cx="10515600" cy="46958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 sz="3400"/>
              <a:t>L'analyse univariée permet de mieux appréhender une variable. Elle comporte quatre étapes 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 sz="3400"/>
              <a:t>1. Calcul des effectifs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 sz="3400"/>
              <a:t>2. Calcul de la centralité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 sz="3400"/>
              <a:t>3. Calcul de la dispersion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 sz="3400"/>
              <a:t>4. Représentation graphique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 sz="3400"/>
              <a:t>Ces étapes varient selon le type de variable.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fr-FR"/>
              <a:t>Objectifs 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"/>
              <a:buChar char="▪"/>
            </a:pPr>
            <a:r>
              <a:rPr b="1" lang="fr-FR" sz="3400"/>
              <a:t>Résumer</a:t>
            </a:r>
            <a:r>
              <a:rPr lang="fr-FR" sz="3400"/>
              <a:t> la distribution observée relative à une variable quantitative au moyen de </a:t>
            </a:r>
            <a:r>
              <a:rPr b="1" lang="fr-FR" sz="3400"/>
              <a:t>valeurs typiques  ou statistiques caractéristiques</a:t>
            </a:r>
            <a:r>
              <a:rPr b="1" lang="fr-FR"/>
              <a:t>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"/>
              <a:buChar char="▪"/>
            </a:pPr>
            <a:r>
              <a:rPr lang="fr-FR" sz="3400"/>
              <a:t>Faciliter la </a:t>
            </a:r>
            <a:r>
              <a:rPr b="1" lang="fr-FR" sz="3400"/>
              <a:t>comparaison</a:t>
            </a:r>
            <a:r>
              <a:rPr lang="fr-FR" sz="3400"/>
              <a:t> entre des séries statistiques distinctes.</a:t>
            </a:r>
            <a:endParaRPr/>
          </a:p>
          <a:p>
            <a:pPr indent="-11747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/>
          <p:nvPr/>
        </p:nvSpPr>
        <p:spPr>
          <a:xfrm>
            <a:off x="552855" y="2695694"/>
            <a:ext cx="553658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fr-FR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Calcul des effectifs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61035" y="1896563"/>
            <a:ext cx="3525509" cy="38370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/>
          <p:nvPr>
            <p:ph type="title"/>
          </p:nvPr>
        </p:nvSpPr>
        <p:spPr>
          <a:xfrm>
            <a:off x="1334589" y="35206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Effectifs</a:t>
            </a:r>
            <a:endParaRPr/>
          </a:p>
        </p:txBody>
      </p:sp>
      <p:sp>
        <p:nvSpPr>
          <p:cNvPr id="109" name="Google Shape;109;p4"/>
          <p:cNvSpPr txBox="1"/>
          <p:nvPr>
            <p:ph idx="1" type="body"/>
          </p:nvPr>
        </p:nvSpPr>
        <p:spPr>
          <a:xfrm>
            <a:off x="838200" y="1690688"/>
            <a:ext cx="10515600" cy="4941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/>
              <a:t>Les effectifs se calculent pour les variables nominale, ordonnée et discrète. Cela se fait grâce à l'instruction </a:t>
            </a:r>
            <a:r>
              <a:rPr b="1" lang="fr-FR"/>
              <a:t>table.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"/>
              <a:buChar char="⮚"/>
            </a:pPr>
            <a:r>
              <a:rPr b="1" lang="fr-FR"/>
              <a:t>Variable qualitative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/>
              <a:t>Un tableau de contingence peut être réalisé pour une variable en utilisant la fonction </a:t>
            </a:r>
            <a:r>
              <a:rPr b="1" lang="fr-FR"/>
              <a:t>table().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/>
              <a:t>Quand le nombre de modalités est élevé, on peut ordonner le tri à plat selon les effectifs à l’aide de la fonction </a:t>
            </a:r>
            <a:r>
              <a:rPr b="1" lang="fr-FR"/>
              <a:t>sort</a:t>
            </a:r>
            <a:r>
              <a:rPr lang="fr-FR"/>
              <a:t>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/>
              <a:t>Pour considérer les fréquences, il faut utiliser la fonction </a:t>
            </a:r>
            <a:r>
              <a:rPr b="1" lang="fr-FR"/>
              <a:t>prop.table()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/>
          <p:nvPr>
            <p:ph type="title"/>
          </p:nvPr>
        </p:nvSpPr>
        <p:spPr>
          <a:xfrm>
            <a:off x="1203959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Effectifs</a:t>
            </a:r>
            <a:endParaRPr/>
          </a:p>
        </p:txBody>
      </p:sp>
      <p:sp>
        <p:nvSpPr>
          <p:cNvPr id="115" name="Google Shape;115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"/>
              <a:buChar char="⮚"/>
            </a:pPr>
            <a:r>
              <a:rPr b="1" lang="fr-FR"/>
              <a:t>Variable quantitative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/>
              <a:t>Il est possible de générer un tableau des effectifs pour chacune des valeurs de la variable quantitative discrète en utilisant la fonction </a:t>
            </a:r>
            <a:r>
              <a:rPr b="1" lang="fr-FR"/>
              <a:t>table( 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/>
              <a:t>Un tableau des effectifs cumulés est réalisé par l’instruction suivante : </a:t>
            </a:r>
            <a:r>
              <a:rPr b="1" lang="fr-FR"/>
              <a:t>cumsum(table())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/>
              <a:t>Pour travailler en </a:t>
            </a:r>
            <a:r>
              <a:rPr b="1" lang="fr-FR"/>
              <a:t>fréquences</a:t>
            </a:r>
            <a:r>
              <a:rPr lang="fr-FR"/>
              <a:t> et non en effectifs, il suffit de diviser l’ensemble des résultats par le nombre total d’individus qui constituent l’échantillon : </a:t>
            </a:r>
            <a:r>
              <a:rPr b="1" lang="fr-FR"/>
              <a:t>table()/nrow()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/>
          <p:nvPr>
            <p:ph type="title"/>
          </p:nvPr>
        </p:nvSpPr>
        <p:spPr>
          <a:xfrm>
            <a:off x="120396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Trois catégories de valeurs typiques</a:t>
            </a:r>
            <a:endParaRPr/>
          </a:p>
        </p:txBody>
      </p:sp>
      <p:sp>
        <p:nvSpPr>
          <p:cNvPr id="121" name="Google Shape;121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b="1" lang="fr-FR" sz="2400">
                <a:solidFill>
                  <a:srgbClr val="FF0000"/>
                </a:solidFill>
              </a:rPr>
              <a:t>Les mesures de position</a:t>
            </a:r>
            <a:r>
              <a:rPr lang="fr-FR" sz="2400"/>
              <a:t> sont des valeurs quantifiant certaines caractéristiques de localisation (position) des observations sur l'échelle de mesure. Parmi les mesures de position, on distingue les </a:t>
            </a:r>
            <a:r>
              <a:rPr b="1" lang="fr-FR" sz="2400"/>
              <a:t>mesures de tendance centrale</a:t>
            </a:r>
            <a:r>
              <a:rPr lang="fr-FR" sz="2400"/>
              <a:t> qui correspondent à des valeurs « centrales » parmi les observations.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b="1" lang="fr-FR" sz="2400">
                <a:solidFill>
                  <a:srgbClr val="FF0000"/>
                </a:solidFill>
              </a:rPr>
              <a:t>Les mesures de dispersion</a:t>
            </a:r>
            <a:r>
              <a:rPr lang="fr-FR" sz="2400"/>
              <a:t> sont des valeurs quantifiant globalement l'importance des écarts entre les observations ou encore leur dispersion autour d'une valeur centrale.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b="1" lang="fr-FR" sz="2400">
                <a:solidFill>
                  <a:srgbClr val="FF0000"/>
                </a:solidFill>
              </a:rPr>
              <a:t>Les mesures de forme</a:t>
            </a:r>
            <a:r>
              <a:rPr lang="fr-FR" sz="2400"/>
              <a:t> sont des valeurs quantifiant certaines caractéristiques de forme (asymétrie, aplatissement) d'un diagramme en bâtons ou d'un histogramme.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/>
          <p:nvPr/>
        </p:nvSpPr>
        <p:spPr>
          <a:xfrm>
            <a:off x="412193" y="2168569"/>
            <a:ext cx="784430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fr-FR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Les mesures de tendance centrale (de position)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2900" y="1452229"/>
            <a:ext cx="2667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 txBox="1"/>
          <p:nvPr>
            <p:ph type="title"/>
          </p:nvPr>
        </p:nvSpPr>
        <p:spPr>
          <a:xfrm>
            <a:off x="111252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/>
              <a:t>Les mesures de tendance centrale</a:t>
            </a:r>
            <a:endParaRPr/>
          </a:p>
        </p:txBody>
      </p:sp>
      <p:sp>
        <p:nvSpPr>
          <p:cNvPr id="133" name="Google Shape;133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/>
              <a:t>Les </a:t>
            </a:r>
            <a:r>
              <a:rPr b="1" lang="fr-FR"/>
              <a:t>mesures de tendance centrale</a:t>
            </a:r>
            <a:r>
              <a:rPr lang="fr-FR"/>
              <a:t> décrivent une mesure statistique autour de laquelle se concentrent les données d'une distribution.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/>
              <a:t>Les trois mesures de tendance centrale les plus couramment utilisées: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"/>
              <a:buChar char="✔"/>
            </a:pPr>
            <a:r>
              <a:rPr lang="fr-FR"/>
              <a:t> La moyenne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"/>
              <a:buChar char="✔"/>
            </a:pPr>
            <a:r>
              <a:rPr lang="fr-FR"/>
              <a:t> Le mode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"/>
              <a:buChar char="✔"/>
            </a:pPr>
            <a:r>
              <a:rPr lang="fr-FR"/>
              <a:t> La médiane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u="sng">
              <a:solidFill>
                <a:schemeClr val="hlink"/>
              </a:solidFill>
              <a:hlinkClick r:id="rId3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"/>
          <p:cNvSpPr txBox="1"/>
          <p:nvPr>
            <p:ph type="title"/>
          </p:nvPr>
        </p:nvSpPr>
        <p:spPr>
          <a:xfrm>
            <a:off x="1465217" y="443504"/>
            <a:ext cx="10515600" cy="806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b="1" lang="fr-FR">
                <a:solidFill>
                  <a:srgbClr val="FF0000"/>
                </a:solidFill>
              </a:rPr>
              <a:t>                       La moyenne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39" name="Google Shape;139;p9"/>
          <p:cNvSpPr txBox="1"/>
          <p:nvPr>
            <p:ph idx="1" type="body"/>
          </p:nvPr>
        </p:nvSpPr>
        <p:spPr>
          <a:xfrm>
            <a:off x="838200" y="1442434"/>
            <a:ext cx="10515600" cy="4734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fr-FR"/>
              <a:t>La moyenne représente la position de la distribution.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fr-FR"/>
              <a:t>Le calcul exact de la moyenne d’une distribution d’équation est donné par 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fr-FR"/>
              <a:t>En réalité, on ne connait que très rarement l’équation de la distribution , mais on dispose d’une série de valeurs.  On calcule donc une approximation de la moyenne en calculant :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/>
          </a:p>
        </p:txBody>
      </p:sp>
      <p:pic>
        <p:nvPicPr>
          <p:cNvPr id="140" name="Google Shape;14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9954" y="2585736"/>
            <a:ext cx="2819400" cy="122396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9"/>
          <p:cNvSpPr txBox="1"/>
          <p:nvPr/>
        </p:nvSpPr>
        <p:spPr>
          <a:xfrm>
            <a:off x="4497677" y="5633947"/>
            <a:ext cx="2343955" cy="96584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"/>
          <p:cNvSpPr txBox="1"/>
          <p:nvPr>
            <p:ph type="title"/>
          </p:nvPr>
        </p:nvSpPr>
        <p:spPr>
          <a:xfrm>
            <a:off x="1452154" y="534944"/>
            <a:ext cx="10515600" cy="768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Interprétation </a:t>
            </a:r>
            <a:endParaRPr/>
          </a:p>
        </p:txBody>
      </p:sp>
      <p:sp>
        <p:nvSpPr>
          <p:cNvPr id="147" name="Google Shape;147;p10"/>
          <p:cNvSpPr txBox="1"/>
          <p:nvPr>
            <p:ph idx="1" type="body"/>
          </p:nvPr>
        </p:nvSpPr>
        <p:spPr>
          <a:xfrm>
            <a:off x="838200" y="1238250"/>
            <a:ext cx="10515600" cy="493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fr-FR"/>
              <a:t>Utilisez la moyenne pour décrire l'échantillon avec une seule valeur qui représente le centre des données.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fr-FR"/>
              <a:t>Les valeurs aberrantes peuvent avoir davantage d'impact sur la moyenne.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fr-FR"/>
              <a:t>« l’individu moyen » est un être généralement fictif, dont la seule raison d'être est de représenter un centre, un milieu.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fr-FR"/>
              <a:t>On peut interpréter la moyenne comme la valeur que devrait être si l’ensemble des données étaient répartis équitablement.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"/>
          <p:cNvSpPr txBox="1"/>
          <p:nvPr>
            <p:ph type="title"/>
          </p:nvPr>
        </p:nvSpPr>
        <p:spPr>
          <a:xfrm>
            <a:off x="1465217" y="456565"/>
            <a:ext cx="10515600" cy="781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Calcul de la moyenne</a:t>
            </a:r>
            <a:endParaRPr/>
          </a:p>
        </p:txBody>
      </p:sp>
      <p:sp>
        <p:nvSpPr>
          <p:cNvPr id="153" name="Google Shape;153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/>
              <a:t>La moyenne est obtenu en utilisant la fonction </a:t>
            </a:r>
            <a:r>
              <a:rPr b="1" lang="fr-FR"/>
              <a:t>mean()</a:t>
            </a:r>
            <a:r>
              <a:rPr lang="fr-FR"/>
              <a:t>. Il faut exclure les valeurs manquantes avec </a:t>
            </a:r>
            <a:r>
              <a:rPr b="1" lang="fr-FR"/>
              <a:t>na.rm=TRUE</a:t>
            </a:r>
            <a:r>
              <a:rPr lang="fr-FR"/>
              <a:t>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/>
              <a:t>Supposons que le vecteur poids contient les poids en kilos de 10 bébés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/>
              <a:t>Revenons à notre exemple, la moyenne des poids des bébés est déterminée comme suit: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>
                <a:solidFill>
                  <a:srgbClr val="4A86E8"/>
                </a:solidFill>
              </a:rPr>
              <a:t>&gt;poids&lt;-c(6.03, 8.77, 6.50, 7.54, 8.53, 7.16, 7.93, 7.65, 8.50, 7.59) </a:t>
            </a:r>
            <a:endParaRPr>
              <a:solidFill>
                <a:srgbClr val="4A86E8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>
                <a:solidFill>
                  <a:srgbClr val="4A86E8"/>
                </a:solidFill>
              </a:rPr>
              <a:t>&gt;mean(poids)</a:t>
            </a:r>
            <a:endParaRPr>
              <a:solidFill>
                <a:srgbClr val="4A86E8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"/>
          <p:cNvSpPr txBox="1"/>
          <p:nvPr>
            <p:ph type="title"/>
          </p:nvPr>
        </p:nvSpPr>
        <p:spPr>
          <a:xfrm>
            <a:off x="1325573" y="30643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fr-FR">
                <a:solidFill>
                  <a:srgbClr val="FF0000"/>
                </a:solidFill>
              </a:rPr>
              <a:t>                            Le Mode</a:t>
            </a:r>
            <a:endParaRPr/>
          </a:p>
        </p:txBody>
      </p:sp>
      <p:sp>
        <p:nvSpPr>
          <p:cNvPr id="159" name="Google Shape;159;p12"/>
          <p:cNvSpPr txBox="1"/>
          <p:nvPr>
            <p:ph idx="1" type="body"/>
          </p:nvPr>
        </p:nvSpPr>
        <p:spPr>
          <a:xfrm>
            <a:off x="720634" y="1617771"/>
            <a:ext cx="10515600" cy="50288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2748"/>
              <a:buNone/>
            </a:pPr>
            <a:r>
              <a:rPr lang="fr-FR" sz="8550"/>
              <a:t>Le mode de l’échantillon est la valeur la plus fréquente des données. Un échantillon peut avoir plusieurs modes. </a:t>
            </a:r>
            <a:endParaRPr sz="855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2748"/>
              <a:buNone/>
            </a:pPr>
            <a:r>
              <a:rPr lang="fr-FR" sz="8550"/>
              <a:t>Le mode est nécessairement égal à l’une des données. </a:t>
            </a:r>
            <a:endParaRPr sz="855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2748"/>
              <a:buNone/>
            </a:pPr>
            <a:r>
              <a:t/>
            </a:r>
            <a:endParaRPr sz="855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2748"/>
              <a:buNone/>
            </a:pPr>
            <a:r>
              <a:rPr lang="fr-FR" sz="8550"/>
              <a:t>On peut aussi définir le mode comme le point milieu de la classe ayant le plus grand effectif.</a:t>
            </a:r>
            <a:endParaRPr sz="855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2748"/>
              <a:buNone/>
            </a:pPr>
            <a:r>
              <a:t/>
            </a:r>
            <a:endParaRPr b="1" sz="855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2748"/>
              <a:buNone/>
            </a:pPr>
            <a:r>
              <a:rPr lang="fr-FR" sz="8550"/>
              <a:t>Le mode s'obtient par lecture de la table des effectifs en prenant le plus grand. Si les modalités sont très nombreuses, on peut trier les effectifs avec l'instruction </a:t>
            </a:r>
            <a:r>
              <a:rPr b="1" lang="fr-FR" sz="8550">
                <a:solidFill>
                  <a:srgbClr val="4A86E8"/>
                </a:solidFill>
              </a:rPr>
              <a:t>sort ()</a:t>
            </a:r>
            <a:r>
              <a:rPr b="1" lang="fr-FR" sz="8550"/>
              <a:t>.</a:t>
            </a:r>
            <a:endParaRPr sz="855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2748"/>
              <a:buNone/>
            </a:pPr>
            <a:r>
              <a:t/>
            </a:r>
            <a:endParaRPr b="1" sz="855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2748"/>
              <a:buNone/>
            </a:pPr>
            <a:r>
              <a:rPr lang="fr-FR" sz="8550"/>
              <a:t>R ne propose pas de formule directe pour calculer le mode. Il faut donc:</a:t>
            </a:r>
            <a:endParaRPr sz="8550"/>
          </a:p>
          <a:p>
            <a:pPr indent="-498982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arenR"/>
            </a:pPr>
            <a:r>
              <a:rPr lang="fr-FR" sz="8550"/>
              <a:t>Calculer l'effectif de chaque valeur de la variable.</a:t>
            </a:r>
            <a:endParaRPr sz="8550"/>
          </a:p>
          <a:p>
            <a:pPr indent="-498982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arenR"/>
            </a:pPr>
            <a:r>
              <a:rPr lang="fr-FR" sz="8550"/>
              <a:t>Trier ces effectifs pour y voir plus clair.</a:t>
            </a:r>
            <a:endParaRPr sz="8550"/>
          </a:p>
          <a:p>
            <a:pPr indent="-498982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arenR"/>
            </a:pPr>
            <a:r>
              <a:rPr lang="fr-FR" sz="8550"/>
              <a:t>Le mode est la valeur dont l'effectif est le plus grand.</a:t>
            </a:r>
            <a:endParaRPr sz="8550"/>
          </a:p>
          <a:p>
            <a:pPr indent="-36322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2748"/>
              <a:buFont typeface="Calibri"/>
              <a:buNone/>
            </a:pPr>
            <a:r>
              <a:t/>
            </a:r>
            <a:endParaRPr sz="855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>
            <p:ph idx="1" type="body"/>
          </p:nvPr>
        </p:nvSpPr>
        <p:spPr>
          <a:xfrm>
            <a:off x="1268569" y="840622"/>
            <a:ext cx="10515600" cy="55845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/>
              <a:t>Soit un vecteur "race" contenant la race de 12 chiens, déterminer le mode 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 u="sng"/>
              <a:t>Sortie R: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/>
              <a:t>race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/>
              <a:t>   boxer epagneul    husky   bichon   teckel    spitz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/>
              <a:t>       1         1                     1         2                 2        5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/>
              <a:t>Il est clair, à la lecture du résultat, que le mode correspond à la valeur "spitz".</a:t>
            </a:r>
            <a:endParaRPr/>
          </a:p>
        </p:txBody>
      </p:sp>
      <p:sp>
        <p:nvSpPr>
          <p:cNvPr id="165" name="Google Shape;165;p13"/>
          <p:cNvSpPr/>
          <p:nvPr/>
        </p:nvSpPr>
        <p:spPr>
          <a:xfrm>
            <a:off x="707572" y="1723473"/>
            <a:ext cx="10945969" cy="64373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8885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b="0" i="0" lang="fr-FR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race</a:t>
            </a:r>
            <a:r>
              <a:rPr b="0" i="0" lang="fr-FR" sz="1200" u="none" cap="none" strike="noStrike">
                <a:solidFill>
                  <a:srgbClr val="687687"/>
                </a:solidFill>
                <a:latin typeface="Courier New"/>
                <a:ea typeface="Courier New"/>
                <a:cs typeface="Courier New"/>
                <a:sym typeface="Courier New"/>
              </a:rPr>
              <a:t>&lt;-</a:t>
            </a:r>
            <a:r>
              <a:rPr b="0" i="0" lang="fr-FR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b="0" i="0" lang="fr-FR" sz="1200" u="none" cap="none" strike="noStrike">
                <a:solidFill>
                  <a:srgbClr val="687687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fr-FR" sz="1200" u="none" cap="none" strike="noStrike">
                <a:solidFill>
                  <a:srgbClr val="DD1144"/>
                </a:solidFill>
                <a:latin typeface="Courier New"/>
                <a:ea typeface="Courier New"/>
                <a:cs typeface="Courier New"/>
                <a:sym typeface="Courier New"/>
              </a:rPr>
              <a:t>"teckel"</a:t>
            </a:r>
            <a:r>
              <a:rPr b="0" i="0" lang="fr-FR" sz="12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fr-FR" sz="1200" u="none" cap="none" strike="noStrike">
                <a:solidFill>
                  <a:srgbClr val="DD1144"/>
                </a:solidFill>
                <a:latin typeface="Courier New"/>
                <a:ea typeface="Courier New"/>
                <a:cs typeface="Courier New"/>
                <a:sym typeface="Courier New"/>
              </a:rPr>
              <a:t>"teckel"</a:t>
            </a:r>
            <a:r>
              <a:rPr b="0" i="0" lang="fr-FR" sz="12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fr-FR" sz="1200" u="none" cap="none" strike="noStrike">
                <a:solidFill>
                  <a:srgbClr val="DD1144"/>
                </a:solidFill>
                <a:latin typeface="Courier New"/>
                <a:ea typeface="Courier New"/>
                <a:cs typeface="Courier New"/>
                <a:sym typeface="Courier New"/>
              </a:rPr>
              <a:t>"bichon"</a:t>
            </a:r>
            <a:r>
              <a:rPr b="0" i="0" lang="fr-FR" sz="12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fr-FR" sz="1200" u="none" cap="none" strike="noStrike">
                <a:solidFill>
                  <a:srgbClr val="DD1144"/>
                </a:solidFill>
                <a:latin typeface="Courier New"/>
                <a:ea typeface="Courier New"/>
                <a:cs typeface="Courier New"/>
                <a:sym typeface="Courier New"/>
              </a:rPr>
              <a:t>"boxer"</a:t>
            </a:r>
            <a:r>
              <a:rPr b="0" i="0" lang="fr-FR" sz="12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fr-FR" sz="1200" u="none" cap="none" strike="noStrike">
                <a:solidFill>
                  <a:srgbClr val="DD1144"/>
                </a:solidFill>
                <a:latin typeface="Courier New"/>
                <a:ea typeface="Courier New"/>
                <a:cs typeface="Courier New"/>
                <a:sym typeface="Courier New"/>
              </a:rPr>
              <a:t>"spitz"</a:t>
            </a:r>
            <a:r>
              <a:rPr b="0" i="0" lang="fr-FR" sz="12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fr-FR" sz="1200" u="none" cap="none" strike="noStrike">
                <a:solidFill>
                  <a:srgbClr val="DD1144"/>
                </a:solidFill>
                <a:latin typeface="Courier New"/>
                <a:ea typeface="Courier New"/>
                <a:cs typeface="Courier New"/>
                <a:sym typeface="Courier New"/>
              </a:rPr>
              <a:t>"husky"</a:t>
            </a:r>
            <a:r>
              <a:rPr b="0" i="0" lang="fr-FR" sz="12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fr-FR" sz="1200" u="none" cap="none" strike="noStrike">
                <a:solidFill>
                  <a:srgbClr val="DD1144"/>
                </a:solidFill>
                <a:latin typeface="Courier New"/>
                <a:ea typeface="Courier New"/>
                <a:cs typeface="Courier New"/>
                <a:sym typeface="Courier New"/>
              </a:rPr>
              <a:t>"spitz"</a:t>
            </a:r>
            <a:r>
              <a:rPr b="0" i="0" lang="fr-FR" sz="12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fr-FR" sz="1200" u="none" cap="none" strike="noStrike">
                <a:solidFill>
                  <a:srgbClr val="DD1144"/>
                </a:solidFill>
                <a:latin typeface="Courier New"/>
                <a:ea typeface="Courier New"/>
                <a:cs typeface="Courier New"/>
                <a:sym typeface="Courier New"/>
              </a:rPr>
              <a:t>"epagneul"</a:t>
            </a:r>
            <a:r>
              <a:rPr b="0" i="0" lang="fr-FR" sz="12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fr-FR" sz="1200" u="none" cap="none" strike="noStrike">
                <a:solidFill>
                  <a:srgbClr val="DD1144"/>
                </a:solidFill>
                <a:latin typeface="Courier New"/>
                <a:ea typeface="Courier New"/>
                <a:cs typeface="Courier New"/>
                <a:sym typeface="Courier New"/>
              </a:rPr>
              <a:t>"spitz"</a:t>
            </a:r>
            <a:r>
              <a:rPr b="0" i="0" lang="fr-FR" sz="12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fr-FR" sz="1200" u="none" cap="none" strike="noStrike">
                <a:solidFill>
                  <a:srgbClr val="DD1144"/>
                </a:solidFill>
                <a:latin typeface="Courier New"/>
                <a:ea typeface="Courier New"/>
                <a:cs typeface="Courier New"/>
                <a:sym typeface="Courier New"/>
              </a:rPr>
              <a:t>"spitz"</a:t>
            </a:r>
            <a:r>
              <a:rPr b="0" i="0" lang="fr-FR" sz="12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fr-FR" sz="1200" u="none" cap="none" strike="noStrike">
                <a:solidFill>
                  <a:srgbClr val="DD1144"/>
                </a:solidFill>
                <a:latin typeface="Courier New"/>
                <a:ea typeface="Courier New"/>
                <a:cs typeface="Courier New"/>
                <a:sym typeface="Courier New"/>
              </a:rPr>
              <a:t>"bichon"</a:t>
            </a:r>
            <a:r>
              <a:rPr b="0" i="0" lang="fr-FR" sz="12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fr-FR" sz="1200" u="none" cap="none" strike="noStrike">
                <a:solidFill>
                  <a:srgbClr val="DD1144"/>
                </a:solidFill>
                <a:latin typeface="Courier New"/>
                <a:ea typeface="Courier New"/>
                <a:cs typeface="Courier New"/>
                <a:sym typeface="Courier New"/>
              </a:rPr>
              <a:t>"spitz"</a:t>
            </a:r>
            <a:r>
              <a:rPr b="0" i="0" lang="fr-FR" sz="1200" u="none" cap="none" strike="noStrike">
                <a:solidFill>
                  <a:srgbClr val="687687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b="0" i="0" lang="fr-FR" sz="12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b="0" i="0" lang="fr-FR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effectifs</a:t>
            </a:r>
            <a:r>
              <a:rPr b="0" i="0" lang="fr-FR" sz="1200" u="none" cap="none" strike="noStrike">
                <a:solidFill>
                  <a:srgbClr val="687687"/>
                </a:solidFill>
                <a:latin typeface="Courier New"/>
                <a:ea typeface="Courier New"/>
                <a:cs typeface="Courier New"/>
                <a:sym typeface="Courier New"/>
              </a:rPr>
              <a:t>&lt;-</a:t>
            </a:r>
            <a:r>
              <a:rPr b="0" i="0" lang="fr-FR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table</a:t>
            </a:r>
            <a:r>
              <a:rPr b="0" i="0" lang="fr-FR" sz="1200" u="none" cap="none" strike="noStrike">
                <a:solidFill>
                  <a:srgbClr val="687687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fr-FR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race</a:t>
            </a:r>
            <a:r>
              <a:rPr b="0" i="0" lang="fr-FR" sz="1200" u="none" cap="none" strike="noStrike">
                <a:solidFill>
                  <a:srgbClr val="687687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b="0" i="0" lang="fr-FR" sz="120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b="0" i="0" lang="fr-FR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sort</a:t>
            </a:r>
            <a:r>
              <a:rPr b="0" i="0" lang="fr-FR" sz="1200" u="none" cap="none" strike="noStrike">
                <a:solidFill>
                  <a:srgbClr val="687687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fr-FR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effectifs</a:t>
            </a:r>
            <a:r>
              <a:rPr b="0" i="0" lang="fr-FR" sz="1200" u="none" cap="none" strike="noStrike">
                <a:solidFill>
                  <a:srgbClr val="687687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"/>
          <p:cNvSpPr txBox="1"/>
          <p:nvPr>
            <p:ph type="title"/>
          </p:nvPr>
        </p:nvSpPr>
        <p:spPr>
          <a:xfrm>
            <a:off x="1151709" y="548006"/>
            <a:ext cx="10515600" cy="920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fr-FR">
                <a:solidFill>
                  <a:srgbClr val="FF0000"/>
                </a:solidFill>
              </a:rPr>
              <a:t>                          La médiane</a:t>
            </a:r>
            <a:endParaRPr/>
          </a:p>
        </p:txBody>
      </p:sp>
      <p:sp>
        <p:nvSpPr>
          <p:cNvPr id="171" name="Google Shape;171;p14"/>
          <p:cNvSpPr txBox="1"/>
          <p:nvPr>
            <p:ph idx="1" type="body"/>
          </p:nvPr>
        </p:nvSpPr>
        <p:spPr>
          <a:xfrm>
            <a:off x="772886" y="1677762"/>
            <a:ext cx="10515600" cy="4891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fr-FR"/>
              <a:t>La médiane comme la moyenne représente un paramètre de position de la distribution.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fr-FR"/>
              <a:t>La médiane  est le nombre qui sépare la série ordonnée en deux groupes de </a:t>
            </a:r>
            <a:r>
              <a:rPr b="1" lang="fr-FR"/>
              <a:t>même effectif</a:t>
            </a:r>
            <a:r>
              <a:rPr lang="fr-FR"/>
              <a:t>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72" name="Google Shape;17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9952" y="3128010"/>
            <a:ext cx="3443097" cy="2644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5"/>
          <p:cNvSpPr txBox="1"/>
          <p:nvPr>
            <p:ph idx="1" type="body"/>
          </p:nvPr>
        </p:nvSpPr>
        <p:spPr>
          <a:xfrm>
            <a:off x="1256211" y="751391"/>
            <a:ext cx="10515600" cy="573908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697" l="-1157" r="0" t="-16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fr-FR"/>
              <a:t> 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6"/>
          <p:cNvSpPr txBox="1"/>
          <p:nvPr>
            <p:ph type="title"/>
          </p:nvPr>
        </p:nvSpPr>
        <p:spPr>
          <a:xfrm>
            <a:off x="1263015" y="724773"/>
            <a:ext cx="10515600" cy="758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Interprétation </a:t>
            </a:r>
            <a:endParaRPr/>
          </a:p>
        </p:txBody>
      </p:sp>
      <p:sp>
        <p:nvSpPr>
          <p:cNvPr id="183" name="Google Shape;183;p16"/>
          <p:cNvSpPr txBox="1"/>
          <p:nvPr>
            <p:ph idx="1" type="body"/>
          </p:nvPr>
        </p:nvSpPr>
        <p:spPr>
          <a:xfrm>
            <a:off x="466181" y="2025831"/>
            <a:ext cx="10515600" cy="4967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fr-FR"/>
              <a:t>La médiane est une valeur observée contrairement à la moyenne ce qui lui donne un sens concret évident.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fr-FR"/>
              <a:t>Contrairement à la moyenne, la médiane est insensible à la présence d'une valeur extrême (ou aberrante).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/>
              <a:t>Dès lors, en présence d'une valeur extrême (ou aberrante), le choix de la médiane comme valeur centrale est bien plus indiqué que celui de la moyenne arithmétique.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84" name="Google Shape;18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53375" y="-76200"/>
            <a:ext cx="8572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6"/>
          <p:cNvSpPr txBox="1"/>
          <p:nvPr/>
        </p:nvSpPr>
        <p:spPr>
          <a:xfrm>
            <a:off x="1485900" y="2190750"/>
            <a:ext cx="10515600" cy="4967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6"/>
          <p:cNvSpPr/>
          <p:nvPr/>
        </p:nvSpPr>
        <p:spPr>
          <a:xfrm>
            <a:off x="6617704" y="857965"/>
            <a:ext cx="251992" cy="246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</a:pPr>
            <a:r>
              <a:rPr b="0" i="0" lang="fr-FR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r>
              <a:rPr b="0" i="0" lang="fr-FR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86100" y="3328987"/>
            <a:ext cx="6019800" cy="77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g15e85aedeed_0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53375" y="-76200"/>
            <a:ext cx="8572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g15e85aedeed_0_13"/>
          <p:cNvSpPr/>
          <p:nvPr/>
        </p:nvSpPr>
        <p:spPr>
          <a:xfrm>
            <a:off x="6617704" y="857965"/>
            <a:ext cx="252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</a:pPr>
            <a:r>
              <a:rPr b="0" i="0" lang="fr-FR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r>
              <a:rPr b="0" i="0" lang="fr-FR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15e85aedeed_0_13"/>
          <p:cNvSpPr txBox="1"/>
          <p:nvPr>
            <p:ph type="title"/>
          </p:nvPr>
        </p:nvSpPr>
        <p:spPr>
          <a:xfrm>
            <a:off x="1151709" y="548006"/>
            <a:ext cx="10515600" cy="9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fr-FR">
                <a:solidFill>
                  <a:srgbClr val="FF0000"/>
                </a:solidFill>
              </a:rPr>
              <a:t>                          Les quartiles</a:t>
            </a:r>
            <a:endParaRPr/>
          </a:p>
        </p:txBody>
      </p:sp>
      <p:sp>
        <p:nvSpPr>
          <p:cNvPr id="195" name="Google Shape;195;g15e85aedeed_0_13"/>
          <p:cNvSpPr txBox="1"/>
          <p:nvPr/>
        </p:nvSpPr>
        <p:spPr>
          <a:xfrm>
            <a:off x="653250" y="1577875"/>
            <a:ext cx="11281200" cy="49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fr-F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 considère </a:t>
            </a:r>
            <a:r>
              <a:rPr b="1" i="0" lang="fr-FR" sz="2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une série ordonnée par ordre croissant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Q1</a:t>
            </a:r>
            <a:r>
              <a:rPr b="1" i="0" lang="fr-F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fr-F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 appelle premier quartile Q1 d’une série statistique la plus petite valeur de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fr-F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série telle qu’au moins 25 % des valeurs de celle-ci lui sont inférieures ou égales.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fr-FR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Q2 : La médiane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Q3</a:t>
            </a:r>
            <a:endParaRPr b="1" i="0" sz="2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fr-F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 appelle troisième quartile Q3 d’une série statistique la plus petite valeur de la série telle qu’au moins 75 % des valeurs de celle-ci lui sont inférieures ou égales.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g15e85aedeed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53375" y="-76200"/>
            <a:ext cx="8572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g15e85aedeed_0_1"/>
          <p:cNvSpPr/>
          <p:nvPr/>
        </p:nvSpPr>
        <p:spPr>
          <a:xfrm>
            <a:off x="6617704" y="857965"/>
            <a:ext cx="252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</a:pPr>
            <a:r>
              <a:rPr b="0" i="0" lang="fr-FR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r>
              <a:rPr b="0" i="0" lang="fr-FR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15e85aedeed_0_1"/>
          <p:cNvSpPr txBox="1"/>
          <p:nvPr>
            <p:ph type="title"/>
          </p:nvPr>
        </p:nvSpPr>
        <p:spPr>
          <a:xfrm>
            <a:off x="1151709" y="548006"/>
            <a:ext cx="10515600" cy="9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fr-FR">
                <a:solidFill>
                  <a:srgbClr val="FF0000"/>
                </a:solidFill>
              </a:rPr>
              <a:t>                          Les quartiles</a:t>
            </a:r>
            <a:endParaRPr/>
          </a:p>
        </p:txBody>
      </p:sp>
      <p:sp>
        <p:nvSpPr>
          <p:cNvPr id="203" name="Google Shape;203;g15e85aedeed_0_1"/>
          <p:cNvSpPr txBox="1"/>
          <p:nvPr/>
        </p:nvSpPr>
        <p:spPr>
          <a:xfrm>
            <a:off x="803675" y="1468700"/>
            <a:ext cx="10796100" cy="6080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fr-FR" sz="30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si n/4 est un entier , le premier quartile </a:t>
            </a:r>
            <a:r>
              <a:rPr b="0" i="0" lang="fr-FR" sz="30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Q1 </a:t>
            </a:r>
            <a:r>
              <a:rPr b="0" i="0" lang="fr-FR" sz="30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est le terme de rang n/4 et le troisième quartile </a:t>
            </a:r>
            <a:r>
              <a:rPr b="0" i="0" lang="fr-FR" sz="30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Q3 </a:t>
            </a:r>
            <a:r>
              <a:rPr b="0" i="0" lang="fr-FR" sz="30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est le terme de rang 3n/4.</a:t>
            </a:r>
            <a:endParaRPr b="0" i="0" sz="30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fr-FR" sz="23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Exemple:</a:t>
            </a:r>
            <a:endParaRPr b="1" i="0" sz="2300" u="none" cap="none" strike="noStrike">
              <a:solidFill>
                <a:srgbClr val="0000FF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fr-FR" sz="2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Soit la série de données ordonnée dans un ordre croissant</a:t>
            </a:r>
            <a:endParaRPr b="0" i="0" sz="23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fr-FR" sz="2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                                              2 , 7 , 14 , 14 , 17 , 19 , 20,21</a:t>
            </a:r>
            <a:endParaRPr b="0" i="0" sz="23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fr-FR" sz="2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La médiane=Q2=</a:t>
            </a:r>
            <a:r>
              <a:rPr b="1" i="0" lang="fr-FR" sz="2300" u="none" cap="none" strike="noStrike">
                <a:solidFill>
                  <a:srgbClr val="98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La moyenne</a:t>
            </a:r>
            <a:r>
              <a:rPr b="0" i="0" lang="fr-FR" sz="2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des éléments de rang (</a:t>
            </a:r>
            <a:r>
              <a:rPr b="1" i="0" lang="fr-FR" sz="2300" u="none" cap="none" strike="noStrike">
                <a:solidFill>
                  <a:srgbClr val="38761D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N/2)  et (N/2) +1→ Q2=(14+17)/2=15.5</a:t>
            </a:r>
            <a:endParaRPr b="1" i="0" sz="2300" u="none" cap="none" strike="noStrike">
              <a:solidFill>
                <a:srgbClr val="38761D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fr-FR" sz="2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n=8 —&gt;  25% de 8—&gt; 8/4=</a:t>
            </a:r>
            <a:r>
              <a:rPr b="1" i="0" lang="fr-FR" sz="2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fr-FR" sz="2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alors le Q1 est l’élément de rang </a:t>
            </a:r>
            <a:r>
              <a:rPr b="1" i="0" lang="fr-FR" sz="2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fr-FR" sz="2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b="1" i="0" lang="fr-FR" sz="25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Q1=7</a:t>
            </a:r>
            <a:endParaRPr b="1" i="0" sz="2500" u="none" cap="none" strike="noStrike">
              <a:solidFill>
                <a:srgbClr val="FF000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fr-FR" sz="25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Au moins 25% des données sont inférieures à 7</a:t>
            </a:r>
            <a:endParaRPr b="1" i="0" sz="2500" u="none" cap="none" strike="noStrike">
              <a:solidFill>
                <a:srgbClr val="FF000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fr-FR" sz="2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n=7 —&gt;  75% de 8—&gt; (3*8)/4=</a:t>
            </a:r>
            <a:r>
              <a:rPr b="1" i="0" lang="fr-FR" sz="2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6 </a:t>
            </a:r>
            <a:r>
              <a:rPr b="0" i="0" lang="fr-FR" sz="2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alors le Q3 est l’élément de rang </a:t>
            </a:r>
            <a:r>
              <a:rPr b="1" i="0" lang="fr-FR" sz="2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0" i="0" lang="fr-FR" sz="2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b="1" i="0" lang="fr-FR" sz="25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Q3=19</a:t>
            </a:r>
            <a:endParaRPr b="1" i="0" sz="2500" u="none" cap="none" strike="noStrike">
              <a:solidFill>
                <a:srgbClr val="FF000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fr-FR" sz="25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Au moins 75% des données sont inférieures à 19</a:t>
            </a:r>
            <a:endParaRPr b="1" i="0" sz="2500" u="none" cap="none" strike="noStrike">
              <a:solidFill>
                <a:srgbClr val="FF000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500" u="none" cap="none" strike="noStrike">
              <a:solidFill>
                <a:srgbClr val="FF000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g1614f65f9a1_0_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53375" y="-76200"/>
            <a:ext cx="8572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g1614f65f9a1_0_17"/>
          <p:cNvSpPr/>
          <p:nvPr/>
        </p:nvSpPr>
        <p:spPr>
          <a:xfrm>
            <a:off x="6617704" y="857965"/>
            <a:ext cx="252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</a:pPr>
            <a:r>
              <a:rPr b="0" i="0" lang="fr-FR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r>
              <a:rPr b="0" i="0" lang="fr-FR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1614f65f9a1_0_17"/>
          <p:cNvSpPr txBox="1"/>
          <p:nvPr>
            <p:ph type="title"/>
          </p:nvPr>
        </p:nvSpPr>
        <p:spPr>
          <a:xfrm>
            <a:off x="1151709" y="548006"/>
            <a:ext cx="10515600" cy="9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fr-FR">
                <a:solidFill>
                  <a:srgbClr val="FF0000"/>
                </a:solidFill>
              </a:rPr>
              <a:t>                          Les quartiles</a:t>
            </a:r>
            <a:endParaRPr/>
          </a:p>
        </p:txBody>
      </p:sp>
      <p:sp>
        <p:nvSpPr>
          <p:cNvPr id="211" name="Google Shape;211;g1614f65f9a1_0_17"/>
          <p:cNvSpPr txBox="1"/>
          <p:nvPr/>
        </p:nvSpPr>
        <p:spPr>
          <a:xfrm>
            <a:off x="803675" y="1468700"/>
            <a:ext cx="10796100" cy="561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fr-FR" sz="30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- si n/4 n'est pas un entier, </a:t>
            </a:r>
            <a:r>
              <a:rPr b="0" i="0" lang="fr-FR" sz="30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Q1 </a:t>
            </a:r>
            <a:r>
              <a:rPr b="0" i="0" lang="fr-FR" sz="30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et </a:t>
            </a:r>
            <a:r>
              <a:rPr b="0" i="0" lang="fr-FR" sz="30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Q3</a:t>
            </a:r>
            <a:r>
              <a:rPr b="0" i="0" lang="fr-FR" sz="30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sont respectivement les termes de rang immédiatement supérieur à n/4 et 3n/4.</a:t>
            </a:r>
            <a:endParaRPr b="0" i="0" sz="30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fr-FR" sz="23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Exemple:</a:t>
            </a:r>
            <a:endParaRPr b="1" i="0" sz="2300" u="none" cap="none" strike="noStrike">
              <a:solidFill>
                <a:srgbClr val="0000FF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fr-FR" sz="2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Soit la série de données ordonnée dans un ordre croissant</a:t>
            </a:r>
            <a:endParaRPr b="0" i="0" sz="23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fr-FR" sz="2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                                              10 , 13 , 14 , 14 , 17 , 18 , 20</a:t>
            </a:r>
            <a:endParaRPr b="0" i="0" sz="23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fr-FR" sz="2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La médiane=Q2=l’élément de rang </a:t>
            </a:r>
            <a:r>
              <a:rPr b="1" i="0" lang="fr-FR" sz="2300" u="none" cap="none" strike="noStrike">
                <a:solidFill>
                  <a:srgbClr val="38761D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(N+1)/2 → Q2=14</a:t>
            </a:r>
            <a:endParaRPr b="1" i="0" sz="2300" u="none" cap="none" strike="noStrike">
              <a:solidFill>
                <a:srgbClr val="38761D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fr-FR" sz="2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n=7 —&gt;  25% de 7—&gt; 7/4=</a:t>
            </a:r>
            <a:r>
              <a:rPr b="1" i="0" lang="fr-FR" sz="2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1.75</a:t>
            </a:r>
            <a:r>
              <a:rPr b="0" i="0" lang="fr-FR" sz="2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alors le Q1 est l’élément de rang </a:t>
            </a:r>
            <a:r>
              <a:rPr b="1" i="0" lang="fr-FR" sz="2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fr-FR" sz="2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b="1" i="0" lang="fr-FR" sz="25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Q1=13</a:t>
            </a:r>
            <a:endParaRPr b="1" i="0" sz="2500" u="none" cap="none" strike="noStrike">
              <a:solidFill>
                <a:srgbClr val="FF000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fr-FR" sz="25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Au moins 25% des données sont inférieures à 13</a:t>
            </a:r>
            <a:endParaRPr b="1" i="0" sz="2500" u="none" cap="none" strike="noStrike">
              <a:solidFill>
                <a:srgbClr val="FF000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fr-FR" sz="2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n=7 —&gt;  75% de 7—&gt; (3*7)/4=</a:t>
            </a:r>
            <a:r>
              <a:rPr b="1" i="0" lang="fr-FR" sz="2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5.25</a:t>
            </a:r>
            <a:r>
              <a:rPr b="0" i="0" lang="fr-FR" sz="2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alors le Q3 est l’élément de rang </a:t>
            </a:r>
            <a:r>
              <a:rPr b="1" i="0" lang="fr-FR" sz="2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0" i="0" lang="fr-FR" sz="2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b="1" i="0" lang="fr-FR" sz="25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Q3=18</a:t>
            </a:r>
            <a:endParaRPr b="1" i="0" sz="2500" u="none" cap="none" strike="noStrike">
              <a:solidFill>
                <a:srgbClr val="FF000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fr-FR" sz="25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Au moins 75% des données sont inférieures à 18</a:t>
            </a:r>
            <a:endParaRPr b="1" i="0" sz="2500" u="none" cap="none" strike="noStrike">
              <a:solidFill>
                <a:srgbClr val="FF000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1" i="0" sz="2500" u="none" cap="none" strike="noStrike">
              <a:solidFill>
                <a:srgbClr val="FF000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7"/>
          <p:cNvSpPr txBox="1"/>
          <p:nvPr>
            <p:ph type="title"/>
          </p:nvPr>
        </p:nvSpPr>
        <p:spPr>
          <a:xfrm>
            <a:off x="1386840" y="521880"/>
            <a:ext cx="10515600" cy="663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Calibri"/>
              <a:buNone/>
            </a:pPr>
            <a:r>
              <a:rPr b="1" lang="fr-FR">
                <a:solidFill>
                  <a:srgbClr val="FF0000"/>
                </a:solidFill>
              </a:rPr>
              <a:t>La symétrie de la distribution</a:t>
            </a:r>
            <a:endParaRPr/>
          </a:p>
        </p:txBody>
      </p:sp>
      <p:sp>
        <p:nvSpPr>
          <p:cNvPr id="217" name="Google Shape;217;p17"/>
          <p:cNvSpPr txBox="1"/>
          <p:nvPr>
            <p:ph idx="1" type="body"/>
          </p:nvPr>
        </p:nvSpPr>
        <p:spPr>
          <a:xfrm>
            <a:off x="838200" y="1400175"/>
            <a:ext cx="10515600" cy="5457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fr-FR"/>
              <a:t>Si vos données sont symétriques, la moyenne et la médiane sont similaires.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/>
              <a:t>Pour la série symétrique, la moyenne (ligne bleue) et la médiane (ligne orange) sont tellement proches qu'il est difficile de distinguer les deux lignes.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/>
              <a:t>Toutefois, la série non symétrique présente deux valeurs très différentes de la moyenne et la médiane.</a:t>
            </a:r>
            <a:endParaRPr/>
          </a:p>
        </p:txBody>
      </p:sp>
      <p:pic>
        <p:nvPicPr>
          <p:cNvPr id="218" name="Google Shape;21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9750" y="1762125"/>
            <a:ext cx="8572500" cy="284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8"/>
          <p:cNvSpPr txBox="1"/>
          <p:nvPr>
            <p:ph type="title"/>
          </p:nvPr>
        </p:nvSpPr>
        <p:spPr>
          <a:xfrm>
            <a:off x="1282337" y="548005"/>
            <a:ext cx="10515600" cy="777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Position de la moyenne et la médiane </a:t>
            </a:r>
            <a:endParaRPr/>
          </a:p>
        </p:txBody>
      </p:sp>
      <p:pic>
        <p:nvPicPr>
          <p:cNvPr id="224" name="Google Shape;22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5512" y="1833562"/>
            <a:ext cx="7610475" cy="427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9"/>
          <p:cNvSpPr txBox="1"/>
          <p:nvPr>
            <p:ph type="title"/>
          </p:nvPr>
        </p:nvSpPr>
        <p:spPr>
          <a:xfrm>
            <a:off x="1308463" y="587193"/>
            <a:ext cx="10515600" cy="781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Calcul de La médiane</a:t>
            </a:r>
            <a:endParaRPr/>
          </a:p>
        </p:txBody>
      </p:sp>
      <p:sp>
        <p:nvSpPr>
          <p:cNvPr id="230" name="Google Shape;230;p19"/>
          <p:cNvSpPr txBox="1"/>
          <p:nvPr>
            <p:ph idx="1" type="body"/>
          </p:nvPr>
        </p:nvSpPr>
        <p:spPr>
          <a:xfrm>
            <a:off x="838200" y="1326524"/>
            <a:ext cx="10515600" cy="53576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"/>
              <a:buChar char="⮚"/>
            </a:pPr>
            <a:r>
              <a:rPr b="1" lang="fr-FR"/>
              <a:t>Variable quantitative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/>
              <a:t>La médiane se calcule avec la fonction </a:t>
            </a:r>
            <a:r>
              <a:rPr b="1" lang="fr-FR"/>
              <a:t>median (). </a:t>
            </a:r>
            <a:r>
              <a:rPr lang="fr-FR"/>
              <a:t>Quand la variable contient des valeurs manquante, il faut préciser a R de les supprimer en ajoutant l'option </a:t>
            </a:r>
            <a:r>
              <a:rPr b="1" lang="fr-FR"/>
              <a:t>na.rm=TRUE</a:t>
            </a:r>
            <a:r>
              <a:rPr lang="fr-FR"/>
              <a:t>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/>
              <a:t>Revenons à notre exemple, la médiane est déterminée comme suit: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/>
              <a:t>&gt;poids&lt;-c(6.03, 8.77, 6.50, 7.54, 8.53, 7.16, 7.93, 7.65, 8.50, 7.59)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/>
              <a:t>On calcul la médiane en utilisant la fonction </a:t>
            </a:r>
            <a:r>
              <a:rPr b="1" lang="fr-FR"/>
              <a:t>median().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fr-FR"/>
              <a:t>&gt;median(poids)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0"/>
          <p:cNvSpPr txBox="1"/>
          <p:nvPr>
            <p:ph idx="1" type="body"/>
          </p:nvPr>
        </p:nvSpPr>
        <p:spPr>
          <a:xfrm>
            <a:off x="1118897" y="776596"/>
            <a:ext cx="11190668" cy="5674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fr-FR"/>
              <a:t>Variable qualitative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/>
              <a:t>La médiane d'une variable ordonnée n'est pas calculée automatiquement par R. Il faut donc le faire manuellement. Pour cela, trois étapes 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/>
              <a:t>1. Calcul du rang de la médiane (après élimination des valeurs manquantes).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/>
              <a:t>2. Ordonnancement de la variable.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/>
              <a:t>3. Combinaison de 1 et 2, puis la sélection de la modalité du milieu.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1"/>
          <p:cNvSpPr txBox="1"/>
          <p:nvPr>
            <p:ph idx="1" type="body"/>
          </p:nvPr>
        </p:nvSpPr>
        <p:spPr>
          <a:xfrm>
            <a:off x="877387" y="452969"/>
            <a:ext cx="11183983" cy="588074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796" l="-1142" r="-1469" t="-165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fr-FR"/>
              <a:t> 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2"/>
          <p:cNvSpPr/>
          <p:nvPr/>
        </p:nvSpPr>
        <p:spPr>
          <a:xfrm>
            <a:off x="412193" y="2168569"/>
            <a:ext cx="784430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fr-FR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Les mesures de dispersion</a:t>
            </a:r>
            <a:endParaRPr b="1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6" name="Google Shape;24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8655" y="3291839"/>
            <a:ext cx="5703026" cy="2961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3"/>
          <p:cNvSpPr txBox="1"/>
          <p:nvPr>
            <p:ph type="title"/>
          </p:nvPr>
        </p:nvSpPr>
        <p:spPr>
          <a:xfrm>
            <a:off x="1125583" y="339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fr-FR">
                <a:solidFill>
                  <a:srgbClr val="FF0000"/>
                </a:solidFill>
              </a:rPr>
              <a:t>Les mesures de Dispersion</a:t>
            </a:r>
            <a:endParaRPr/>
          </a:p>
        </p:txBody>
      </p:sp>
      <p:sp>
        <p:nvSpPr>
          <p:cNvPr id="252" name="Google Shape;252;p23"/>
          <p:cNvSpPr txBox="1"/>
          <p:nvPr>
            <p:ph idx="1" type="body"/>
          </p:nvPr>
        </p:nvSpPr>
        <p:spPr>
          <a:xfrm>
            <a:off x="838200" y="1571223"/>
            <a:ext cx="10515600" cy="46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/>
              <a:t>Les </a:t>
            </a:r>
            <a:r>
              <a:rPr b="1" lang="fr-FR"/>
              <a:t>mesures de dispersion </a:t>
            </a:r>
            <a:r>
              <a:rPr lang="fr-FR"/>
              <a:t>servent à caractériser l’étalement des valeurs présentes dans une distribution. Plus la distribution sera étalée, plus la valeur de la mesure de dispersion sera élevée.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/>
              <a:t>Les mesures de dispersion: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"/>
              <a:buChar char="✔"/>
            </a:pPr>
            <a:r>
              <a:rPr lang="fr-FR"/>
              <a:t>Les quantiles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"/>
              <a:buChar char="✔"/>
            </a:pPr>
            <a:r>
              <a:rPr lang="fr-FR"/>
              <a:t> La variance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"/>
              <a:buChar char="✔"/>
            </a:pPr>
            <a:r>
              <a:rPr lang="fr-FR"/>
              <a:t> L’écart type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"/>
              <a:buChar char="✔"/>
            </a:pPr>
            <a:r>
              <a:rPr lang="fr-FR"/>
              <a:t> L’étendue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4"/>
          <p:cNvSpPr txBox="1"/>
          <p:nvPr>
            <p:ph type="title"/>
          </p:nvPr>
        </p:nvSpPr>
        <p:spPr>
          <a:xfrm>
            <a:off x="1375249" y="444137"/>
            <a:ext cx="10515600" cy="8068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fr-FR">
                <a:solidFill>
                  <a:srgbClr val="FF0000"/>
                </a:solidFill>
              </a:rPr>
              <a:t>Les quartiles</a:t>
            </a:r>
            <a:endParaRPr/>
          </a:p>
        </p:txBody>
      </p:sp>
      <p:sp>
        <p:nvSpPr>
          <p:cNvPr id="258" name="Google Shape;258;p24"/>
          <p:cNvSpPr txBox="1"/>
          <p:nvPr>
            <p:ph idx="1" type="body"/>
          </p:nvPr>
        </p:nvSpPr>
        <p:spPr>
          <a:xfrm>
            <a:off x="594360" y="1319166"/>
            <a:ext cx="11597640" cy="52496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/>
              <a:t>L'approche suivie pour la médiane (50% de valeurs inférieures) et pour les quartiles (25% et 75% de valeurs inférieures) peut être généralisée à d'autres pourcentages.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/>
              <a:t>En fonction de la valeur choisie pour p, on obtient une valeur de x telle que une proportion p de l'échantillon lui est inférieure (et une proportion (1-p) lui est supérieure).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/>
              <a:t>La fonction </a:t>
            </a:r>
            <a:r>
              <a:rPr b="1" lang="fr-FR"/>
              <a:t>quantile(x,p)</a:t>
            </a:r>
            <a:r>
              <a:rPr lang="fr-FR"/>
              <a:t> calcule le quantile du vecteur x tel qu'une proportion p de l'échantillon lui soit inférieure.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/>
              <a:t>Voici quelque illustrations avec notre exemple des poids des bébés: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</a:pPr>
            <a:r>
              <a:rPr lang="fr-FR">
                <a:solidFill>
                  <a:schemeClr val="accent1"/>
                </a:solidFill>
              </a:rPr>
              <a:t>&gt;quantile (poids,0.1)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</a:pPr>
            <a:r>
              <a:rPr lang="fr-FR">
                <a:solidFill>
                  <a:schemeClr val="accent1"/>
                </a:solidFill>
              </a:rPr>
              <a:t>&gt;quantile(poids,0.5)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</a:pPr>
            <a:r>
              <a:rPr lang="fr-FR">
                <a:solidFill>
                  <a:schemeClr val="accent1"/>
                </a:solidFill>
              </a:rPr>
              <a:t>&gt;quantile(poids,0.25)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5"/>
          <p:cNvSpPr txBox="1"/>
          <p:nvPr>
            <p:ph type="title"/>
          </p:nvPr>
        </p:nvSpPr>
        <p:spPr>
          <a:xfrm>
            <a:off x="1369484" y="261257"/>
            <a:ext cx="10515600" cy="1064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Interprétation</a:t>
            </a:r>
            <a:endParaRPr/>
          </a:p>
        </p:txBody>
      </p:sp>
      <p:pic>
        <p:nvPicPr>
          <p:cNvPr id="264" name="Google Shape;264;p25"/>
          <p:cNvPicPr preferRelativeResize="0"/>
          <p:nvPr/>
        </p:nvPicPr>
        <p:blipFill rotWithShape="1">
          <a:blip r:embed="rId3">
            <a:alphaModFix/>
          </a:blip>
          <a:srcRect b="25015" l="42659" r="9556" t="43520"/>
          <a:stretch/>
        </p:blipFill>
        <p:spPr>
          <a:xfrm>
            <a:off x="3052293" y="4608077"/>
            <a:ext cx="5718219" cy="2163652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5"/>
          <p:cNvSpPr txBox="1"/>
          <p:nvPr/>
        </p:nvSpPr>
        <p:spPr>
          <a:xfrm>
            <a:off x="595371" y="1272319"/>
            <a:ext cx="11410682" cy="35055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520" l="-853" r="-907" t="-138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6"/>
          <p:cNvSpPr txBox="1"/>
          <p:nvPr>
            <p:ph type="title"/>
          </p:nvPr>
        </p:nvSpPr>
        <p:spPr>
          <a:xfrm>
            <a:off x="1378132" y="503872"/>
            <a:ext cx="10515600" cy="7969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fr-FR">
                <a:solidFill>
                  <a:srgbClr val="FF0000"/>
                </a:solidFill>
              </a:rPr>
              <a:t>L’écart type</a:t>
            </a:r>
            <a:endParaRPr/>
          </a:p>
        </p:txBody>
      </p:sp>
      <p:sp>
        <p:nvSpPr>
          <p:cNvPr id="271" name="Google Shape;271;p26"/>
          <p:cNvSpPr txBox="1"/>
          <p:nvPr>
            <p:ph idx="1" type="body"/>
          </p:nvPr>
        </p:nvSpPr>
        <p:spPr>
          <a:xfrm>
            <a:off x="733697" y="1478824"/>
            <a:ext cx="10515600" cy="581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fr-FR"/>
              <a:t>L’écart-type de la distribution est une caractéristique de la dispersion de cette distribution.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fr-FR"/>
              <a:t>Le calcul exact de l’écart type d’une distribution d’équation est donné par :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fr-FR"/>
              <a:t>En réalité, comme pour le calcul de la moyenne on ne connait que très rarement l’équation de la distribution , mais on dispose d’une série de valeurs  On calcule donc une approximation de l’écart-type en calculant 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72" name="Google Shape;27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29050" y="2995612"/>
            <a:ext cx="2533650" cy="1004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25525" y="5479200"/>
            <a:ext cx="2303850" cy="116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7"/>
          <p:cNvSpPr txBox="1"/>
          <p:nvPr>
            <p:ph type="title"/>
          </p:nvPr>
        </p:nvSpPr>
        <p:spPr>
          <a:xfrm>
            <a:off x="1338263" y="456566"/>
            <a:ext cx="10515600" cy="7969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Interprétation</a:t>
            </a:r>
            <a:endParaRPr/>
          </a:p>
        </p:txBody>
      </p:sp>
      <p:sp>
        <p:nvSpPr>
          <p:cNvPr id="279" name="Google Shape;279;p27"/>
          <p:cNvSpPr txBox="1"/>
          <p:nvPr>
            <p:ph idx="1" type="body"/>
          </p:nvPr>
        </p:nvSpPr>
        <p:spPr>
          <a:xfrm>
            <a:off x="838200" y="1285876"/>
            <a:ext cx="10515600" cy="4891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fr-FR"/>
              <a:t>Plus l’écart-type est grand , plus la dispersion est élevée.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80" name="Google Shape;28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9162" y="2019300"/>
            <a:ext cx="7915275" cy="4062413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7"/>
          <p:cNvSpPr/>
          <p:nvPr/>
        </p:nvSpPr>
        <p:spPr>
          <a:xfrm>
            <a:off x="8943975" y="3429000"/>
            <a:ext cx="685800" cy="2286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7"/>
          <p:cNvSpPr/>
          <p:nvPr/>
        </p:nvSpPr>
        <p:spPr>
          <a:xfrm>
            <a:off x="8943975" y="5343524"/>
            <a:ext cx="685800" cy="2286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7"/>
          <p:cNvSpPr txBox="1"/>
          <p:nvPr/>
        </p:nvSpPr>
        <p:spPr>
          <a:xfrm>
            <a:off x="9739313" y="3352562"/>
            <a:ext cx="21145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Ecart type 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7"/>
          <p:cNvSpPr txBox="1"/>
          <p:nvPr/>
        </p:nvSpPr>
        <p:spPr>
          <a:xfrm>
            <a:off x="9739313" y="5273158"/>
            <a:ext cx="21145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Ecart type =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8"/>
          <p:cNvSpPr txBox="1"/>
          <p:nvPr>
            <p:ph type="title"/>
          </p:nvPr>
        </p:nvSpPr>
        <p:spPr>
          <a:xfrm>
            <a:off x="1205248" y="420874"/>
            <a:ext cx="10515600" cy="8068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fr-FR">
                <a:solidFill>
                  <a:srgbClr val="FF0000"/>
                </a:solidFill>
              </a:rPr>
              <a:t>Calcul de la variance, l’écart type et l’étendue</a:t>
            </a:r>
            <a:endParaRPr/>
          </a:p>
        </p:txBody>
      </p:sp>
      <p:sp>
        <p:nvSpPr>
          <p:cNvPr id="290" name="Google Shape;290;p28"/>
          <p:cNvSpPr txBox="1"/>
          <p:nvPr>
            <p:ph idx="1" type="body"/>
          </p:nvPr>
        </p:nvSpPr>
        <p:spPr>
          <a:xfrm>
            <a:off x="851263" y="1354857"/>
            <a:ext cx="10515600" cy="5004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fr-FR"/>
              <a:t>Ecart type et variance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/>
              <a:t>La fonction </a:t>
            </a:r>
            <a:r>
              <a:rPr b="1" lang="fr-FR"/>
              <a:t>var(x)</a:t>
            </a:r>
            <a:r>
              <a:rPr lang="fr-FR"/>
              <a:t> calcule la variance du vecteur x.</a:t>
            </a:r>
            <a:br>
              <a:rPr lang="fr-FR"/>
            </a:br>
            <a:r>
              <a:rPr lang="fr-FR"/>
              <a:t>La fonction </a:t>
            </a:r>
            <a:r>
              <a:rPr b="1" lang="fr-FR"/>
              <a:t>sd(x)</a:t>
            </a:r>
            <a:r>
              <a:rPr lang="fr-FR"/>
              <a:t> calcule l'écart-type du vecteur x.</a:t>
            </a:r>
            <a:br>
              <a:rPr lang="fr-FR"/>
            </a:br>
            <a:br>
              <a:rPr lang="fr-FR"/>
            </a:br>
            <a:r>
              <a:rPr lang="fr-FR"/>
              <a:t>La variance et l'écart-type sont deux paramètres reliés car l'écart-type est égal à la racine carré de la variance. Si on reprend l'exemple des poids des 10 bébés 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</a:pPr>
            <a:r>
              <a:rPr lang="fr-FR">
                <a:solidFill>
                  <a:schemeClr val="accent1"/>
                </a:solidFill>
              </a:rPr>
              <a:t>&gt;var(poids)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</a:pPr>
            <a:r>
              <a:rPr lang="fr-FR">
                <a:solidFill>
                  <a:schemeClr val="accent1"/>
                </a:solidFill>
              </a:rPr>
              <a:t>&gt;sd(poids)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fr-FR"/>
              <a:t>L’étendue</a:t>
            </a:r>
            <a:r>
              <a:rPr lang="fr-FR"/>
              <a:t> : L'étendue est la différence entre la valeur maximum et la valeur minimum d'une série de données.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/>
              <a:t>Dans notre exemple des poids des bébés: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</a:pPr>
            <a:r>
              <a:rPr lang="fr-FR">
                <a:solidFill>
                  <a:schemeClr val="accent1"/>
                </a:solidFill>
              </a:rPr>
              <a:t>&gt;max(poids)-min(poids)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/>
          <p:nvPr/>
        </p:nvSpPr>
        <p:spPr>
          <a:xfrm>
            <a:off x="412193" y="2168569"/>
            <a:ext cx="784430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fr-FR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Les mesures de forme</a:t>
            </a:r>
            <a:endParaRPr b="1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6" name="Google Shape;29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3875" y="3363686"/>
            <a:ext cx="6318253" cy="2488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0"/>
          <p:cNvSpPr txBox="1"/>
          <p:nvPr>
            <p:ph type="title"/>
          </p:nvPr>
        </p:nvSpPr>
        <p:spPr>
          <a:xfrm>
            <a:off x="1269274" y="31287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Les mesures de formes</a:t>
            </a:r>
            <a:endParaRPr/>
          </a:p>
        </p:txBody>
      </p:sp>
      <p:sp>
        <p:nvSpPr>
          <p:cNvPr id="302" name="Google Shape;302;p3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/>
              <a:t>On distingue généralement deux catégories de mesures de forme : les </a:t>
            </a:r>
            <a:r>
              <a:rPr b="1" lang="fr-FR"/>
              <a:t>mesures d'asymétrie</a:t>
            </a:r>
            <a:r>
              <a:rPr lang="fr-FR"/>
              <a:t> et les </a:t>
            </a:r>
            <a:r>
              <a:rPr b="1" lang="fr-FR"/>
              <a:t>mesures d'aplatissement</a:t>
            </a:r>
            <a:r>
              <a:rPr lang="fr-FR"/>
              <a:t>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/>
              <a:t>Les mesures de forme n'ont de sens que lorsqu'on étudie des variables quantitatives mesurées sur une échelle d'intervalles.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/>
              <a:t>On analyse l’asymétrie d’une distribution par le coefficient (</a:t>
            </a:r>
            <a:r>
              <a:rPr b="1" lang="fr-FR"/>
              <a:t>skewness</a:t>
            </a:r>
            <a:r>
              <a:rPr lang="fr-FR"/>
              <a:t>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/>
              <a:t>On mesure l’aplatissement d’une distribution par le coefficient (</a:t>
            </a:r>
            <a:r>
              <a:rPr b="1" lang="fr-FR"/>
              <a:t>kurtosis</a:t>
            </a:r>
            <a:r>
              <a:rPr lang="fr-FR"/>
              <a:t>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1"/>
          <p:cNvSpPr txBox="1"/>
          <p:nvPr>
            <p:ph type="title"/>
          </p:nvPr>
        </p:nvSpPr>
        <p:spPr>
          <a:xfrm>
            <a:off x="1328181" y="35206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Asymétrie</a:t>
            </a:r>
            <a:endParaRPr/>
          </a:p>
        </p:txBody>
      </p:sp>
      <p:sp>
        <p:nvSpPr>
          <p:cNvPr id="308" name="Google Shape;308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/>
              <a:t>L'asymétrie évalue dans quelle mesure les données ne sont pas symétriques.</a:t>
            </a:r>
            <a:endParaRPr/>
          </a:p>
        </p:txBody>
      </p:sp>
      <p:sp>
        <p:nvSpPr>
          <p:cNvPr id="309" name="Google Shape;309;p31"/>
          <p:cNvSpPr txBox="1"/>
          <p:nvPr/>
        </p:nvSpPr>
        <p:spPr>
          <a:xfrm>
            <a:off x="618187" y="5190343"/>
            <a:ext cx="11372045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l'analyse de l'histogramme permet de se rendre compte du caractère symétrique ou non d'une distribution.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0" name="Google Shape;310;p31"/>
          <p:cNvPicPr preferRelativeResize="0"/>
          <p:nvPr/>
        </p:nvPicPr>
        <p:blipFill rotWithShape="1">
          <a:blip r:embed="rId3">
            <a:alphaModFix/>
          </a:blip>
          <a:srcRect b="47509" l="33565" r="39648" t="36464"/>
          <a:stretch/>
        </p:blipFill>
        <p:spPr>
          <a:xfrm>
            <a:off x="2936383" y="2805112"/>
            <a:ext cx="5329412" cy="1882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Distributions positives ou asymétriques à droite</a:t>
            </a:r>
            <a:endParaRPr/>
          </a:p>
        </p:txBody>
      </p:sp>
      <p:sp>
        <p:nvSpPr>
          <p:cNvPr id="316" name="Google Shape;316;p3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317" name="Google Shape;317;p32"/>
          <p:cNvPicPr preferRelativeResize="0"/>
          <p:nvPr/>
        </p:nvPicPr>
        <p:blipFill rotWithShape="1">
          <a:blip r:embed="rId3">
            <a:alphaModFix/>
          </a:blip>
          <a:srcRect b="65595" l="33399" r="53868" t="17936"/>
          <a:stretch/>
        </p:blipFill>
        <p:spPr>
          <a:xfrm>
            <a:off x="721217" y="2170625"/>
            <a:ext cx="3322749" cy="3508957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32"/>
          <p:cNvSpPr txBox="1"/>
          <p:nvPr/>
        </p:nvSpPr>
        <p:spPr>
          <a:xfrm>
            <a:off x="4353060" y="2801718"/>
            <a:ext cx="7564526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données présentant une asymétrie positive ou asymétriques à droite doivent leur appellation au fait que la "queue" de la loi de distribution pointe vers la droite et que leur valeur d'asymétrie est supérieure à 0 (ou est positive).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3"/>
          <p:cNvSpPr txBox="1"/>
          <p:nvPr>
            <p:ph type="title"/>
          </p:nvPr>
        </p:nvSpPr>
        <p:spPr>
          <a:xfrm>
            <a:off x="1154129" y="45656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Distributions négatives ou asymétriques à gauche</a:t>
            </a:r>
            <a:endParaRPr/>
          </a:p>
        </p:txBody>
      </p:sp>
      <p:pic>
        <p:nvPicPr>
          <p:cNvPr id="324" name="Google Shape;324;p3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50304" l="33564" r="53539" t="33522"/>
          <a:stretch/>
        </p:blipFill>
        <p:spPr>
          <a:xfrm>
            <a:off x="1174372" y="2430919"/>
            <a:ext cx="3217323" cy="3609273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3"/>
          <p:cNvSpPr txBox="1"/>
          <p:nvPr/>
        </p:nvSpPr>
        <p:spPr>
          <a:xfrm>
            <a:off x="4778062" y="2794715"/>
            <a:ext cx="6787165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données asymétriques à gauche ou présentant une asymétrie négative doivent leur nom au fait que la "queue" de leur loi de distribution pointe vers la gauche et qu'elles génèrent une valeur d'asymétrie négative.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1614f65f9a1_0_24"/>
          <p:cNvSpPr txBox="1"/>
          <p:nvPr>
            <p:ph type="title"/>
          </p:nvPr>
        </p:nvSpPr>
        <p:spPr>
          <a:xfrm>
            <a:off x="1328181" y="35206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>
                <a:solidFill>
                  <a:srgbClr val="1155CC"/>
                </a:solidFill>
              </a:rPr>
              <a:t>Coefficient d'asymétrie (SKEWNESS)</a:t>
            </a:r>
            <a:endParaRPr b="1">
              <a:solidFill>
                <a:srgbClr val="1155CC"/>
              </a:solidFill>
            </a:endParaRPr>
          </a:p>
        </p:txBody>
      </p:sp>
      <p:sp>
        <p:nvSpPr>
          <p:cNvPr id="331" name="Google Shape;331;g1614f65f9a1_0_24"/>
          <p:cNvSpPr txBox="1"/>
          <p:nvPr/>
        </p:nvSpPr>
        <p:spPr>
          <a:xfrm>
            <a:off x="334850" y="1441850"/>
            <a:ext cx="12014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C’est un paramètre qui mesure le degré d’asymétrie de la distribution d’une variable.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2" name="Google Shape;332;g1614f65f9a1_0_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95075" y="2144500"/>
            <a:ext cx="4829075" cy="2568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1614f65f9a1_0_36"/>
          <p:cNvSpPr txBox="1"/>
          <p:nvPr>
            <p:ph type="title"/>
          </p:nvPr>
        </p:nvSpPr>
        <p:spPr>
          <a:xfrm>
            <a:off x="1328181" y="35206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>
                <a:solidFill>
                  <a:srgbClr val="1155CC"/>
                </a:solidFill>
              </a:rPr>
              <a:t>Coefficient d'asymétrie (SKEWNESS)</a:t>
            </a:r>
            <a:endParaRPr b="1">
              <a:solidFill>
                <a:srgbClr val="1155CC"/>
              </a:solidFill>
            </a:endParaRPr>
          </a:p>
        </p:txBody>
      </p:sp>
      <p:sp>
        <p:nvSpPr>
          <p:cNvPr id="338" name="Google Shape;338;g1614f65f9a1_0_36"/>
          <p:cNvSpPr txBox="1"/>
          <p:nvPr/>
        </p:nvSpPr>
        <p:spPr>
          <a:xfrm>
            <a:off x="884025" y="1446625"/>
            <a:ext cx="9577200" cy="341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fr-FR" sz="2100" u="none" cap="none" strike="noStrike">
                <a:solidFill>
                  <a:srgbClr val="98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Interprétation</a:t>
            </a:r>
            <a:endParaRPr b="1" i="0" sz="2100" u="none" cap="none" strike="noStrike">
              <a:solidFill>
                <a:srgbClr val="98000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AutoNum type="arabicParenR"/>
            </a:pPr>
            <a:r>
              <a:rPr b="0" i="0" lang="fr-FR" sz="2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La valeur de ce coefficient est de 0 pour une distribution normale. </a:t>
            </a:r>
            <a:endParaRPr b="0" i="0" sz="21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AutoNum type="arabicParenR"/>
            </a:pPr>
            <a:r>
              <a:rPr b="0" i="0" lang="fr-FR" sz="2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Un coefficient </a:t>
            </a:r>
            <a:r>
              <a:rPr b="1" i="0" lang="fr-FR" sz="2100" u="none" cap="none" strike="noStrike">
                <a:solidFill>
                  <a:srgbClr val="CC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négatif </a:t>
            </a:r>
            <a:r>
              <a:rPr b="0" i="0" lang="fr-FR" sz="2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traduit une asymétrie avec une queue de de distribution plus étendue à gauche. </a:t>
            </a:r>
            <a:endParaRPr b="0" i="0" sz="21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AutoNum type="arabicParenR"/>
            </a:pPr>
            <a:r>
              <a:rPr b="0" i="0" lang="fr-FR" sz="2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Un coefficient </a:t>
            </a:r>
            <a:r>
              <a:rPr b="1" i="0" lang="fr-FR" sz="2100" u="none" cap="none" strike="noStrike">
                <a:solidFill>
                  <a:srgbClr val="3C78D8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positif</a:t>
            </a:r>
            <a:r>
              <a:rPr b="0" i="0" lang="fr-FR" sz="2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traduit une asymétrie avec une queue de de distribution plus étendue à droite.</a:t>
            </a:r>
            <a:endParaRPr b="0" i="0" sz="21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9" name="Google Shape;339;g1614f65f9a1_0_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4841" y="4489675"/>
            <a:ext cx="4295576" cy="212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4"/>
          <p:cNvSpPr txBox="1"/>
          <p:nvPr>
            <p:ph type="title"/>
          </p:nvPr>
        </p:nvSpPr>
        <p:spPr>
          <a:xfrm>
            <a:off x="1194515" y="4435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Aplatissement</a:t>
            </a:r>
            <a:br>
              <a:rPr lang="fr-FR"/>
            </a:br>
            <a:endParaRPr/>
          </a:p>
        </p:txBody>
      </p:sp>
      <p:sp>
        <p:nvSpPr>
          <p:cNvPr id="345" name="Google Shape;345;p34"/>
          <p:cNvSpPr txBox="1"/>
          <p:nvPr>
            <p:ph idx="1" type="body"/>
          </p:nvPr>
        </p:nvSpPr>
        <p:spPr>
          <a:xfrm>
            <a:off x="838200" y="1236372"/>
            <a:ext cx="10515600" cy="53704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/>
              <a:t>L'aplatissement indique dans quelle mesure les queues d'une loi diffèrent de la loi normale.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fr-FR"/>
              <a:t>Interprétation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/>
              <a:t>Une valeur d'aplatissement de 0 indique que les données suivent parfaitement la loi de distribution normale.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/>
              <a:t>Une valeur d'aplatissement déviant significativement de la valeur 0 peut indiquer que les données ne sont pas distribuées normalement.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br>
              <a:rPr lang="fr-FR"/>
            </a:br>
            <a:endParaRPr/>
          </a:p>
        </p:txBody>
      </p:sp>
      <p:pic>
        <p:nvPicPr>
          <p:cNvPr id="346" name="Google Shape;346;p34"/>
          <p:cNvPicPr preferRelativeResize="0"/>
          <p:nvPr/>
        </p:nvPicPr>
        <p:blipFill rotWithShape="1">
          <a:blip r:embed="rId3">
            <a:alphaModFix/>
          </a:blip>
          <a:srcRect b="57067" l="33234" r="46097" t="17643"/>
          <a:stretch/>
        </p:blipFill>
        <p:spPr>
          <a:xfrm>
            <a:off x="4159876" y="2130782"/>
            <a:ext cx="2292439" cy="1269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1614f65f9a1_0_53"/>
          <p:cNvSpPr txBox="1"/>
          <p:nvPr>
            <p:ph type="title"/>
          </p:nvPr>
        </p:nvSpPr>
        <p:spPr>
          <a:xfrm>
            <a:off x="1328181" y="35206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>
                <a:solidFill>
                  <a:srgbClr val="1155CC"/>
                </a:solidFill>
              </a:rPr>
              <a:t>Coefficient d'aplatissement (KURTOSIS)</a:t>
            </a:r>
            <a:endParaRPr b="1">
              <a:solidFill>
                <a:srgbClr val="1155CC"/>
              </a:solidFill>
            </a:endParaRPr>
          </a:p>
        </p:txBody>
      </p:sp>
      <p:pic>
        <p:nvPicPr>
          <p:cNvPr id="352" name="Google Shape;352;g1614f65f9a1_0_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96475" y="1677750"/>
            <a:ext cx="5221425" cy="437495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g1614f65f9a1_0_53"/>
          <p:cNvSpPr txBox="1"/>
          <p:nvPr/>
        </p:nvSpPr>
        <p:spPr>
          <a:xfrm>
            <a:off x="334850" y="1441850"/>
            <a:ext cx="60408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fr-F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C’est un paramètre qui mesure le degré d’aplatissement ou de rétrécissement de la distribution d’une variable.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4" name="Google Shape;354;g1614f65f9a1_0_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2979650"/>
            <a:ext cx="5916051" cy="32245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1614f65f9a1_0_63"/>
          <p:cNvSpPr txBox="1"/>
          <p:nvPr>
            <p:ph type="title"/>
          </p:nvPr>
        </p:nvSpPr>
        <p:spPr>
          <a:xfrm>
            <a:off x="1328181" y="35206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>
                <a:solidFill>
                  <a:srgbClr val="1155CC"/>
                </a:solidFill>
              </a:rPr>
              <a:t>              KURTOSIS Normalisé</a:t>
            </a:r>
            <a:endParaRPr b="1">
              <a:solidFill>
                <a:srgbClr val="1155CC"/>
              </a:solidFill>
            </a:endParaRPr>
          </a:p>
        </p:txBody>
      </p:sp>
      <p:pic>
        <p:nvPicPr>
          <p:cNvPr id="360" name="Google Shape;360;g1614f65f9a1_0_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4950" y="1677762"/>
            <a:ext cx="8258583" cy="4875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g1614f65f9a1_0_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119" y="2251775"/>
            <a:ext cx="6014906" cy="2615725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g1614f65f9a1_0_71"/>
          <p:cNvSpPr txBox="1"/>
          <p:nvPr>
            <p:ph type="title"/>
          </p:nvPr>
        </p:nvSpPr>
        <p:spPr>
          <a:xfrm>
            <a:off x="1328181" y="35206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fr-FR">
                <a:solidFill>
                  <a:srgbClr val="1155CC"/>
                </a:solidFill>
              </a:rPr>
              <a:t>              Interprétation</a:t>
            </a:r>
            <a:endParaRPr b="1">
              <a:solidFill>
                <a:srgbClr val="1155CC"/>
              </a:solidFill>
            </a:endParaRPr>
          </a:p>
        </p:txBody>
      </p:sp>
      <p:pic>
        <p:nvPicPr>
          <p:cNvPr id="367" name="Google Shape;367;g1614f65f9a1_0_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0826" y="1832876"/>
            <a:ext cx="5568701" cy="371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6"/>
          <p:cNvSpPr/>
          <p:nvPr/>
        </p:nvSpPr>
        <p:spPr>
          <a:xfrm>
            <a:off x="535363" y="2418082"/>
            <a:ext cx="7673447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fr-FR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Représentation Graphique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3" name="Google Shape;37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2400" y="3513907"/>
            <a:ext cx="4853577" cy="2730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7"/>
          <p:cNvSpPr txBox="1"/>
          <p:nvPr>
            <p:ph type="title"/>
          </p:nvPr>
        </p:nvSpPr>
        <p:spPr>
          <a:xfrm>
            <a:off x="1230086" y="29981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Représentation graphique</a:t>
            </a:r>
            <a:endParaRPr/>
          </a:p>
        </p:txBody>
      </p:sp>
      <p:sp>
        <p:nvSpPr>
          <p:cNvPr id="379" name="Google Shape;379;p37"/>
          <p:cNvSpPr txBox="1"/>
          <p:nvPr>
            <p:ph idx="1" type="body"/>
          </p:nvPr>
        </p:nvSpPr>
        <p:spPr>
          <a:xfrm>
            <a:off x="838200" y="1481070"/>
            <a:ext cx="10515600" cy="46958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/>
              <a:t>la représentation graphique dépend du type de variable.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"/>
              <a:buChar char="⮚"/>
            </a:pPr>
            <a:r>
              <a:rPr b="1" lang="fr-FR"/>
              <a:t>Variable qualitative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fr-FR" sz="3000">
                <a:latin typeface="Times New Roman"/>
                <a:ea typeface="Times New Roman"/>
                <a:cs typeface="Times New Roman"/>
                <a:sym typeface="Times New Roman"/>
              </a:rPr>
              <a:t>Diagramme en bâtons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/>
              <a:t>Pour les variables pour lesquelles il est possible de calculer les effectifs, on peut tracer un diagramme en bâton 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fr-FR" sz="2800">
                <a:latin typeface="Times New Roman"/>
                <a:ea typeface="Times New Roman"/>
                <a:cs typeface="Times New Roman"/>
                <a:sym typeface="Times New Roman"/>
              </a:rPr>
              <a:t>Commande: barplot(table(    ))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Diagramme circulaire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/>
              <a:t>Il est également possible de tracer des camemberts, cela peut se faire avec la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fr-FR">
                <a:latin typeface="Times New Roman"/>
                <a:ea typeface="Times New Roman"/>
                <a:cs typeface="Times New Roman"/>
                <a:sym typeface="Times New Roman"/>
              </a:rPr>
              <a:t>Commande:</a:t>
            </a:r>
            <a:r>
              <a:rPr lang="fr-FR"/>
              <a:t> </a:t>
            </a:r>
            <a:r>
              <a:rPr b="1" lang="fr-FR">
                <a:latin typeface="Times New Roman"/>
                <a:ea typeface="Times New Roman"/>
                <a:cs typeface="Times New Roman"/>
                <a:sym typeface="Times New Roman"/>
              </a:rPr>
              <a:t>pie ( )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8"/>
          <p:cNvSpPr txBox="1"/>
          <p:nvPr>
            <p:ph type="title"/>
          </p:nvPr>
        </p:nvSpPr>
        <p:spPr>
          <a:xfrm>
            <a:off x="1332962" y="28674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fr-FR">
                <a:solidFill>
                  <a:srgbClr val="FF0000"/>
                </a:solidFill>
              </a:rPr>
              <a:t>Diagramme en bâtons</a:t>
            </a:r>
            <a:endParaRPr/>
          </a:p>
        </p:txBody>
      </p:sp>
      <p:sp>
        <p:nvSpPr>
          <p:cNvPr id="385" name="Google Shape;385;p38"/>
          <p:cNvSpPr txBox="1"/>
          <p:nvPr>
            <p:ph idx="1" type="body"/>
          </p:nvPr>
        </p:nvSpPr>
        <p:spPr>
          <a:xfrm>
            <a:off x="465786" y="1533488"/>
            <a:ext cx="1103738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diagrammes en bâtons sont utilisés pour représenter des séries à variable  discrète.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dit aussi :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"/>
              <a:buChar char="▪"/>
            </a:pP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diagrammes en bâtons sont utilisés pour représenter des séries à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caractère discret .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"/>
              <a:buChar char="▪"/>
            </a:pP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diagrammes en bâtons sont utilisés pour représenter des séries à caractère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 variable) discontinu</a:t>
            </a:r>
            <a:r>
              <a:rPr b="1" i="0" lang="fr-FR" sz="1400" u="none" cap="none" strike="noStrike">
                <a:solidFill>
                  <a:srgbClr val="000000"/>
                </a:solidFill>
                <a:latin typeface="Teko"/>
                <a:ea typeface="Teko"/>
                <a:cs typeface="Teko"/>
                <a:sym typeface="Teko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6" name="Google Shape;386;p38"/>
          <p:cNvPicPr preferRelativeResize="0"/>
          <p:nvPr/>
        </p:nvPicPr>
        <p:blipFill rotWithShape="1">
          <a:blip r:embed="rId3">
            <a:alphaModFix/>
          </a:blip>
          <a:srcRect b="29131" l="40675" r="27249" t="31758"/>
          <a:stretch/>
        </p:blipFill>
        <p:spPr>
          <a:xfrm>
            <a:off x="1571223" y="4146997"/>
            <a:ext cx="3657599" cy="2163651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38"/>
          <p:cNvSpPr txBox="1"/>
          <p:nvPr/>
        </p:nvSpPr>
        <p:spPr>
          <a:xfrm>
            <a:off x="5640945" y="4318331"/>
            <a:ext cx="6207617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valeurs x prises par les variables sont placées sur l'axe des abscisses, et les effectifs (ou les fréquences) sur l'axe des ordonnées. La hauteur du bâton est proportionnelle à l'effectif.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9"/>
          <p:cNvSpPr txBox="1"/>
          <p:nvPr>
            <p:ph type="title"/>
          </p:nvPr>
        </p:nvSpPr>
        <p:spPr>
          <a:xfrm>
            <a:off x="1164771" y="339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fr-FR">
                <a:solidFill>
                  <a:srgbClr val="FF0000"/>
                </a:solidFill>
              </a:rPr>
              <a:t>Diagramme circulaire</a:t>
            </a:r>
            <a:endParaRPr/>
          </a:p>
        </p:txBody>
      </p:sp>
      <p:sp>
        <p:nvSpPr>
          <p:cNvPr id="393" name="Google Shape;393;p3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/>
              <a:t>Le diagramme circulaire peut être un camembert ou un donut chart.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/>
              <a:t>Le diagramme circulaire ou camembert permet de représenter des proportions. Dans un camembert, c'est l'angle qui représente la part de chaque catégorie dans un tout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394" name="Google Shape;394;p39"/>
          <p:cNvPicPr preferRelativeResize="0"/>
          <p:nvPr/>
        </p:nvPicPr>
        <p:blipFill rotWithShape="1">
          <a:blip r:embed="rId3">
            <a:alphaModFix/>
          </a:blip>
          <a:srcRect b="30306" l="14219" r="74868" t="54400"/>
          <a:stretch/>
        </p:blipFill>
        <p:spPr>
          <a:xfrm>
            <a:off x="5087155" y="4438316"/>
            <a:ext cx="2305319" cy="1738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0"/>
          <p:cNvSpPr txBox="1"/>
          <p:nvPr>
            <p:ph type="title"/>
          </p:nvPr>
        </p:nvSpPr>
        <p:spPr>
          <a:xfrm>
            <a:off x="1347652" y="2414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Application : Diagramme en bâtons</a:t>
            </a:r>
            <a:endParaRPr/>
          </a:p>
        </p:txBody>
      </p:sp>
      <p:sp>
        <p:nvSpPr>
          <p:cNvPr id="400" name="Google Shape;400;p40"/>
          <p:cNvSpPr txBox="1"/>
          <p:nvPr>
            <p:ph idx="1" type="body"/>
          </p:nvPr>
        </p:nvSpPr>
        <p:spPr>
          <a:xfrm>
            <a:off x="1065727" y="1539209"/>
            <a:ext cx="11126273" cy="5108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/>
              <a:t>Soit la base de données « hdv2003 » du package questionr</a:t>
            </a:r>
            <a:endParaRPr/>
          </a:p>
          <a:p>
            <a:pPr indent="0" lvl="0" marL="10972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Représenter le diagramme en bâtons de la variable qualitative occup.</a:t>
            </a:r>
            <a:endParaRPr/>
          </a:p>
          <a:p>
            <a:pPr indent="0" lvl="0" marL="10972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0972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</a:pPr>
            <a:r>
              <a:rPr b="1" lang="fr-FR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&gt;library(questionr)</a:t>
            </a:r>
            <a:endParaRPr/>
          </a:p>
          <a:p>
            <a:pPr indent="0" lvl="0" marL="10972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</a:pPr>
            <a:r>
              <a:rPr b="1" lang="fr-FR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&gt;data(hdv2003) # Chargement des données</a:t>
            </a:r>
            <a:endParaRPr/>
          </a:p>
          <a:p>
            <a:pPr indent="0" lvl="0" marL="10972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</a:pPr>
            <a:r>
              <a:rPr b="1" lang="fr-FR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&gt;hdv2003.bis &lt;- hdv2003[,-1] # Efface la variable id (colonne 1)</a:t>
            </a:r>
            <a:endParaRPr/>
          </a:p>
          <a:p>
            <a:pPr indent="0" lvl="0" marL="10972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</a:pPr>
            <a:r>
              <a:rPr b="1" lang="fr-FR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 barplot(table(hdv2003.bis$occup), </a:t>
            </a:r>
            <a:endParaRPr/>
          </a:p>
          <a:p>
            <a:pPr indent="0" lvl="0" marL="10972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</a:pPr>
            <a:r>
              <a:rPr b="1" lang="fr-FR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            horiz = TRUE,las=1, </a:t>
            </a:r>
            <a:endParaRPr/>
          </a:p>
          <a:p>
            <a:pPr indent="0" lvl="0" marL="10972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</a:pPr>
            <a:r>
              <a:rPr b="1" lang="fr-FR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            col = "purple", </a:t>
            </a:r>
            <a:endParaRPr/>
          </a:p>
          <a:p>
            <a:pPr indent="0" lvl="0" marL="10972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</a:pPr>
            <a:r>
              <a:rPr b="1" lang="fr-FR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            border = "white",</a:t>
            </a:r>
            <a:endParaRPr/>
          </a:p>
          <a:p>
            <a:pPr indent="0" lvl="0" marL="10972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</a:pPr>
            <a:r>
              <a:rPr b="1" lang="fr-FR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            main ="Effectif par situation professionelle",</a:t>
            </a:r>
            <a:endParaRPr/>
          </a:p>
          <a:p>
            <a:pPr indent="0" lvl="0" marL="10972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</a:pPr>
            <a:r>
              <a:rPr b="1" lang="fr-FR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            xlab = "Effectifs")</a:t>
            </a:r>
            <a:endParaRPr/>
          </a:p>
          <a:p>
            <a:pPr indent="0" lvl="0" marL="10972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1"/>
          <p:cNvSpPr txBox="1"/>
          <p:nvPr>
            <p:ph type="title"/>
          </p:nvPr>
        </p:nvSpPr>
        <p:spPr>
          <a:xfrm>
            <a:off x="1256212" y="17875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Représentation graphique</a:t>
            </a:r>
            <a:endParaRPr/>
          </a:p>
        </p:txBody>
      </p:sp>
      <p:sp>
        <p:nvSpPr>
          <p:cNvPr id="406" name="Google Shape;406;p41"/>
          <p:cNvSpPr txBox="1"/>
          <p:nvPr>
            <p:ph idx="1" type="body"/>
          </p:nvPr>
        </p:nvSpPr>
        <p:spPr>
          <a:xfrm>
            <a:off x="825137" y="1478187"/>
            <a:ext cx="10515600" cy="51559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"/>
              <a:buChar char="⮚"/>
            </a:pPr>
            <a:r>
              <a:rPr b="1" lang="fr-FR" sz="2800"/>
              <a:t>Variable quantitative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Histogramme: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-FR" sz="2800"/>
              <a:t>Un histogramme d’une série statistique est donné par la</a:t>
            </a: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 fonction : </a:t>
            </a:r>
            <a:r>
              <a:rPr b="1" i="1" lang="fr-FR" sz="2800">
                <a:latin typeface="Times New Roman"/>
                <a:ea typeface="Times New Roman"/>
                <a:cs typeface="Times New Roman"/>
                <a:sym typeface="Times New Roman"/>
              </a:rPr>
              <a:t>hist( 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i="1"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0972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fr-FR">
                <a:latin typeface="Times New Roman"/>
                <a:ea typeface="Times New Roman"/>
                <a:cs typeface="Times New Roman"/>
                <a:sym typeface="Times New Roman"/>
              </a:rPr>
              <a:t>Exemple</a:t>
            </a: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: Les données « cars »  </a:t>
            </a:r>
            <a:endParaRPr/>
          </a:p>
          <a:p>
            <a:pPr indent="0" lvl="0" marL="10972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Représenter l’histogramme de la variable quantitative </a:t>
            </a:r>
            <a:r>
              <a:rPr b="1" i="1" lang="fr-FR">
                <a:latin typeface="Times New Roman"/>
                <a:ea typeface="Times New Roman"/>
                <a:cs typeface="Times New Roman"/>
                <a:sym typeface="Times New Roman"/>
              </a:rPr>
              <a:t>speed</a:t>
            </a: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0" lvl="0" marL="10972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</a:pPr>
            <a:r>
              <a:rPr lang="fr-FR">
                <a:solidFill>
                  <a:schemeClr val="accent1"/>
                </a:solidFill>
                <a:latin typeface="Lemon"/>
                <a:ea typeface="Lemon"/>
                <a:cs typeface="Lemon"/>
                <a:sym typeface="Lemon"/>
              </a:rPr>
              <a:t>&gt;hist(cars$speed, main="histogramme")</a:t>
            </a:r>
            <a:endParaRPr/>
          </a:p>
          <a:p>
            <a:pPr indent="0" lvl="0" marL="10972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fr-FR" sz="2800"/>
              <a:t>Boîte à moustache :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 sz="2800"/>
              <a:t>Une boîte à moustache est réalisée en utilisant la fonction </a:t>
            </a:r>
            <a:r>
              <a:rPr b="1" lang="fr-FR" sz="2800"/>
              <a:t>boxplot</a:t>
            </a:r>
            <a:r>
              <a:rPr lang="fr-FR" sz="2800"/>
              <a:t> ()</a:t>
            </a:r>
            <a:endParaRPr b="1" i="1" sz="28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2"/>
          <p:cNvSpPr txBox="1"/>
          <p:nvPr>
            <p:ph type="title"/>
          </p:nvPr>
        </p:nvSpPr>
        <p:spPr>
          <a:xfrm>
            <a:off x="1140486" y="18218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fr-FR">
                <a:solidFill>
                  <a:srgbClr val="FF0000"/>
                </a:solidFill>
              </a:rPr>
              <a:t>Histogramme</a:t>
            </a:r>
            <a:endParaRPr/>
          </a:p>
        </p:txBody>
      </p:sp>
      <p:sp>
        <p:nvSpPr>
          <p:cNvPr id="412" name="Google Shape;412;p42"/>
          <p:cNvSpPr txBox="1"/>
          <p:nvPr>
            <p:ph idx="1" type="body"/>
          </p:nvPr>
        </p:nvSpPr>
        <p:spPr>
          <a:xfrm>
            <a:off x="838200" y="1442434"/>
            <a:ext cx="10515600" cy="4734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/>
              <a:t>Un histogramme divise les valeurs des échantillons en plusieurs intervalles et représente l'effectif des valeurs contenues dans chaque intervalle par une barre.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/>
              <a:t>un </a:t>
            </a:r>
            <a:r>
              <a:rPr b="1" lang="fr-FR"/>
              <a:t>histogramme</a:t>
            </a:r>
            <a:r>
              <a:rPr lang="fr-FR"/>
              <a:t> est une </a:t>
            </a:r>
            <a:r>
              <a:rPr b="1" lang="fr-FR"/>
              <a:t>représentation graphique</a:t>
            </a:r>
            <a:r>
              <a:rPr lang="fr-FR"/>
              <a:t> permettant de représenter la répartition d'une </a:t>
            </a:r>
            <a:r>
              <a:rPr b="1" lang="fr-FR"/>
              <a:t>variable continue </a:t>
            </a:r>
            <a:r>
              <a:rPr lang="fr-FR"/>
              <a:t>en la représentant avec des colonnes verticales.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fr-FR"/>
              <a:t>Interprétation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/>
              <a:t>Utilisez un histogramme pour évaluer la forme et la dispersion des données. Les histogrammes sont plus adaptés lorsque l'effectif d'échantillon est supérieur à 20.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418" name="Google Shape;418;p43"/>
          <p:cNvPicPr preferRelativeResize="0"/>
          <p:nvPr/>
        </p:nvPicPr>
        <p:blipFill rotWithShape="1">
          <a:blip r:embed="rId3">
            <a:alphaModFix/>
          </a:blip>
          <a:srcRect b="23839" l="26124" r="27083" t="10292"/>
          <a:stretch/>
        </p:blipFill>
        <p:spPr>
          <a:xfrm>
            <a:off x="3721995" y="1679757"/>
            <a:ext cx="4018208" cy="3310944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43"/>
          <p:cNvSpPr txBox="1"/>
          <p:nvPr/>
        </p:nvSpPr>
        <p:spPr>
          <a:xfrm>
            <a:off x="1001331" y="563212"/>
            <a:ext cx="10671221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fr-FR" sz="2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Exemple d'histogramme</a:t>
            </a:r>
            <a:r>
              <a:rPr b="0" i="0" lang="fr-FR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pour un échantillon de 100 valeurs générées pour une distribution normale N(0,1).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43"/>
          <p:cNvSpPr txBox="1"/>
          <p:nvPr/>
        </p:nvSpPr>
        <p:spPr>
          <a:xfrm>
            <a:off x="519448" y="5280338"/>
            <a:ext cx="11153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fr-FR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théorie, l'histogramme est la représentation graphique de la densité représentant  des différents intervalles de la partition de l'ensemble des modalités.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4"/>
          <p:cNvSpPr txBox="1"/>
          <p:nvPr>
            <p:ph type="title"/>
          </p:nvPr>
        </p:nvSpPr>
        <p:spPr>
          <a:xfrm>
            <a:off x="1282337" y="16981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fr-FR">
                <a:solidFill>
                  <a:srgbClr val="FF0000"/>
                </a:solidFill>
              </a:rPr>
              <a:t>Boîte à moustache</a:t>
            </a:r>
            <a:endParaRPr/>
          </a:p>
        </p:txBody>
      </p:sp>
      <p:sp>
        <p:nvSpPr>
          <p:cNvPr id="426" name="Google Shape;426;p44"/>
          <p:cNvSpPr txBox="1"/>
          <p:nvPr>
            <p:ph idx="1" type="body"/>
          </p:nvPr>
        </p:nvSpPr>
        <p:spPr>
          <a:xfrm>
            <a:off x="1060268" y="1394415"/>
            <a:ext cx="10515600" cy="50307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/>
              <a:t>La boîte à moustaches indique la forme, la tendance centrale et la variabilité des données. Elle examine </a:t>
            </a:r>
            <a:r>
              <a:rPr lang="fr-FR" sz="2800"/>
              <a:t>la dispersion des données pour déterminer si elles semblent  asymétriques.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45720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45720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45720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45720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45720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45720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/>
              <a:t>Lorsque les données sont asymétriques, la majorité d'entre elles sont situées </a:t>
            </a:r>
            <a:endParaRPr/>
          </a:p>
          <a:p>
            <a:pPr indent="-45720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/>
              <a:t>sur le côté supérieur ou inférieur du graphique.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427" name="Google Shape;427;p44"/>
          <p:cNvPicPr preferRelativeResize="0"/>
          <p:nvPr/>
        </p:nvPicPr>
        <p:blipFill rotWithShape="1">
          <a:blip r:embed="rId3">
            <a:alphaModFix/>
          </a:blip>
          <a:srcRect b="37071" l="33565" r="37334" t="40874"/>
          <a:stretch/>
        </p:blipFill>
        <p:spPr>
          <a:xfrm>
            <a:off x="2466120" y="2596139"/>
            <a:ext cx="6014434" cy="26272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5"/>
          <p:cNvSpPr txBox="1"/>
          <p:nvPr>
            <p:ph type="title"/>
          </p:nvPr>
        </p:nvSpPr>
        <p:spPr>
          <a:xfrm>
            <a:off x="1282337" y="37818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Interprétation</a:t>
            </a:r>
            <a:endParaRPr/>
          </a:p>
        </p:txBody>
      </p:sp>
      <p:sp>
        <p:nvSpPr>
          <p:cNvPr id="433" name="Google Shape;433;p45"/>
          <p:cNvSpPr txBox="1"/>
          <p:nvPr>
            <p:ph idx="1" type="body"/>
          </p:nvPr>
        </p:nvSpPr>
        <p:spPr>
          <a:xfrm>
            <a:off x="104105" y="1984367"/>
            <a:ext cx="12105320" cy="3930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142825" lIns="142825" spcFirstLastPara="1" rIns="91425" wrap="square" tIns="365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"/>
              <a:buChar char="❑"/>
            </a:pPr>
            <a:r>
              <a:rPr lang="fr-FR" sz="2400"/>
              <a:t>Utilisez une boîte à moustaches pour examiner la dispersion des données et pour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sz="2400"/>
              <a:t>détecter d'éventuelles valeurs aberrantes.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"/>
              <a:buChar char="❑"/>
            </a:pPr>
            <a:r>
              <a:rPr lang="fr-FR" sz="2400"/>
              <a:t>Les boîtes à moustaches sont plus adaptées lorsque l'effectif d'échantillon est supérieur à 20.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4572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"/>
              <a:buChar char="❑"/>
            </a:pPr>
            <a:r>
              <a:rPr lang="fr-FR"/>
              <a:t>En général, l'asymétrie des données est plus facile à détecter avec un histogramme </a:t>
            </a:r>
            <a:endParaRPr/>
          </a:p>
          <a:p>
            <a:pPr indent="-4572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fr-FR"/>
              <a:t>ou une boîte à moustaches.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6"/>
          <p:cNvSpPr txBox="1"/>
          <p:nvPr>
            <p:ph type="title"/>
          </p:nvPr>
        </p:nvSpPr>
        <p:spPr>
          <a:xfrm>
            <a:off x="1282337" y="33899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/>
              <a:t>Quelques fonctions statistiques avec R </a:t>
            </a:r>
            <a:endParaRPr/>
          </a:p>
        </p:txBody>
      </p:sp>
      <p:graphicFrame>
        <p:nvGraphicFramePr>
          <p:cNvPr id="439" name="Google Shape;439;p46"/>
          <p:cNvGraphicFramePr/>
          <p:nvPr/>
        </p:nvGraphicFramePr>
        <p:xfrm>
          <a:off x="3143250" y="2160588"/>
          <a:ext cx="5905500" cy="3683000"/>
        </p:xfrm>
        <a:graphic>
          <a:graphicData uri="http://schemas.openxmlformats.org/presentationml/2006/ole">
            <mc:AlternateContent>
              <mc:Choice Requires="v">
                <p:oleObj r:id="rId4" imgH="3683000" imgW="5905500" progId="Word.Document.12" spid="_x0000_s1">
                  <p:embed/>
                </p:oleObj>
              </mc:Choice>
              <mc:Fallback>
                <p:oleObj r:id="rId5" imgH="3683000" imgW="5905500" progId="Word.Document.12">
                  <p:embed/>
                  <p:pic>
                    <p:nvPicPr>
                      <p:cNvPr id="439" name="Google Shape;439;p46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143250" y="2160588"/>
                        <a:ext cx="5905500" cy="368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2019-09-14T11:01:43Z</dcterms:created>
  <dc:creator>Utilisateur Windows</dc:creator>
</cp:coreProperties>
</file>