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5EE70BED-57A1-4E4A-8E70-3449B8F15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2E6D108D-A4C5-4321-83BE-D049B27F8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81E7F3EB-14FD-4688-BB7F-F9900107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6250A7CD-4266-4FF1-A389-340451B7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F807F4C9-FA32-429D-9117-02B6B7F3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52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54BD1848-19A6-4C6F-B73D-DE165317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52188072-A1FB-4C75-ADAE-83785598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06DC7617-635C-43EC-931D-B6C96D41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EA77BCC-7CB4-4668-A4A5-4DD2079D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6217FB6F-BC6B-454D-8C77-06279C93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19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9D7FEC3D-AB13-4743-AD11-AB6B3BF4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901AB14E-AECA-4A68-AA48-2A468A80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2815781D-C313-43F5-9A01-0ABE6C01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D8A083A5-CCDF-4390-9D21-34545835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D4679D54-D284-4F6B-8036-9F4790C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1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01BF4414-EABB-476F-A845-28E79EC0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C438E892-4C74-4258-A5F3-7F21CDF0A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A760E803-EDB2-44E0-BC80-4EF002212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009FABCF-8D29-4734-A242-AC4754B3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9FCF7D0E-0599-41F7-BDC6-7FEF1334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535A7E2F-C630-4267-ACBE-FEDC6F70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1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D32C9838-B540-4FED-BD3F-1ABE3B88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F79FF9F2-D02D-4544-82F0-53B6D950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D7DF8656-EA31-4376-9173-A42A56D6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="" xmlns:a16="http://schemas.microsoft.com/office/drawing/2014/main" id="{05EEB132-0040-4AF1-9186-92D798D80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="" xmlns:a16="http://schemas.microsoft.com/office/drawing/2014/main" id="{D34A51D9-9638-4F20-97BD-F5A0D7C2E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="" xmlns:a16="http://schemas.microsoft.com/office/drawing/2014/main" id="{0FCBD614-5505-4333-B4CD-4C9BFCAD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="" xmlns:a16="http://schemas.microsoft.com/office/drawing/2014/main" id="{A646BC2E-DE44-4EAB-991B-8A50277E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07C2ACD9-D447-4E1D-AC4D-204E4A72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36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BF7A912-69EE-4DAA-8FDB-60493C46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="" xmlns:a16="http://schemas.microsoft.com/office/drawing/2014/main" id="{CC273329-F0D7-4552-9D02-EC7E828E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297915AD-0246-49A6-8BB3-9258A136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4ADD287A-C6B4-46F0-99E2-AC1C7909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8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="" xmlns:a16="http://schemas.microsoft.com/office/drawing/2014/main" id="{4550A43F-5BC7-4C1A-8B09-250CA8E8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="" xmlns:a16="http://schemas.microsoft.com/office/drawing/2014/main" id="{6EE756BC-6CEE-4AA4-8315-4B185486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8EF45227-07E6-4162-956D-F0D8B8C1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0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0BABFF3C-D529-4F12-88C4-228A0A27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C11DBD4C-0A40-4BB5-B5F3-02A50C49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69293E57-E4EB-4595-AB39-967FA9424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5B30433D-D4D8-41CA-A8DF-801CB86D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81465C4F-2F83-4B72-8712-73F1B470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3F4B2169-A098-426D-A0EC-FE7AA13A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47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D5B2595-618F-46D3-B0DD-A2A71F21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="" xmlns:a16="http://schemas.microsoft.com/office/drawing/2014/main" id="{F26766CD-722D-4944-AE49-284F75B0D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8425F1F0-D3ED-4D68-8624-90EB9895D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B544A4B5-0746-4437-93F5-C5AF6622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D351274A-BDC7-4035-8601-E6463C15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40E21747-1F2F-4D63-A483-7A747BFD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48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E51875B5-13EC-4FEC-8B7B-163756C5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804BBB74-7091-4548-AE4D-478A95E8C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8C16FFAA-3364-404A-9C6D-8AE73672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BAFD46D8-52E4-4737-BC2C-011C4D98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1FCF38FE-1DA7-4B21-9465-B2EB2269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40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="" xmlns:a16="http://schemas.microsoft.com/office/drawing/2014/main" id="{085A6C42-9D02-4733-ADD2-F347E82E0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DFD0EF17-487F-434E-B4F2-CF2E622FF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AEA9153D-9D5A-4450-92A3-45B35B90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4A7E790-76EA-4393-8C1E-0271FE67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8C091E65-8A2C-4660-8FEA-78F45078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67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="" xmlns:a16="http://schemas.microsoft.com/office/drawing/2014/main" id="{B46206D6-2FE3-446D-8603-57D81709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C75F44E0-CE75-4F77-AC90-20EE3DC3E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4B689F1-2457-4AB7-9A5D-D4515698F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EF2F7-BF07-4B4D-9F2B-5985D54E4590}" type="datetimeFigureOut">
              <a:rPr lang="fr-FR" smtClean="0"/>
              <a:t>09/11/2022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8C4B4F3A-92D7-4788-BDA4-FCBFF18DD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513610E-7BBD-42C7-957C-C4203F1A9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6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F71D1304-4377-421C-BFCD-36B91AC22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Correction du TD N°1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8DAB4164-29D2-4310-A4CE-C40C836B5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Algorithmes itératifs</a:t>
            </a:r>
          </a:p>
        </p:txBody>
      </p:sp>
    </p:spTree>
    <p:extLst>
      <p:ext uri="{BB962C8B-B14F-4D97-AF65-F5344CB8AC3E}">
        <p14:creationId xmlns:p14="http://schemas.microsoft.com/office/powerpoint/2010/main" val="223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626" y="1825625"/>
            <a:ext cx="9061174" cy="4351338"/>
          </a:xfrm>
        </p:spPr>
        <p:txBody>
          <a:bodyPr numCol="2">
            <a:normAutofit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Séquence-1 :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1 to N do	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386080" algn="l"/>
                <a:tab pos="7112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Opération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;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id="{9320C9A7-7C3D-4A91-A6BD-B28F8C879BC6}"/>
                  </a:ext>
                </a:extLst>
              </p:cNvPr>
              <p:cNvSpPr/>
              <p:nvPr/>
            </p:nvSpPr>
            <p:spPr>
              <a:xfrm>
                <a:off x="7620002" y="3588024"/>
                <a:ext cx="874643" cy="424069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20C9A7-7C3D-4A91-A6BD-B28F8C879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2" y="3588024"/>
                <a:ext cx="874643" cy="424069"/>
              </a:xfrm>
              <a:prstGeom prst="rect">
                <a:avLst/>
              </a:prstGeom>
              <a:blipFill>
                <a:blip r:embed="rId2"/>
                <a:stretch>
                  <a:fillRect b="-5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648C7C-6683-41AE-BAA6-C3D87D69D11D}"/>
              </a:ext>
            </a:extLst>
          </p:cNvPr>
          <p:cNvSpPr/>
          <p:nvPr/>
        </p:nvSpPr>
        <p:spPr>
          <a:xfrm>
            <a:off x="5463210" y="2737472"/>
            <a:ext cx="4051851" cy="60959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Nombre d’exécution de l’opération: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F5C4D59-5CBF-415C-92EA-2FB6D06C715D}"/>
              </a:ext>
            </a:extLst>
          </p:cNvPr>
          <p:cNvSpPr/>
          <p:nvPr/>
        </p:nvSpPr>
        <p:spPr>
          <a:xfrm>
            <a:off x="5821019" y="3577254"/>
            <a:ext cx="1888433" cy="445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La complexité est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93049DA-7B60-4E80-958A-39B344966734}"/>
              </a:ext>
            </a:extLst>
          </p:cNvPr>
          <p:cNvSpPr/>
          <p:nvPr/>
        </p:nvSpPr>
        <p:spPr>
          <a:xfrm>
            <a:off x="8759688" y="2847199"/>
            <a:ext cx="808381" cy="35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 fois</a:t>
            </a:r>
          </a:p>
        </p:txBody>
      </p:sp>
    </p:spTree>
    <p:extLst>
      <p:ext uri="{BB962C8B-B14F-4D97-AF65-F5344CB8AC3E}">
        <p14:creationId xmlns:p14="http://schemas.microsoft.com/office/powerpoint/2010/main" val="14384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278" y="1825625"/>
            <a:ext cx="9657522" cy="4351338"/>
          </a:xfrm>
        </p:spPr>
        <p:txBody>
          <a:bodyPr numCol="2">
            <a:normAutofit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Séquence-2 :</a:t>
            </a: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1 to N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j = 1 to i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Opération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;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A6F9DF05-012E-49AF-9AD7-2DD372940D41}"/>
                  </a:ext>
                </a:extLst>
              </p:cNvPr>
              <p:cNvSpPr/>
              <p:nvPr/>
            </p:nvSpPr>
            <p:spPr>
              <a:xfrm>
                <a:off x="7699511" y="3700878"/>
                <a:ext cx="874643" cy="424069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F9DF05-012E-49AF-9AD7-2DD372940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511" y="3700878"/>
                <a:ext cx="874643" cy="424069"/>
              </a:xfrm>
              <a:prstGeom prst="rect">
                <a:avLst/>
              </a:prstGeom>
              <a:blipFill>
                <a:blip r:embed="rId2"/>
                <a:stretch>
                  <a:fillRect b="-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33E1890-3234-4734-AFD9-8CE29948416E}"/>
              </a:ext>
            </a:extLst>
          </p:cNvPr>
          <p:cNvSpPr/>
          <p:nvPr/>
        </p:nvSpPr>
        <p:spPr>
          <a:xfrm>
            <a:off x="5035826" y="2430748"/>
            <a:ext cx="4426225" cy="5509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  <a:p>
            <a:r>
              <a:rPr lang="fr-FR" dirty="0"/>
              <a:t>Nombre d’exécution de l’opération:   </a:t>
            </a:r>
          </a:p>
          <a:p>
            <a:r>
              <a:rPr lang="fr-FR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BD6C48F5-B69D-49F2-BD63-05CB36F83361}"/>
              </a:ext>
            </a:extLst>
          </p:cNvPr>
          <p:cNvSpPr/>
          <p:nvPr/>
        </p:nvSpPr>
        <p:spPr>
          <a:xfrm>
            <a:off x="5811078" y="3694180"/>
            <a:ext cx="1888433" cy="445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La complexité est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F63E63E-38C6-409A-BA1C-090438CE2D14}"/>
              </a:ext>
            </a:extLst>
          </p:cNvPr>
          <p:cNvSpPr/>
          <p:nvPr/>
        </p:nvSpPr>
        <p:spPr>
          <a:xfrm>
            <a:off x="8325678" y="2523512"/>
            <a:ext cx="1123121" cy="3685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n*n fois</a:t>
            </a:r>
          </a:p>
        </p:txBody>
      </p:sp>
    </p:spTree>
    <p:extLst>
      <p:ext uri="{BB962C8B-B14F-4D97-AF65-F5344CB8AC3E}">
        <p14:creationId xmlns:p14="http://schemas.microsoft.com/office/powerpoint/2010/main" val="225976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497" y="1825625"/>
            <a:ext cx="3061252" cy="3837870"/>
          </a:xfrm>
        </p:spPr>
        <p:txBody>
          <a:bodyPr numCol="1">
            <a:normAutofit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Séquence-3 :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=1;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While ( 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&lt; N)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2*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Opération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;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Endwhile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id="{35F73583-5E81-4E65-B7DD-8AB6BD7EC994}"/>
                  </a:ext>
                </a:extLst>
              </p:cNvPr>
              <p:cNvSpPr/>
              <p:nvPr/>
            </p:nvSpPr>
            <p:spPr>
              <a:xfrm>
                <a:off x="10217429" y="3842096"/>
                <a:ext cx="1209259" cy="441239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F73583-5E81-4E65-B7DD-8AB6BD7EC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7429" y="3842096"/>
                <a:ext cx="1209259" cy="441239"/>
              </a:xfrm>
              <a:prstGeom prst="rect">
                <a:avLst/>
              </a:prstGeom>
              <a:blipFill>
                <a:blip r:embed="rId2"/>
                <a:stretch>
                  <a:fillRect l="-4545" r="-3535"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="" xmlns:a16="http://schemas.microsoft.com/office/drawing/2014/main" id="{EC5E9603-3151-4D77-AE26-38145D620421}"/>
                  </a:ext>
                </a:extLst>
              </p:cNvPr>
              <p:cNvSpPr/>
              <p:nvPr/>
            </p:nvSpPr>
            <p:spPr>
              <a:xfrm>
                <a:off x="4183074" y="1690688"/>
                <a:ext cx="3825851" cy="2934315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fr-FR" sz="2000" dirty="0"/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N=2=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1</a:t>
                </a:r>
                <a:r>
                  <a:rPr lang="fr-FR" sz="2000" dirty="0"/>
                  <a:t> opération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N=4=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N=8=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3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N=16=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4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N=32=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5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N=64=</a:t>
                </a:r>
                <a:r>
                  <a:rPr lang="fr-FR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6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5E9603-3151-4D77-AE26-38145D620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074" y="1690688"/>
                <a:ext cx="3825851" cy="2934315"/>
              </a:xfrm>
              <a:prstGeom prst="rect">
                <a:avLst/>
              </a:prstGeom>
              <a:blipFill>
                <a:blip r:embed="rId3"/>
                <a:stretch>
                  <a:fillRect l="-1429" b="-1033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746B402-2B6F-4421-8281-739659329B7F}"/>
              </a:ext>
            </a:extLst>
          </p:cNvPr>
          <p:cNvSpPr/>
          <p:nvPr/>
        </p:nvSpPr>
        <p:spPr>
          <a:xfrm>
            <a:off x="8328996" y="3827359"/>
            <a:ext cx="1888433" cy="445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La complexité est 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="" xmlns:a16="http://schemas.microsoft.com/office/drawing/2014/main" id="{BBB75D58-4AC6-4793-B57D-4BD0147A8EC9}"/>
              </a:ext>
            </a:extLst>
          </p:cNvPr>
          <p:cNvCxnSpPr/>
          <p:nvPr/>
        </p:nvCxnSpPr>
        <p:spPr>
          <a:xfrm>
            <a:off x="4876799" y="5965424"/>
            <a:ext cx="2130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="" xmlns:a16="http://schemas.microsoft.com/office/drawing/2014/main" id="{7C1263B7-DC37-4DFC-9C7B-503E64D294EB}"/>
              </a:ext>
            </a:extLst>
          </p:cNvPr>
          <p:cNvCxnSpPr/>
          <p:nvPr/>
        </p:nvCxnSpPr>
        <p:spPr>
          <a:xfrm flipV="1">
            <a:off x="4876800" y="4852242"/>
            <a:ext cx="0" cy="1113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rme libre : forme 22">
            <a:extLst>
              <a:ext uri="{FF2B5EF4-FFF2-40B4-BE49-F238E27FC236}">
                <a16:creationId xmlns="" xmlns:a16="http://schemas.microsoft.com/office/drawing/2014/main" id="{8B1A3233-CBF6-43B9-A199-FF5EF5408337}"/>
              </a:ext>
            </a:extLst>
          </p:cNvPr>
          <p:cNvSpPr/>
          <p:nvPr/>
        </p:nvSpPr>
        <p:spPr>
          <a:xfrm>
            <a:off x="4870887" y="5374817"/>
            <a:ext cx="1794956" cy="577355"/>
          </a:xfrm>
          <a:custGeom>
            <a:avLst/>
            <a:gdLst>
              <a:gd name="connsiteX0" fmla="*/ 19165 w 1794956"/>
              <a:gd name="connsiteY0" fmla="*/ 577355 h 577355"/>
              <a:gd name="connsiteX1" fmla="*/ 85425 w 1794956"/>
              <a:gd name="connsiteY1" fmla="*/ 444834 h 577355"/>
              <a:gd name="connsiteX2" fmla="*/ 695025 w 1794956"/>
              <a:gd name="connsiteY2" fmla="*/ 47268 h 577355"/>
              <a:gd name="connsiteX3" fmla="*/ 1794956 w 1794956"/>
              <a:gd name="connsiteY3" fmla="*/ 7512 h 577355"/>
              <a:gd name="connsiteX4" fmla="*/ 1794956 w 1794956"/>
              <a:gd name="connsiteY4" fmla="*/ 7512 h 577355"/>
              <a:gd name="connsiteX5" fmla="*/ 1794956 w 1794956"/>
              <a:gd name="connsiteY5" fmla="*/ 7512 h 57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4956" h="577355">
                <a:moveTo>
                  <a:pt x="19165" y="577355"/>
                </a:moveTo>
                <a:cubicBezTo>
                  <a:pt x="-4027" y="555268"/>
                  <a:pt x="-27218" y="533182"/>
                  <a:pt x="85425" y="444834"/>
                </a:cubicBezTo>
                <a:cubicBezTo>
                  <a:pt x="198068" y="356486"/>
                  <a:pt x="410103" y="120155"/>
                  <a:pt x="695025" y="47268"/>
                </a:cubicBezTo>
                <a:cubicBezTo>
                  <a:pt x="979947" y="-25619"/>
                  <a:pt x="1794956" y="7512"/>
                  <a:pt x="1794956" y="7512"/>
                </a:cubicBezTo>
                <a:lnTo>
                  <a:pt x="1794956" y="7512"/>
                </a:lnTo>
                <a:lnTo>
                  <a:pt x="1794956" y="7512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="" xmlns:a16="http://schemas.microsoft.com/office/drawing/2014/main" id="{6A6E3FF8-F106-4D4E-987F-68C60AE99D71}"/>
                  </a:ext>
                </a:extLst>
              </p:cNvPr>
              <p:cNvSpPr/>
              <p:nvPr/>
            </p:nvSpPr>
            <p:spPr>
              <a:xfrm>
                <a:off x="8418446" y="2315818"/>
                <a:ext cx="2902224" cy="1113182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a: nombre d’opérations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A6E3FF8-F106-4D4E-987F-68C60AE99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446" y="2315818"/>
                <a:ext cx="2902224" cy="1113182"/>
              </a:xfrm>
              <a:prstGeom prst="rect">
                <a:avLst/>
              </a:prstGeom>
              <a:blipFill>
                <a:blip r:embed="rId4"/>
                <a:stretch>
                  <a:fillRect l="-1674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7317BCB2-182C-4364-984A-D27773F0A290}"/>
              </a:ext>
            </a:extLst>
          </p:cNvPr>
          <p:cNvSpPr txBox="1"/>
          <p:nvPr/>
        </p:nvSpPr>
        <p:spPr>
          <a:xfrm>
            <a:off x="6758609" y="5965424"/>
            <a:ext cx="437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22FD5215-F8A6-4A39-A425-B9A0BEBA97DC}"/>
              </a:ext>
            </a:extLst>
          </p:cNvPr>
          <p:cNvSpPr txBox="1"/>
          <p:nvPr/>
        </p:nvSpPr>
        <p:spPr>
          <a:xfrm>
            <a:off x="4073745" y="4890963"/>
            <a:ext cx="1282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Opérations</a:t>
            </a:r>
          </a:p>
        </p:txBody>
      </p:sp>
    </p:spTree>
    <p:extLst>
      <p:ext uri="{BB962C8B-B14F-4D97-AF65-F5344CB8AC3E}">
        <p14:creationId xmlns:p14="http://schemas.microsoft.com/office/powerpoint/2010/main" val="79436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23" grpId="0" animBg="1"/>
      <p:bldP spid="18" grpId="0" animBg="1"/>
      <p:bldP spid="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330" y="1825625"/>
            <a:ext cx="3687419" cy="3837870"/>
          </a:xfrm>
        </p:spPr>
        <p:txBody>
          <a:bodyPr numCol="1">
            <a:normAutofit fontScale="70000" lnSpcReduction="20000"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Séquence-4 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600" dirty="0"/>
              <a:t>For </a:t>
            </a:r>
            <a:r>
              <a:rPr lang="en-GB" sz="2600" dirty="0" err="1"/>
              <a:t>i</a:t>
            </a:r>
            <a:r>
              <a:rPr lang="en-GB" sz="2600" dirty="0"/>
              <a:t> = 1 To N Do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600" dirty="0"/>
              <a:t>	J=1;			</a:t>
            </a:r>
            <a:r>
              <a:rPr lang="pt-BR" sz="2600" dirty="0"/>
              <a:t>While (J &lt; N ) Do</a:t>
            </a:r>
            <a:endParaRPr lang="fr-FR" sz="26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600" dirty="0"/>
              <a:t>		J = 2 * J;</a:t>
            </a:r>
            <a:endParaRPr lang="fr-FR" sz="26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600" dirty="0"/>
              <a:t>		</a:t>
            </a:r>
            <a:r>
              <a:rPr lang="en-GB" sz="2600" dirty="0" err="1"/>
              <a:t>Opération</a:t>
            </a:r>
            <a:r>
              <a:rPr lang="en-GB" sz="2600" dirty="0"/>
              <a:t>;</a:t>
            </a:r>
            <a:endParaRPr lang="fr-FR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600" dirty="0"/>
              <a:t>	</a:t>
            </a:r>
            <a:r>
              <a:rPr lang="en-GB" sz="2600" dirty="0" err="1"/>
              <a:t>Endwhile</a:t>
            </a:r>
            <a:endParaRPr lang="fr-FR" sz="2600" dirty="0"/>
          </a:p>
          <a:p>
            <a:pPr marL="0" indent="0">
              <a:lnSpc>
                <a:spcPct val="120000"/>
              </a:lnSpc>
              <a:buNone/>
            </a:pPr>
            <a:r>
              <a:rPr lang="pt-BR" sz="2600" dirty="0"/>
              <a:t>Endfor</a:t>
            </a:r>
            <a:endParaRPr lang="fr-FR" sz="2600" dirty="0"/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id="{35F73583-5E81-4E65-B7DD-8AB6BD7EC994}"/>
                  </a:ext>
                </a:extLst>
              </p:cNvPr>
              <p:cNvSpPr/>
              <p:nvPr/>
            </p:nvSpPr>
            <p:spPr>
              <a:xfrm>
                <a:off x="4100386" y="3857855"/>
                <a:ext cx="1386014" cy="44560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F73583-5E81-4E65-B7DD-8AB6BD7EC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386" y="3857855"/>
                <a:ext cx="1386014" cy="445607"/>
              </a:xfrm>
              <a:prstGeom prst="rect">
                <a:avLst/>
              </a:prstGeom>
              <a:blipFill>
                <a:blip r:embed="rId2"/>
                <a:stretch>
                  <a:fillRect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 : coins arrondis 3">
            <a:extLst>
              <a:ext uri="{FF2B5EF4-FFF2-40B4-BE49-F238E27FC236}">
                <a16:creationId xmlns="" xmlns:a16="http://schemas.microsoft.com/office/drawing/2014/main" id="{99C0685E-EE8A-4224-A968-D780C26A58EF}"/>
              </a:ext>
            </a:extLst>
          </p:cNvPr>
          <p:cNvSpPr/>
          <p:nvPr/>
        </p:nvSpPr>
        <p:spPr>
          <a:xfrm>
            <a:off x="1693891" y="3072984"/>
            <a:ext cx="2188564" cy="1963712"/>
          </a:xfrm>
          <a:prstGeom prst="roundRect">
            <a:avLst/>
          </a:prstGeom>
          <a:noFill/>
          <a:ln w="28575"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EA02F2C6-FF1A-4C8C-A491-5F35FB66AB2D}"/>
              </a:ext>
            </a:extLst>
          </p:cNvPr>
          <p:cNvSpPr/>
          <p:nvPr/>
        </p:nvSpPr>
        <p:spPr>
          <a:xfrm>
            <a:off x="789300" y="2657774"/>
            <a:ext cx="3198083" cy="2843616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3D65CF8C-1B63-475A-AF50-206A3658AF63}"/>
                  </a:ext>
                </a:extLst>
              </p:cNvPr>
              <p:cNvSpPr/>
              <p:nvPr/>
            </p:nvSpPr>
            <p:spPr>
              <a:xfrm>
                <a:off x="4130366" y="4813892"/>
                <a:ext cx="1386014" cy="44560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𝑛𝑙𝑜𝑔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65CF8C-1B63-475A-AF50-206A3658A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66" y="4813892"/>
                <a:ext cx="1386014" cy="445607"/>
              </a:xfrm>
              <a:prstGeom prst="rect">
                <a:avLst/>
              </a:prstGeom>
              <a:blipFill>
                <a:blip r:embed="rId3"/>
                <a:stretch>
                  <a:fillRect l="-2643" r="-881"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08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6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330" y="2070877"/>
            <a:ext cx="3687419" cy="3592618"/>
          </a:xfrm>
        </p:spPr>
        <p:txBody>
          <a:bodyPr numCol="1">
            <a:noAutofit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Séquence-5 :</a:t>
            </a:r>
          </a:p>
          <a:p>
            <a:pPr marL="0" indent="0">
              <a:buNone/>
            </a:pPr>
            <a:r>
              <a:rPr lang="en-GB" sz="2000" dirty="0" err="1"/>
              <a:t>i</a:t>
            </a:r>
            <a:r>
              <a:rPr lang="en-GB" sz="2000" dirty="0"/>
              <a:t> = 1;</a:t>
            </a:r>
            <a:endParaRPr lang="fr-FR" sz="2000" dirty="0"/>
          </a:p>
          <a:p>
            <a:pPr marL="0" indent="0">
              <a:buNone/>
            </a:pPr>
            <a:r>
              <a:rPr lang="en-GB" sz="2000" dirty="0"/>
              <a:t>While ( </a:t>
            </a:r>
            <a:r>
              <a:rPr lang="en-GB" sz="2000" dirty="0" err="1"/>
              <a:t>i</a:t>
            </a:r>
            <a:r>
              <a:rPr lang="en-GB" sz="2000" dirty="0"/>
              <a:t> &lt; N ) Do</a:t>
            </a:r>
            <a:endParaRPr lang="fr-FR" sz="2000" dirty="0"/>
          </a:p>
          <a:p>
            <a:pPr marL="0" indent="0">
              <a:buNone/>
            </a:pPr>
            <a:r>
              <a:rPr lang="en-GB" sz="2000" dirty="0"/>
              <a:t>	</a:t>
            </a:r>
            <a:r>
              <a:rPr lang="en-GB" sz="2000" dirty="0" err="1"/>
              <a:t>i</a:t>
            </a:r>
            <a:r>
              <a:rPr lang="en-GB" sz="2000" dirty="0"/>
              <a:t> = 2*</a:t>
            </a:r>
            <a:r>
              <a:rPr lang="en-GB" sz="2000" dirty="0" err="1"/>
              <a:t>i</a:t>
            </a:r>
            <a:r>
              <a:rPr lang="en-GB" sz="2000" dirty="0"/>
              <a:t>;</a:t>
            </a:r>
            <a:endParaRPr lang="fr-FR" sz="2000" dirty="0"/>
          </a:p>
          <a:p>
            <a:pPr marL="0" indent="0">
              <a:buNone/>
            </a:pPr>
            <a:r>
              <a:rPr lang="en-GB" sz="2000" dirty="0"/>
              <a:t>	For j = 1 to </a:t>
            </a:r>
            <a:r>
              <a:rPr lang="en-GB" sz="2000" dirty="0" err="1"/>
              <a:t>i</a:t>
            </a:r>
            <a:r>
              <a:rPr lang="en-GB" sz="2000" dirty="0"/>
              <a:t> Do</a:t>
            </a:r>
            <a:endParaRPr lang="fr-FR" sz="2000" dirty="0"/>
          </a:p>
          <a:p>
            <a:pPr marL="0" indent="0">
              <a:buNone/>
            </a:pPr>
            <a:r>
              <a:rPr lang="en-GB" sz="2000" dirty="0"/>
              <a:t>		</a:t>
            </a:r>
            <a:r>
              <a:rPr lang="en-GB" sz="2000" dirty="0" err="1"/>
              <a:t>Opération</a:t>
            </a:r>
            <a:r>
              <a:rPr lang="en-GB" sz="2000" dirty="0"/>
              <a:t>;</a:t>
            </a:r>
            <a:endParaRPr lang="fr-FR" sz="2000" dirty="0"/>
          </a:p>
          <a:p>
            <a:pPr marL="0" indent="0">
              <a:buNone/>
            </a:pPr>
            <a:r>
              <a:rPr lang="en-GB" sz="2000" dirty="0" err="1"/>
              <a:t>Endwhile</a:t>
            </a:r>
            <a:endParaRPr lang="fr-FR" sz="2000" dirty="0"/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</a:p>
          <a:p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5496D807-0A54-44FD-8601-BAC7138A95F1}"/>
                  </a:ext>
                </a:extLst>
              </p:cNvPr>
              <p:cNvSpPr/>
              <p:nvPr/>
            </p:nvSpPr>
            <p:spPr>
              <a:xfrm>
                <a:off x="4084793" y="1194505"/>
                <a:ext cx="7934929" cy="5471337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fr-FR" sz="2000" dirty="0"/>
              </a:p>
              <a:p>
                <a:r>
                  <a:rPr lang="fr-FR" sz="2000" dirty="0"/>
                  <a:t>N=2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</a:t>
                </a:r>
                <a:r>
                  <a:rPr lang="fr-FR" sz="2000" dirty="0"/>
                  <a:t> opérations </a:t>
                </a:r>
              </a:p>
              <a:p>
                <a:r>
                  <a:rPr lang="fr-FR" sz="2000" dirty="0">
                    <a:solidFill>
                      <a:schemeClr val="bg1">
                        <a:lumMod val="75000"/>
                      </a:schemeClr>
                    </a:solidFill>
                  </a:rPr>
                  <a:t>N=3	-&gt; 2+4 opérations</a:t>
                </a:r>
              </a:p>
              <a:p>
                <a:r>
                  <a:rPr lang="fr-FR" sz="2000" dirty="0"/>
                  <a:t>N=4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2+4</a:t>
                </a:r>
                <a:r>
                  <a:rPr lang="fr-FR" sz="2000" dirty="0"/>
                  <a:t> opérations</a:t>
                </a:r>
              </a:p>
              <a:p>
                <a:r>
                  <a:rPr lang="fr-FR" sz="2000" dirty="0">
                    <a:solidFill>
                      <a:schemeClr val="bg1">
                        <a:lumMod val="75000"/>
                      </a:schemeClr>
                    </a:solidFill>
                  </a:rPr>
                  <a:t>N=5 	-&gt;2+4+8 opérations</a:t>
                </a:r>
              </a:p>
              <a:p>
                <a:r>
                  <a:rPr lang="fr-FR" sz="2000" dirty="0">
                    <a:solidFill>
                      <a:schemeClr val="bg1">
                        <a:lumMod val="75000"/>
                      </a:schemeClr>
                    </a:solidFill>
                  </a:rPr>
                  <a:t>N=6 	-&gt;2+4+8 opérations</a:t>
                </a:r>
              </a:p>
              <a:p>
                <a:r>
                  <a:rPr lang="fr-FR" sz="2000" dirty="0">
                    <a:solidFill>
                      <a:schemeClr val="bg1">
                        <a:lumMod val="75000"/>
                      </a:schemeClr>
                    </a:solidFill>
                  </a:rPr>
                  <a:t>N=7 	-&gt;2+4+8 opérations</a:t>
                </a:r>
              </a:p>
              <a:p>
                <a:r>
                  <a:rPr lang="fr-FR" sz="2000" dirty="0"/>
                  <a:t>N=8</a:t>
                </a:r>
                <a:r>
                  <a:rPr lang="fr-FR" sz="2000" b="0" dirty="0"/>
                  <a:t> 	</a:t>
                </a:r>
                <a:r>
                  <a:rPr lang="fr-FR" sz="2000" dirty="0"/>
                  <a:t>-&gt;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2+4+8</a:t>
                </a:r>
                <a:r>
                  <a:rPr lang="fr-FR" sz="2000" dirty="0"/>
                  <a:t> opérations</a:t>
                </a:r>
              </a:p>
              <a:p>
                <a:r>
                  <a:rPr lang="fr-FR" sz="2000" dirty="0"/>
                  <a:t>N=16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2+4+8+16</a:t>
                </a:r>
                <a:r>
                  <a:rPr lang="fr-FR" sz="2000" dirty="0"/>
                  <a:t> opérations</a:t>
                </a:r>
              </a:p>
              <a:p>
                <a:r>
                  <a:rPr lang="fr-FR" sz="2000" dirty="0"/>
                  <a:t>N=32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2+4+8+16+32</a:t>
                </a:r>
                <a:r>
                  <a:rPr lang="fr-FR" sz="2000" dirty="0"/>
                  <a:t> opérations</a:t>
                </a:r>
              </a:p>
              <a:p>
                <a:r>
                  <a:rPr lang="fr-FR" sz="2000" dirty="0"/>
                  <a:t>N	-&gt; </a:t>
                </a:r>
                <a:r>
                  <a:rPr lang="fr-FR" sz="2000" dirty="0">
                    <a:solidFill>
                      <a:schemeClr val="accent2">
                        <a:lumMod val="75000"/>
                      </a:schemeClr>
                    </a:solidFill>
                  </a:rPr>
                  <a:t>2+4+8+16+32+….+N</a:t>
                </a:r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suite géométrique: 2+(2*2)+(2*4)+(2*8)+(2*16)+…+(2*n)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	</a:t>
                </a:r>
                <a:r>
                  <a:rPr lang="fr-FR" dirty="0"/>
                  <a:t>raison q=2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=2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	nombre de</a:t>
                </a:r>
                <a:r>
                  <a:rPr lang="fr-FR" sz="2000" dirty="0"/>
                  <a:t> termes=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0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fr-FR" sz="2000" dirty="0"/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=&gt; 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</m:den>
                    </m:f>
                  </m:oMath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96D807-0A54-44FD-8601-BAC7138A95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793" y="1194505"/>
                <a:ext cx="7934929" cy="5471337"/>
              </a:xfrm>
              <a:prstGeom prst="rect">
                <a:avLst/>
              </a:prstGeom>
              <a:blipFill>
                <a:blip r:embed="rId2"/>
                <a:stretch>
                  <a:fillRect l="-690" t="-556" b="-667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ccolade ouvrante 4">
            <a:extLst>
              <a:ext uri="{FF2B5EF4-FFF2-40B4-BE49-F238E27FC236}">
                <a16:creationId xmlns="" xmlns:a16="http://schemas.microsoft.com/office/drawing/2014/main" id="{BF787058-66AD-4FC4-806B-5065221D6036}"/>
              </a:ext>
            </a:extLst>
          </p:cNvPr>
          <p:cNvSpPr/>
          <p:nvPr/>
        </p:nvSpPr>
        <p:spPr>
          <a:xfrm rot="16200000">
            <a:off x="6323137" y="3328139"/>
            <a:ext cx="64848" cy="1998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="" xmlns:a16="http://schemas.microsoft.com/office/drawing/2014/main" id="{33329EC2-CA2A-4378-92EF-A6A6EEBB5EE7}"/>
                  </a:ext>
                </a:extLst>
              </p:cNvPr>
              <p:cNvSpPr txBox="1"/>
              <p:nvPr/>
            </p:nvSpPr>
            <p:spPr>
              <a:xfrm>
                <a:off x="9100590" y="4962919"/>
                <a:ext cx="2103620" cy="70057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𝑛𝑏𝑟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𝑡𝑒𝑟𝑚𝑒𝑠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3329EC2-CA2A-4378-92EF-A6A6EEBB5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590" y="4962919"/>
                <a:ext cx="2103620" cy="700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D0C9B0F6-E5C1-494A-A937-28DB17612FD3}"/>
                  </a:ext>
                </a:extLst>
              </p:cNvPr>
              <p:cNvSpPr/>
              <p:nvPr/>
            </p:nvSpPr>
            <p:spPr>
              <a:xfrm>
                <a:off x="5662554" y="6220235"/>
                <a:ext cx="1386014" cy="44560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C9B0F6-E5C1-494A-A937-28DB17612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554" y="6220235"/>
                <a:ext cx="1386014" cy="445607"/>
              </a:xfrm>
              <a:prstGeom prst="rect">
                <a:avLst/>
              </a:prstGeom>
              <a:blipFill>
                <a:blip r:embed="rId4"/>
                <a:stretch>
                  <a:fillRect l="-3965" r="-4405" b="-5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avec flèche 9">
            <a:extLst>
              <a:ext uri="{FF2B5EF4-FFF2-40B4-BE49-F238E27FC236}">
                <a16:creationId xmlns="" xmlns:a16="http://schemas.microsoft.com/office/drawing/2014/main" id="{EB1A1098-EECE-496B-B695-0B3AA57D41D5}"/>
              </a:ext>
            </a:extLst>
          </p:cNvPr>
          <p:cNvCxnSpPr>
            <a:cxnSpLocks/>
          </p:cNvCxnSpPr>
          <p:nvPr/>
        </p:nvCxnSpPr>
        <p:spPr>
          <a:xfrm>
            <a:off x="8656662" y="2764995"/>
            <a:ext cx="30185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="" xmlns:a16="http://schemas.microsoft.com/office/drawing/2014/main" id="{68762232-3A45-4CA0-A955-A5A7A256026B}"/>
              </a:ext>
            </a:extLst>
          </p:cNvPr>
          <p:cNvCxnSpPr>
            <a:cxnSpLocks/>
          </p:cNvCxnSpPr>
          <p:nvPr/>
        </p:nvCxnSpPr>
        <p:spPr>
          <a:xfrm flipV="1">
            <a:off x="8662575" y="1194505"/>
            <a:ext cx="0" cy="157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D86F0878-8161-4C04-87CD-8D912E724DFF}"/>
              </a:ext>
            </a:extLst>
          </p:cNvPr>
          <p:cNvSpPr txBox="1"/>
          <p:nvPr/>
        </p:nvSpPr>
        <p:spPr>
          <a:xfrm>
            <a:off x="11516136" y="2777706"/>
            <a:ext cx="437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1"/>
                </a:solidFill>
              </a:rPr>
              <a:t>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="" xmlns:a16="http://schemas.microsoft.com/office/drawing/2014/main" id="{7B7EFBA5-E3AA-4C6B-AFA3-0F26E0825A1E}"/>
              </a:ext>
            </a:extLst>
          </p:cNvPr>
          <p:cNvSpPr txBox="1"/>
          <p:nvPr/>
        </p:nvSpPr>
        <p:spPr>
          <a:xfrm>
            <a:off x="7594882" y="1221117"/>
            <a:ext cx="1073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</a:rPr>
              <a:t>Nombre de termes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="" xmlns:a16="http://schemas.microsoft.com/office/drawing/2014/main" id="{4277AB08-9797-4F9E-A57C-36B8A974B663}"/>
              </a:ext>
            </a:extLst>
          </p:cNvPr>
          <p:cNvSpPr txBox="1"/>
          <p:nvPr/>
        </p:nvSpPr>
        <p:spPr>
          <a:xfrm>
            <a:off x="8662574" y="2764995"/>
            <a:ext cx="2787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2 3 4 5 6 7 8 9 10 11 12 13 14 15 16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="" xmlns:a16="http://schemas.microsoft.com/office/drawing/2014/main" id="{5D96F685-3A37-405A-A203-4C551CD1EE88}"/>
              </a:ext>
            </a:extLst>
          </p:cNvPr>
          <p:cNvSpPr txBox="1"/>
          <p:nvPr/>
        </p:nvSpPr>
        <p:spPr>
          <a:xfrm>
            <a:off x="8420792" y="1303900"/>
            <a:ext cx="369588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dirty="0"/>
              <a:t>4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3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2</a:t>
            </a:r>
          </a:p>
          <a:p>
            <a:pPr>
              <a:lnSpc>
                <a:spcPct val="150000"/>
              </a:lnSpc>
            </a:pPr>
            <a:r>
              <a:rPr lang="fr-FR" sz="1400" dirty="0"/>
              <a:t>1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="" xmlns:a16="http://schemas.microsoft.com/office/drawing/2014/main" id="{FA71D777-8EEA-4690-83AF-E8E906D2D2DF}"/>
              </a:ext>
            </a:extLst>
          </p:cNvPr>
          <p:cNvCxnSpPr/>
          <p:nvPr/>
        </p:nvCxnSpPr>
        <p:spPr>
          <a:xfrm>
            <a:off x="8668489" y="2451652"/>
            <a:ext cx="27813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="" xmlns:a16="http://schemas.microsoft.com/office/drawing/2014/main" id="{2E5A4996-9181-4E69-9DB8-3E7FE8B6FD0C}"/>
              </a:ext>
            </a:extLst>
          </p:cNvPr>
          <p:cNvCxnSpPr/>
          <p:nvPr/>
        </p:nvCxnSpPr>
        <p:spPr>
          <a:xfrm>
            <a:off x="8661865" y="2160684"/>
            <a:ext cx="27813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="" xmlns:a16="http://schemas.microsoft.com/office/drawing/2014/main" id="{7CE9B086-A70C-4C7A-BA81-526688DC651A}"/>
              </a:ext>
            </a:extLst>
          </p:cNvPr>
          <p:cNvCxnSpPr/>
          <p:nvPr/>
        </p:nvCxnSpPr>
        <p:spPr>
          <a:xfrm>
            <a:off x="8668493" y="1630022"/>
            <a:ext cx="27813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="" xmlns:a16="http://schemas.microsoft.com/office/drawing/2014/main" id="{77B0915B-0892-47E6-866F-60B84258E111}"/>
              </a:ext>
            </a:extLst>
          </p:cNvPr>
          <p:cNvSpPr/>
          <p:nvPr/>
        </p:nvSpPr>
        <p:spPr>
          <a:xfrm>
            <a:off x="8763876" y="2432060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="" xmlns:a16="http://schemas.microsoft.com/office/drawing/2014/main" id="{172A5C46-B664-4375-A9E9-3977B7B54935}"/>
              </a:ext>
            </a:extLst>
          </p:cNvPr>
          <p:cNvSpPr/>
          <p:nvPr/>
        </p:nvSpPr>
        <p:spPr>
          <a:xfrm>
            <a:off x="8881440" y="2141466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="" xmlns:a16="http://schemas.microsoft.com/office/drawing/2014/main" id="{0E794F38-FA74-4213-BFFE-1824A0CBF25F}"/>
              </a:ext>
            </a:extLst>
          </p:cNvPr>
          <p:cNvSpPr/>
          <p:nvPr/>
        </p:nvSpPr>
        <p:spPr>
          <a:xfrm>
            <a:off x="9033840" y="213938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="" xmlns:a16="http://schemas.microsoft.com/office/drawing/2014/main" id="{527828F0-0703-4A10-8430-F30F39B02841}"/>
              </a:ext>
            </a:extLst>
          </p:cNvPr>
          <p:cNvCxnSpPr>
            <a:cxnSpLocks/>
          </p:cNvCxnSpPr>
          <p:nvPr/>
        </p:nvCxnSpPr>
        <p:spPr>
          <a:xfrm flipH="1" flipV="1">
            <a:off x="8777128" y="1242619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="" xmlns:a16="http://schemas.microsoft.com/office/drawing/2014/main" id="{45FA698F-EA44-4697-A76B-4497BEF39383}"/>
              </a:ext>
            </a:extLst>
          </p:cNvPr>
          <p:cNvCxnSpPr>
            <a:cxnSpLocks/>
          </p:cNvCxnSpPr>
          <p:nvPr/>
        </p:nvCxnSpPr>
        <p:spPr>
          <a:xfrm flipH="1" flipV="1">
            <a:off x="8889772" y="1249247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="" xmlns:a16="http://schemas.microsoft.com/office/drawing/2014/main" id="{7B623DBB-F27B-4D32-8080-0337DC06C0C9}"/>
              </a:ext>
            </a:extLst>
          </p:cNvPr>
          <p:cNvCxnSpPr>
            <a:cxnSpLocks/>
          </p:cNvCxnSpPr>
          <p:nvPr/>
        </p:nvCxnSpPr>
        <p:spPr>
          <a:xfrm flipH="1" flipV="1">
            <a:off x="9039710" y="1235995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="" xmlns:a16="http://schemas.microsoft.com/office/drawing/2014/main" id="{B42D7496-6D4A-4941-9426-B3485C1BBB1F}"/>
              </a:ext>
            </a:extLst>
          </p:cNvPr>
          <p:cNvCxnSpPr>
            <a:cxnSpLocks/>
          </p:cNvCxnSpPr>
          <p:nvPr/>
        </p:nvCxnSpPr>
        <p:spPr>
          <a:xfrm flipH="1" flipV="1">
            <a:off x="9168064" y="1235995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="" xmlns:a16="http://schemas.microsoft.com/office/drawing/2014/main" id="{A9B4A7C2-CE79-4EE7-A4C1-0B2F3E89DC68}"/>
              </a:ext>
            </a:extLst>
          </p:cNvPr>
          <p:cNvCxnSpPr>
            <a:cxnSpLocks/>
          </p:cNvCxnSpPr>
          <p:nvPr/>
        </p:nvCxnSpPr>
        <p:spPr>
          <a:xfrm flipH="1" flipV="1">
            <a:off x="9306835" y="1242623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="" xmlns:a16="http://schemas.microsoft.com/office/drawing/2014/main" id="{D282F724-FBBD-4967-92F3-C2D9D634B119}"/>
              </a:ext>
            </a:extLst>
          </p:cNvPr>
          <p:cNvCxnSpPr>
            <a:cxnSpLocks/>
          </p:cNvCxnSpPr>
          <p:nvPr/>
        </p:nvCxnSpPr>
        <p:spPr>
          <a:xfrm flipH="1" flipV="1">
            <a:off x="9439355" y="1229371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="" xmlns:a16="http://schemas.microsoft.com/office/drawing/2014/main" id="{8D3F4925-7C41-494A-8A74-150A6B407C39}"/>
              </a:ext>
            </a:extLst>
          </p:cNvPr>
          <p:cNvCxnSpPr>
            <a:cxnSpLocks/>
          </p:cNvCxnSpPr>
          <p:nvPr/>
        </p:nvCxnSpPr>
        <p:spPr>
          <a:xfrm flipH="1" flipV="1">
            <a:off x="9565255" y="1235995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="" xmlns:a16="http://schemas.microsoft.com/office/drawing/2014/main" id="{DDBCC5FC-0E9E-4664-B2D7-1116D0D98693}"/>
              </a:ext>
            </a:extLst>
          </p:cNvPr>
          <p:cNvCxnSpPr>
            <a:cxnSpLocks/>
          </p:cNvCxnSpPr>
          <p:nvPr/>
        </p:nvCxnSpPr>
        <p:spPr>
          <a:xfrm flipH="1" flipV="1">
            <a:off x="9695317" y="1242623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="" xmlns:a16="http://schemas.microsoft.com/office/drawing/2014/main" id="{CB2E0E60-730D-47E8-AF2B-88981B93FBFD}"/>
              </a:ext>
            </a:extLst>
          </p:cNvPr>
          <p:cNvCxnSpPr>
            <a:cxnSpLocks/>
          </p:cNvCxnSpPr>
          <p:nvPr/>
        </p:nvCxnSpPr>
        <p:spPr>
          <a:xfrm flipH="1" flipV="1">
            <a:off x="9886519" y="1229371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="" xmlns:a16="http://schemas.microsoft.com/office/drawing/2014/main" id="{C472D1F8-B1F1-41F3-BCB1-F6DF514DE3DC}"/>
              </a:ext>
            </a:extLst>
          </p:cNvPr>
          <p:cNvCxnSpPr>
            <a:cxnSpLocks/>
          </p:cNvCxnSpPr>
          <p:nvPr/>
        </p:nvCxnSpPr>
        <p:spPr>
          <a:xfrm flipH="1" flipV="1">
            <a:off x="10086253" y="1235999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="" xmlns:a16="http://schemas.microsoft.com/office/drawing/2014/main" id="{98DBEFD1-4CC0-4DBB-80C8-25B26718F035}"/>
              </a:ext>
            </a:extLst>
          </p:cNvPr>
          <p:cNvCxnSpPr>
            <a:cxnSpLocks/>
          </p:cNvCxnSpPr>
          <p:nvPr/>
        </p:nvCxnSpPr>
        <p:spPr>
          <a:xfrm flipH="1" flipV="1">
            <a:off x="10301129" y="1242623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="" xmlns:a16="http://schemas.microsoft.com/office/drawing/2014/main" id="{AA802D5D-C0D7-4AB1-8B89-980035CE71F0}"/>
              </a:ext>
            </a:extLst>
          </p:cNvPr>
          <p:cNvCxnSpPr>
            <a:cxnSpLocks/>
          </p:cNvCxnSpPr>
          <p:nvPr/>
        </p:nvCxnSpPr>
        <p:spPr>
          <a:xfrm flipH="1" flipV="1">
            <a:off x="10546293" y="1235999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="" xmlns:a16="http://schemas.microsoft.com/office/drawing/2014/main" id="{DFEA3B2F-78FE-442B-BBF4-56EB305B9197}"/>
              </a:ext>
            </a:extLst>
          </p:cNvPr>
          <p:cNvCxnSpPr>
            <a:cxnSpLocks/>
          </p:cNvCxnSpPr>
          <p:nvPr/>
        </p:nvCxnSpPr>
        <p:spPr>
          <a:xfrm flipH="1" flipV="1">
            <a:off x="10744319" y="1235999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="" xmlns:a16="http://schemas.microsoft.com/office/drawing/2014/main" id="{EE3121C5-19F2-44B7-BF64-46B2B5C6B0D4}"/>
              </a:ext>
            </a:extLst>
          </p:cNvPr>
          <p:cNvCxnSpPr>
            <a:cxnSpLocks/>
          </p:cNvCxnSpPr>
          <p:nvPr/>
        </p:nvCxnSpPr>
        <p:spPr>
          <a:xfrm flipH="1" flipV="1">
            <a:off x="10980774" y="1229375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="" xmlns:a16="http://schemas.microsoft.com/office/drawing/2014/main" id="{0205F76A-F260-4EAE-9E78-E4D19AF441D3}"/>
              </a:ext>
            </a:extLst>
          </p:cNvPr>
          <p:cNvCxnSpPr>
            <a:cxnSpLocks/>
          </p:cNvCxnSpPr>
          <p:nvPr/>
        </p:nvCxnSpPr>
        <p:spPr>
          <a:xfrm flipH="1" flipV="1">
            <a:off x="11202272" y="1255879"/>
            <a:ext cx="9496" cy="153508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="" xmlns:a16="http://schemas.microsoft.com/office/drawing/2014/main" id="{A351A7A9-EB03-410D-81F4-95A200004252}"/>
              </a:ext>
            </a:extLst>
          </p:cNvPr>
          <p:cNvSpPr/>
          <p:nvPr/>
        </p:nvSpPr>
        <p:spPr>
          <a:xfrm>
            <a:off x="9678289" y="161458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="" xmlns:a16="http://schemas.microsoft.com/office/drawing/2014/main" id="{DF208692-4978-43DB-AA93-2A11D8AE0807}"/>
              </a:ext>
            </a:extLst>
          </p:cNvPr>
          <p:cNvSpPr/>
          <p:nvPr/>
        </p:nvSpPr>
        <p:spPr>
          <a:xfrm>
            <a:off x="9882943" y="1612504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="" xmlns:a16="http://schemas.microsoft.com/office/drawing/2014/main" id="{2EADF7D0-F038-4F10-9C8A-7D0D8294AE56}"/>
              </a:ext>
            </a:extLst>
          </p:cNvPr>
          <p:cNvSpPr/>
          <p:nvPr/>
        </p:nvSpPr>
        <p:spPr>
          <a:xfrm>
            <a:off x="10083245" y="161023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="" xmlns:a16="http://schemas.microsoft.com/office/drawing/2014/main" id="{62A5A27E-19DE-491A-80C2-3BF8C0A2A755}"/>
              </a:ext>
            </a:extLst>
          </p:cNvPr>
          <p:cNvSpPr/>
          <p:nvPr/>
        </p:nvSpPr>
        <p:spPr>
          <a:xfrm>
            <a:off x="10287899" y="1608150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0" name="Connecteur droit 59">
            <a:extLst>
              <a:ext uri="{FF2B5EF4-FFF2-40B4-BE49-F238E27FC236}">
                <a16:creationId xmlns="" xmlns:a16="http://schemas.microsoft.com/office/drawing/2014/main" id="{68752548-9749-475D-907E-1C78C2800D76}"/>
              </a:ext>
            </a:extLst>
          </p:cNvPr>
          <p:cNvCxnSpPr/>
          <p:nvPr/>
        </p:nvCxnSpPr>
        <p:spPr>
          <a:xfrm>
            <a:off x="8655428" y="1878218"/>
            <a:ext cx="27813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lipse 60">
            <a:extLst>
              <a:ext uri="{FF2B5EF4-FFF2-40B4-BE49-F238E27FC236}">
                <a16:creationId xmlns="" xmlns:a16="http://schemas.microsoft.com/office/drawing/2014/main" id="{F98FA6F2-3705-4C8C-A938-B640EFF40B85}"/>
              </a:ext>
            </a:extLst>
          </p:cNvPr>
          <p:cNvSpPr/>
          <p:nvPr/>
        </p:nvSpPr>
        <p:spPr>
          <a:xfrm>
            <a:off x="9151410" y="186278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>
            <a:extLst>
              <a:ext uri="{FF2B5EF4-FFF2-40B4-BE49-F238E27FC236}">
                <a16:creationId xmlns="" xmlns:a16="http://schemas.microsoft.com/office/drawing/2014/main" id="{D5B750EC-719C-4BB5-8C4B-FDF7F1FF456B}"/>
              </a:ext>
            </a:extLst>
          </p:cNvPr>
          <p:cNvSpPr/>
          <p:nvPr/>
        </p:nvSpPr>
        <p:spPr>
          <a:xfrm>
            <a:off x="9303810" y="1860700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Ellipse 62">
            <a:extLst>
              <a:ext uri="{FF2B5EF4-FFF2-40B4-BE49-F238E27FC236}">
                <a16:creationId xmlns="" xmlns:a16="http://schemas.microsoft.com/office/drawing/2014/main" id="{E8BDAB73-13EB-49DC-98D3-BD81FC105BE5}"/>
              </a:ext>
            </a:extLst>
          </p:cNvPr>
          <p:cNvSpPr/>
          <p:nvPr/>
        </p:nvSpPr>
        <p:spPr>
          <a:xfrm>
            <a:off x="9425734" y="1858427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Ellipse 63">
            <a:extLst>
              <a:ext uri="{FF2B5EF4-FFF2-40B4-BE49-F238E27FC236}">
                <a16:creationId xmlns="" xmlns:a16="http://schemas.microsoft.com/office/drawing/2014/main" id="{5FD653F5-30E6-4A5A-BF64-3C75C6873166}"/>
              </a:ext>
            </a:extLst>
          </p:cNvPr>
          <p:cNvSpPr/>
          <p:nvPr/>
        </p:nvSpPr>
        <p:spPr>
          <a:xfrm>
            <a:off x="9560716" y="186505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="" xmlns:a16="http://schemas.microsoft.com/office/drawing/2014/main" id="{E3AC8D4A-310F-485E-B09E-CC2680A1C985}"/>
              </a:ext>
            </a:extLst>
          </p:cNvPr>
          <p:cNvSpPr/>
          <p:nvPr/>
        </p:nvSpPr>
        <p:spPr>
          <a:xfrm>
            <a:off x="10536096" y="161249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="" xmlns:a16="http://schemas.microsoft.com/office/drawing/2014/main" id="{017C7221-2844-4EDB-AF36-08A317A36088}"/>
              </a:ext>
            </a:extLst>
          </p:cNvPr>
          <p:cNvSpPr/>
          <p:nvPr/>
        </p:nvSpPr>
        <p:spPr>
          <a:xfrm>
            <a:off x="10732041" y="160813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Ellipse 69">
            <a:extLst>
              <a:ext uri="{FF2B5EF4-FFF2-40B4-BE49-F238E27FC236}">
                <a16:creationId xmlns="" xmlns:a16="http://schemas.microsoft.com/office/drawing/2014/main" id="{2A7C9F49-1914-42CC-A325-47D7346F1A16}"/>
              </a:ext>
            </a:extLst>
          </p:cNvPr>
          <p:cNvSpPr/>
          <p:nvPr/>
        </p:nvSpPr>
        <p:spPr>
          <a:xfrm>
            <a:off x="10971531" y="1612488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Ellipse 71">
            <a:extLst>
              <a:ext uri="{FF2B5EF4-FFF2-40B4-BE49-F238E27FC236}">
                <a16:creationId xmlns="" xmlns:a16="http://schemas.microsoft.com/office/drawing/2014/main" id="{84BB2A42-E36F-45C7-8C24-D33FA73D1F6F}"/>
              </a:ext>
            </a:extLst>
          </p:cNvPr>
          <p:cNvSpPr/>
          <p:nvPr/>
        </p:nvSpPr>
        <p:spPr>
          <a:xfrm>
            <a:off x="11184894" y="1616837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Forme libre : forme 72">
            <a:extLst>
              <a:ext uri="{FF2B5EF4-FFF2-40B4-BE49-F238E27FC236}">
                <a16:creationId xmlns="" xmlns:a16="http://schemas.microsoft.com/office/drawing/2014/main" id="{30AD80AA-B037-42C8-B558-8C6A60AB73B4}"/>
              </a:ext>
            </a:extLst>
          </p:cNvPr>
          <p:cNvSpPr/>
          <p:nvPr/>
        </p:nvSpPr>
        <p:spPr>
          <a:xfrm>
            <a:off x="8665029" y="1530273"/>
            <a:ext cx="3300548" cy="1239053"/>
          </a:xfrm>
          <a:custGeom>
            <a:avLst/>
            <a:gdLst>
              <a:gd name="connsiteX0" fmla="*/ 0 w 3300548"/>
              <a:gd name="connsiteY0" fmla="*/ 1239053 h 1239053"/>
              <a:gd name="connsiteX1" fmla="*/ 940525 w 3300548"/>
              <a:gd name="connsiteY1" fmla="*/ 133064 h 1239053"/>
              <a:gd name="connsiteX2" fmla="*/ 3300548 w 3300548"/>
              <a:gd name="connsiteY2" fmla="*/ 19853 h 1239053"/>
              <a:gd name="connsiteX3" fmla="*/ 3300548 w 3300548"/>
              <a:gd name="connsiteY3" fmla="*/ 19853 h 123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0548" h="1239053">
                <a:moveTo>
                  <a:pt x="0" y="1239053"/>
                </a:moveTo>
                <a:cubicBezTo>
                  <a:pt x="195217" y="787658"/>
                  <a:pt x="390434" y="336264"/>
                  <a:pt x="940525" y="133064"/>
                </a:cubicBezTo>
                <a:cubicBezTo>
                  <a:pt x="1490616" y="-70136"/>
                  <a:pt x="3300548" y="19853"/>
                  <a:pt x="3300548" y="19853"/>
                </a:cubicBezTo>
                <a:lnTo>
                  <a:pt x="3300548" y="19853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="" xmlns:a16="http://schemas.microsoft.com/office/drawing/2014/main" id="{70FA033D-92D6-4F1B-8D09-B38CD620F3DB}"/>
              </a:ext>
            </a:extLst>
          </p:cNvPr>
          <p:cNvSpPr txBox="1"/>
          <p:nvPr/>
        </p:nvSpPr>
        <p:spPr>
          <a:xfrm>
            <a:off x="6902063" y="1154107"/>
            <a:ext cx="36585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2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2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      3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      3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      3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      3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	4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	      5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		k:nbr_termes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="" xmlns:a16="http://schemas.microsoft.com/office/drawing/2014/main" id="{53A1AC44-52DB-4F32-896E-BAD27D158C40}"/>
              </a:ext>
            </a:extLst>
          </p:cNvPr>
          <p:cNvSpPr txBox="1"/>
          <p:nvPr/>
        </p:nvSpPr>
        <p:spPr>
          <a:xfrm>
            <a:off x="4651722" y="1171985"/>
            <a:ext cx="624568" cy="319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1</a:t>
            </a:r>
          </a:p>
          <a:p>
            <a:endParaRPr lang="fr-FR" sz="1950" b="1" dirty="0">
              <a:solidFill>
                <a:srgbClr val="FF0000"/>
              </a:solidFill>
            </a:endParaRPr>
          </a:p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2</a:t>
            </a:r>
          </a:p>
          <a:p>
            <a:endParaRPr lang="fr-FR" sz="1950" b="1" baseline="30000" dirty="0">
              <a:solidFill>
                <a:srgbClr val="FF0000"/>
              </a:solidFill>
            </a:endParaRPr>
          </a:p>
          <a:p>
            <a:endParaRPr lang="fr-FR" sz="1950" b="1" baseline="30000" dirty="0">
              <a:solidFill>
                <a:srgbClr val="FF0000"/>
              </a:solidFill>
            </a:endParaRPr>
          </a:p>
          <a:p>
            <a:endParaRPr lang="fr-FR" sz="1950" b="1" baseline="30000" dirty="0">
              <a:solidFill>
                <a:srgbClr val="FF0000"/>
              </a:solidFill>
            </a:endParaRPr>
          </a:p>
          <a:p>
            <a:endParaRPr lang="fr-FR" sz="1950" b="1" baseline="30000" dirty="0">
              <a:solidFill>
                <a:srgbClr val="FF0000"/>
              </a:solidFill>
            </a:endParaRPr>
          </a:p>
          <a:p>
            <a:endParaRPr lang="fr-FR" sz="1950" b="1" baseline="30000" dirty="0">
              <a:solidFill>
                <a:srgbClr val="FF0000"/>
              </a:solidFill>
            </a:endParaRPr>
          </a:p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3</a:t>
            </a:r>
          </a:p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4</a:t>
            </a:r>
          </a:p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5</a:t>
            </a:r>
          </a:p>
          <a:p>
            <a:r>
              <a:rPr lang="fr-FR" sz="1950" b="1" dirty="0">
                <a:solidFill>
                  <a:srgbClr val="FF0000"/>
                </a:solidFill>
              </a:rPr>
              <a:t>=2</a:t>
            </a:r>
            <a:r>
              <a:rPr lang="fr-FR" sz="1950" b="1" baseline="30000" dirty="0">
                <a:solidFill>
                  <a:srgbClr val="FF0000"/>
                </a:solidFill>
              </a:rPr>
              <a:t>k</a:t>
            </a:r>
            <a:endParaRPr lang="fr-FR" sz="19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67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7" grpId="0" animBg="1"/>
      <p:bldP spid="9" grpId="0" animBg="1"/>
      <p:bldP spid="13" grpId="0"/>
      <p:bldP spid="14" grpId="0"/>
      <p:bldP spid="15" grpId="0"/>
      <p:bldP spid="17" grpId="0"/>
      <p:bldP spid="22" grpId="0" animBg="1"/>
      <p:bldP spid="24" grpId="0" animBg="1"/>
      <p:bldP spid="26" grpId="0" animBg="1"/>
      <p:bldP spid="54" grpId="0" animBg="1"/>
      <p:bldP spid="55" grpId="0" animBg="1"/>
      <p:bldP spid="57" grpId="0" animBg="1"/>
      <p:bldP spid="59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4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330" y="1825625"/>
            <a:ext cx="3687419" cy="3837870"/>
          </a:xfrm>
        </p:spPr>
        <p:txBody>
          <a:bodyPr numCol="1">
            <a:normAutofit fontScale="77500" lnSpcReduction="20000"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Séquence-6:</a:t>
            </a:r>
          </a:p>
          <a:p>
            <a:pPr marL="0" indent="0">
              <a:buNone/>
            </a:pPr>
            <a:r>
              <a:rPr lang="en-GB" dirty="0" err="1"/>
              <a:t>i</a:t>
            </a:r>
            <a:r>
              <a:rPr lang="en-GB" dirty="0"/>
              <a:t> = 1</a:t>
            </a:r>
            <a:endParaRPr lang="fr-FR" dirty="0"/>
          </a:p>
          <a:p>
            <a:pPr marL="0" indent="0">
              <a:buNone/>
            </a:pPr>
            <a:r>
              <a:rPr lang="en-GB" dirty="0"/>
              <a:t>For j=1 To n do</a:t>
            </a:r>
            <a:endParaRPr lang="fr-FR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i</a:t>
            </a:r>
            <a:r>
              <a:rPr lang="en-GB" dirty="0"/>
              <a:t> = 2*</a:t>
            </a:r>
            <a:r>
              <a:rPr lang="en-GB" dirty="0" err="1"/>
              <a:t>i</a:t>
            </a:r>
            <a:endParaRPr lang="fr-FR" dirty="0"/>
          </a:p>
          <a:p>
            <a:pPr marL="0" indent="0">
              <a:buNone/>
            </a:pPr>
            <a:r>
              <a:rPr lang="en-GB" dirty="0" err="1"/>
              <a:t>Endfor</a:t>
            </a:r>
            <a:endParaRPr lang="fr-FR" dirty="0"/>
          </a:p>
          <a:p>
            <a:pPr marL="0" indent="0">
              <a:buNone/>
            </a:pPr>
            <a:r>
              <a:rPr lang="en-GB" dirty="0"/>
              <a:t>For j= 1 to </a:t>
            </a:r>
            <a:r>
              <a:rPr lang="en-GB" dirty="0" err="1"/>
              <a:t>i</a:t>
            </a:r>
            <a:r>
              <a:rPr lang="en-GB" dirty="0"/>
              <a:t> do</a:t>
            </a:r>
            <a:endParaRPr lang="fr-FR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Opération</a:t>
            </a:r>
            <a:r>
              <a:rPr lang="en-GB" dirty="0"/>
              <a:t>;</a:t>
            </a:r>
            <a:endParaRPr lang="fr-FR" dirty="0"/>
          </a:p>
          <a:p>
            <a:pPr marL="0" indent="0">
              <a:buNone/>
            </a:pPr>
            <a:r>
              <a:rPr lang="en-GB" dirty="0" err="1"/>
              <a:t>Endfor</a:t>
            </a:r>
            <a:endParaRPr lang="fr-FR" dirty="0"/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3D65CF8C-1B63-475A-AF50-206A3658AF63}"/>
                  </a:ext>
                </a:extLst>
              </p:cNvPr>
              <p:cNvSpPr/>
              <p:nvPr/>
            </p:nvSpPr>
            <p:spPr>
              <a:xfrm>
                <a:off x="5087837" y="4555781"/>
                <a:ext cx="1386014" cy="44560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65CF8C-1B63-475A-AF50-206A3658A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37" y="4555781"/>
                <a:ext cx="1386014" cy="445607"/>
              </a:xfrm>
              <a:prstGeom prst="rect">
                <a:avLst/>
              </a:prstGeom>
              <a:blipFill>
                <a:blip r:embed="rId2"/>
                <a:stretch>
                  <a:fillRect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B2F6E76F-24CD-48B2-97B1-E1F59821C3FA}"/>
                  </a:ext>
                </a:extLst>
              </p:cNvPr>
              <p:cNvSpPr/>
              <p:nvPr/>
            </p:nvSpPr>
            <p:spPr>
              <a:xfrm>
                <a:off x="3961441" y="1978702"/>
                <a:ext cx="5222316" cy="2432154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fr-FR" sz="2000" dirty="0"/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N=2	-&gt; i=2*2=4 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000" dirty="0"/>
                  <a:t>opération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N=3	-&gt;i=2*2*2=8=&gt;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N=4	-&gt; i=2*2*2*2=16 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N=5	-&gt; i=2*2*2*2*2=32 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opérations</a:t>
                </a:r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F6E76F-24CD-48B2-97B1-E1F59821C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441" y="1978702"/>
                <a:ext cx="5222316" cy="2432154"/>
              </a:xfrm>
              <a:prstGeom prst="rect">
                <a:avLst/>
              </a:prstGeom>
              <a:blipFill>
                <a:blip r:embed="rId3"/>
                <a:stretch>
                  <a:fillRect l="-1164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91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47B69F1-3392-4ED3-8940-CF376180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Complexité de séquences itératives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Exercice 2: </a:t>
            </a:r>
            <a:r>
              <a:rPr lang="fr-FR" sz="18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Déterminer (en fonction de n à O( ) près) la complexité en nombre « d’opérations » de chaque séquence 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1CF7B8C-E7E9-47DB-8D48-15F087E3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30" y="1825624"/>
            <a:ext cx="3717113" cy="4380303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endParaRPr lang="en-GB" sz="1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Séquence-7:</a:t>
            </a: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k = 1 to n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1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For j = 1 to k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2*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For j = 1 to 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Opération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16865" algn="l"/>
                <a:tab pos="662305" algn="l"/>
                <a:tab pos="1038225" algn="l"/>
                <a:tab pos="1363345" algn="l"/>
                <a:tab pos="1739265" algn="l"/>
                <a:tab pos="2115185" algn="l"/>
                <a:tab pos="2440305" algn="l"/>
              </a:tabLst>
            </a:pPr>
            <a:r>
              <a:rPr lang="en-GB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Endfor</a:t>
            </a:r>
            <a:endParaRPr lang="fr-F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355600" algn="l"/>
                <a:tab pos="731520" algn="l"/>
                <a:tab pos="1087120" algn="l"/>
                <a:tab pos="1452880" algn="l"/>
                <a:tab pos="1808480" algn="l"/>
                <a:tab pos="2164080" algn="l"/>
              </a:tabLst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B2F6E76F-24CD-48B2-97B1-E1F59821C3FA}"/>
                  </a:ext>
                </a:extLst>
              </p:cNvPr>
              <p:cNvSpPr/>
              <p:nvPr/>
            </p:nvSpPr>
            <p:spPr>
              <a:xfrm>
                <a:off x="3370762" y="1611831"/>
                <a:ext cx="8651349" cy="4881043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N=1	-&gt;k=1 =&gt; 2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N=2	-&gt; (k=1,k=2)=&gt; 2+4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N=3	-&gt; (k=1,k=2,k=3)=&gt; 2+4+8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N=4	-&gt; (k=1,k=2,k=3,k=4)=&gt; 2+4+8+16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N=5	-&gt; (k=1,k=2,k=3,k=4,k=5)=&gt; 2+4+8+16+32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N	=&gt;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fr-FR" sz="2000" dirty="0"/>
                  <a:t> opérations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sz="2000" dirty="0"/>
                  <a:t>		suite géométrique de raison 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2(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)=2∗1∗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=2(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dirty="0"/>
                  <a:t>	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F6E76F-24CD-48B2-97B1-E1F59821C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762" y="1611831"/>
                <a:ext cx="8651349" cy="4881043"/>
              </a:xfrm>
              <a:prstGeom prst="rect">
                <a:avLst/>
              </a:prstGeom>
              <a:blipFill>
                <a:blip r:embed="rId2"/>
                <a:stretch>
                  <a:fillRect l="-704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ccolade ouvrante 9">
            <a:extLst>
              <a:ext uri="{FF2B5EF4-FFF2-40B4-BE49-F238E27FC236}">
                <a16:creationId xmlns="" xmlns:a16="http://schemas.microsoft.com/office/drawing/2014/main" id="{5300881B-8C2A-4F29-A587-E03EA9C528BB}"/>
              </a:ext>
            </a:extLst>
          </p:cNvPr>
          <p:cNvSpPr/>
          <p:nvPr/>
        </p:nvSpPr>
        <p:spPr>
          <a:xfrm rot="16200000">
            <a:off x="6101691" y="3133026"/>
            <a:ext cx="142409" cy="30470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="" xmlns:a16="http://schemas.microsoft.com/office/drawing/2014/main" id="{E248D267-64F0-4FB1-8184-BDDD7405C773}"/>
                  </a:ext>
                </a:extLst>
              </p:cNvPr>
              <p:cNvSpPr txBox="1"/>
              <p:nvPr/>
            </p:nvSpPr>
            <p:spPr>
              <a:xfrm>
                <a:off x="9651119" y="4235071"/>
                <a:ext cx="1969351" cy="70058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𝑛𝑏𝑟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𝑡𝑒𝑟𝑚𝑒𝑠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E248D267-64F0-4FB1-8184-BDDD7405C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119" y="4235071"/>
                <a:ext cx="1969351" cy="700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3D65CF8C-1B63-475A-AF50-206A3658AF63}"/>
                  </a:ext>
                </a:extLst>
              </p:cNvPr>
              <p:cNvSpPr/>
              <p:nvPr/>
            </p:nvSpPr>
            <p:spPr>
              <a:xfrm>
                <a:off x="5081854" y="5850260"/>
                <a:ext cx="1386014" cy="44560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65CF8C-1B63-475A-AF50-206A3658A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854" y="5850260"/>
                <a:ext cx="1386014" cy="445607"/>
              </a:xfrm>
              <a:prstGeom prst="rect">
                <a:avLst/>
              </a:prstGeom>
              <a:blipFill>
                <a:blip r:embed="rId4"/>
                <a:stretch>
                  <a:fillRect b="-2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06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9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7283</TotalTime>
  <Words>163</Words>
  <Application>Microsoft Office PowerPoint</Application>
  <PresentationFormat>Grand écran</PresentationFormat>
  <Paragraphs>165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Bahnschrift SemiBold</vt:lpstr>
      <vt:lpstr>Calibri</vt:lpstr>
      <vt:lpstr>Calibri Light</vt:lpstr>
      <vt:lpstr>Cambria Math</vt:lpstr>
      <vt:lpstr>Times New Roman</vt:lpstr>
      <vt:lpstr>Thème Office</vt:lpstr>
      <vt:lpstr>Correction du TD N°1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  <vt:lpstr>Complexité de séquences itératives Exercice 2: Déterminer (en fonction de n à O( ) près) la complexité en nombre « d’opérations » de chaque séquence 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user</cp:lastModifiedBy>
  <cp:revision>33</cp:revision>
  <dcterms:created xsi:type="dcterms:W3CDTF">2020-10-28T09:47:25Z</dcterms:created>
  <dcterms:modified xsi:type="dcterms:W3CDTF">2022-11-10T07:32:35Z</dcterms:modified>
</cp:coreProperties>
</file>