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3" r:id="rId3"/>
    <p:sldId id="350" r:id="rId4"/>
    <p:sldId id="354" r:id="rId5"/>
    <p:sldId id="351" r:id="rId6"/>
    <p:sldId id="352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574" autoAdjust="0"/>
    <p:restoredTop sz="94660"/>
  </p:normalViewPr>
  <p:slideViewPr>
    <p:cSldViewPr snapToGrid="0">
      <p:cViewPr varScale="1">
        <p:scale>
          <a:sx n="72" d="100"/>
          <a:sy n="72" d="100"/>
        </p:scale>
        <p:origin x="9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E70BED-57A1-4E4A-8E70-3449B8F15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E6D108D-A4C5-4321-83BE-D049B27F8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E7F3EB-14FD-4688-BB7F-F99001072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27/11/2020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50A7CD-4266-4FF1-A389-340451B7A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07F4C9-FA32-429D-9117-02B6B7F31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1527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BD1848-19A6-4C6F-B73D-DE165317D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188072-A1FB-4C75-ADAE-83785598D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DC7617-635C-43EC-931D-B6C96D41C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27/11/2020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A77BCC-7CB4-4668-A4A5-4DD2079D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17FB6F-BC6B-454D-8C77-06279C937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419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7FEC3D-AB13-4743-AD11-AB6B3BF4E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1AB14E-AECA-4A68-AA48-2A468A802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15781D-C313-43F5-9A01-0ABE6C017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27/11/2020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A083A5-CCDF-4390-9D21-34545835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679D54-D284-4F6B-8036-9F4790C67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5917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BF4414-EABB-476F-A845-28E79EC01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38E892-4C74-4258-A5F3-7F21CDF0AA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760E803-EDB2-44E0-BC80-4EF002212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9FABCF-8D29-4734-A242-AC4754B3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27/11/2020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FCF7D0E-0599-41F7-BDC6-7FEF13341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5A7E2F-C630-4267-ACBE-FEDC6F70D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316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2C9838-B540-4FED-BD3F-1ABE3B882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79FF9F2-D02D-4544-82F0-53B6D9508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7DF8656-EA31-4376-9173-A42A56D6D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5EEB132-0040-4AF1-9186-92D798D80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34A51D9-9638-4F20-97BD-F5A0D7C2E2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FCBD614-5505-4333-B4CD-4C9BFCAD7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27/11/2020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646BC2E-DE44-4EAB-991B-8A50277E2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7C2ACD9-D447-4E1D-AC4D-204E4A72B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2368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F7A912-69EE-4DAA-8FDB-60493C46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C273329-F0D7-4552-9D02-EC7E828E4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27/11/2020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97915AD-0246-49A6-8BB3-9258A136B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ADD287A-C6B4-46F0-99E2-AC1C7909D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4286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550A43F-5BC7-4C1A-8B09-250CA8E8E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27/11/2020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EE756BC-6CEE-4AA4-8315-4B1854862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F45227-07E6-4162-956D-F0D8B8C1F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703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ABFF3C-D529-4F12-88C4-228A0A275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1DBD4C-0A40-4BB5-B5F3-02A50C49B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9293E57-E4EB-4595-AB39-967FA9424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30433D-D4D8-41CA-A8DF-801CB86DE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27/11/2020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465C4F-2F83-4B72-8712-73F1B470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4B2169-A098-426D-A0EC-FE7AA13AA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8470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5B2595-618F-46D3-B0DD-A2A71F21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26766CD-722D-4944-AE49-284F75B0D9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425F1F0-D3ED-4D68-8624-90EB9895D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544A4B5-0746-4437-93F5-C5AF6622A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27/11/2020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351274A-BDC7-4035-8601-E6463C15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E21747-1F2F-4D63-A483-7A747BFDE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4485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1875B5-13EC-4FEC-8B7B-163756C58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04BBB74-7091-4548-AE4D-478A95E8C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16FFAA-3364-404A-9C6D-8AE73672B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27/11/2020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FD46D8-52E4-4737-BC2C-011C4D984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CF38FE-1DA7-4B21-9465-B2EB22699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4406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85A6C42-9D02-4733-ADD2-F347E82E0A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FD0EF17-487F-434E-B4F2-CF2E622FF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A9153D-9D5A-4450-92A3-45B35B90A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EF2F7-BF07-4B4D-9F2B-5985D54E4590}" type="datetimeFigureOut">
              <a:rPr lang="fr-FR" smtClean="0"/>
              <a:t>27/11/2020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A7E790-76EA-4393-8C1E-0271FE672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091E65-8A2C-4660-8FEA-78F45078A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667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46206D6-2FE3-446D-8603-57D81709E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5F44E0-CE75-4F77-AC90-20EE3DC3E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B689F1-2457-4AB7-9A5D-D4515698F7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EF2F7-BF07-4B4D-9F2B-5985D54E4590}" type="datetimeFigureOut">
              <a:rPr lang="fr-FR" smtClean="0"/>
              <a:t>27/11/2020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4B4F3A-92D7-4788-BDA4-FCBFF18DDE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13610E-7BBD-42C7-957C-C4203F1A9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D2B38-B610-4222-8DE9-6B2E738599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660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1D1304-4377-421C-BFCD-36B91AC22A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Correction du TD N°2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DAB4164-29D2-4310-A4CE-C40C836B53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solidFill>
                  <a:srgbClr val="7030A0"/>
                </a:solidFill>
                <a:latin typeface="Bahnschrift SemiBold" panose="020B0502040204020203" pitchFamily="34" charset="0"/>
              </a:rPr>
              <a:t>Algorithmes récursifs</a:t>
            </a:r>
          </a:p>
        </p:txBody>
      </p:sp>
    </p:spTree>
    <p:extLst>
      <p:ext uri="{BB962C8B-B14F-4D97-AF65-F5344CB8AC3E}">
        <p14:creationId xmlns:p14="http://schemas.microsoft.com/office/powerpoint/2010/main" val="2235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ZoneTexte 93">
            <a:extLst>
              <a:ext uri="{FF2B5EF4-FFF2-40B4-BE49-F238E27FC236}">
                <a16:creationId xmlns:a16="http://schemas.microsoft.com/office/drawing/2014/main" id="{E8C376F4-50B8-4AF4-A85E-E18DAC7EC2C7}"/>
              </a:ext>
            </a:extLst>
          </p:cNvPr>
          <p:cNvSpPr txBox="1"/>
          <p:nvPr/>
        </p:nvSpPr>
        <p:spPr>
          <a:xfrm>
            <a:off x="9217171" y="2393230"/>
            <a:ext cx="1285248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5E29E02-18F4-4BF3-A442-3724E693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7908097-DDCF-4773-AFE3-16A38C501C89}"/>
              </a:ext>
            </a:extLst>
          </p:cNvPr>
          <p:cNvSpPr txBox="1"/>
          <p:nvPr/>
        </p:nvSpPr>
        <p:spPr>
          <a:xfrm>
            <a:off x="0" y="1853095"/>
            <a:ext cx="2391888" cy="1015663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int</a:t>
            </a:r>
            <a:r>
              <a:rPr lang="fr-FR" sz="1200" dirty="0">
                <a:latin typeface="Century" panose="02040604050505020304" pitchFamily="18" charset="0"/>
              </a:rPr>
              <a:t> somme (x, 4)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{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if(4 == 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return somme(x, 3) + x[4-1]</a:t>
            </a:r>
          </a:p>
          <a:p>
            <a:r>
              <a:rPr lang="fr-FR" sz="1200" dirty="0">
                <a:latin typeface="Century" panose="02040604050505020304" pitchFamily="18" charset="0"/>
              </a:rPr>
              <a:t>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7EAA7E5-7694-4D0B-98B9-CB98AF706144}"/>
              </a:ext>
            </a:extLst>
          </p:cNvPr>
          <p:cNvSpPr txBox="1"/>
          <p:nvPr/>
        </p:nvSpPr>
        <p:spPr>
          <a:xfrm>
            <a:off x="2409318" y="2591004"/>
            <a:ext cx="2443699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int</a:t>
            </a:r>
            <a:r>
              <a:rPr lang="fr-FR" sz="1200" dirty="0">
                <a:latin typeface="Century" panose="02040604050505020304" pitchFamily="18" charset="0"/>
              </a:rPr>
              <a:t> somme (x, 3)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{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if(3 == 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return somme(x, 2) +  x[3-1]</a:t>
            </a:r>
          </a:p>
          <a:p>
            <a:endParaRPr lang="fr-FR" sz="1200" dirty="0">
              <a:latin typeface="Century" panose="02040604050505020304" pitchFamily="18" charset="0"/>
            </a:endParaRPr>
          </a:p>
          <a:p>
            <a:r>
              <a:rPr lang="fr-FR" sz="1200" dirty="0">
                <a:latin typeface="Century" panose="02040604050505020304" pitchFamily="18" charset="0"/>
              </a:rPr>
              <a:t>}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79AF49B-EA13-48CC-A623-AADC6AB74959}"/>
              </a:ext>
            </a:extLst>
          </p:cNvPr>
          <p:cNvSpPr txBox="1"/>
          <p:nvPr/>
        </p:nvSpPr>
        <p:spPr>
          <a:xfrm>
            <a:off x="4884269" y="3306331"/>
            <a:ext cx="2443699" cy="101566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int</a:t>
            </a:r>
            <a:r>
              <a:rPr lang="fr-FR" sz="1200" dirty="0">
                <a:latin typeface="Century" panose="02040604050505020304" pitchFamily="18" charset="0"/>
              </a:rPr>
              <a:t> somme (x, 2)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{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if(2 == 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return somme(x, 1) + x[2-1]</a:t>
            </a:r>
          </a:p>
          <a:p>
            <a:r>
              <a:rPr lang="fr-FR" sz="1200" dirty="0">
                <a:latin typeface="Century" panose="02040604050505020304" pitchFamily="18" charset="0"/>
              </a:rPr>
              <a:t>}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7F73882-DAE7-42D1-AEA1-212A6E7F5D3E}"/>
              </a:ext>
            </a:extLst>
          </p:cNvPr>
          <p:cNvSpPr txBox="1"/>
          <p:nvPr/>
        </p:nvSpPr>
        <p:spPr>
          <a:xfrm>
            <a:off x="7389263" y="3969109"/>
            <a:ext cx="2443699" cy="101566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int</a:t>
            </a:r>
            <a:r>
              <a:rPr lang="fr-FR" sz="1200" dirty="0">
                <a:latin typeface="Century" panose="02040604050505020304" pitchFamily="18" charset="0"/>
              </a:rPr>
              <a:t> somme (x, 1)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{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if(1 == 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return somme(x, 0) + x[1-1]</a:t>
            </a:r>
          </a:p>
          <a:p>
            <a:r>
              <a:rPr lang="fr-FR" sz="1200" dirty="0">
                <a:latin typeface="Century" panose="02040604050505020304" pitchFamily="18" charset="0"/>
              </a:rPr>
              <a:t>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6F79882-FB71-4C1C-ACEB-0379163668A6}"/>
              </a:ext>
            </a:extLst>
          </p:cNvPr>
          <p:cNvSpPr txBox="1"/>
          <p:nvPr/>
        </p:nvSpPr>
        <p:spPr>
          <a:xfrm>
            <a:off x="9867496" y="4696016"/>
            <a:ext cx="1773596" cy="83099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int</a:t>
            </a:r>
            <a:r>
              <a:rPr lang="fr-FR" sz="1200" dirty="0">
                <a:latin typeface="Century" panose="02040604050505020304" pitchFamily="18" charset="0"/>
              </a:rPr>
              <a:t> somme (x, 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{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if(0 == 0) return 0;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}</a:t>
            </a:r>
          </a:p>
        </p:txBody>
      </p:sp>
      <p:cxnSp>
        <p:nvCxnSpPr>
          <p:cNvPr id="16" name="Connecteur : en angle 15">
            <a:extLst>
              <a:ext uri="{FF2B5EF4-FFF2-40B4-BE49-F238E27FC236}">
                <a16:creationId xmlns:a16="http://schemas.microsoft.com/office/drawing/2014/main" id="{AAA27329-A019-49F3-97DE-A0EFDF1B42AA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431643" y="2253592"/>
            <a:ext cx="1199525" cy="3374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3832DF7D-ABAB-4D0B-ADF7-EEA2F6839218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>
            <a:off x="4853017" y="3191169"/>
            <a:ext cx="1253102" cy="1151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C89E7925-74A9-41DF-886C-3D5A9E9873AE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7327968" y="3700773"/>
            <a:ext cx="1283145" cy="2683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Connecteur : en angle 26">
            <a:extLst>
              <a:ext uri="{FF2B5EF4-FFF2-40B4-BE49-F238E27FC236}">
                <a16:creationId xmlns:a16="http://schemas.microsoft.com/office/drawing/2014/main" id="{601E9B90-DFCF-422E-B15C-BD7C3855F30D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9688395" y="4321994"/>
            <a:ext cx="1065899" cy="374022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ylindre 35">
            <a:extLst>
              <a:ext uri="{FF2B5EF4-FFF2-40B4-BE49-F238E27FC236}">
                <a16:creationId xmlns:a16="http://schemas.microsoft.com/office/drawing/2014/main" id="{0FCFFFC9-5931-41AF-B358-0DBD746A715C}"/>
              </a:ext>
            </a:extLst>
          </p:cNvPr>
          <p:cNvSpPr/>
          <p:nvPr/>
        </p:nvSpPr>
        <p:spPr>
          <a:xfrm>
            <a:off x="485986" y="3914835"/>
            <a:ext cx="1705611" cy="2263846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Organigramme : Disque magnétique 37">
            <a:extLst>
              <a:ext uri="{FF2B5EF4-FFF2-40B4-BE49-F238E27FC236}">
                <a16:creationId xmlns:a16="http://schemas.microsoft.com/office/drawing/2014/main" id="{A3B00585-1DB2-4CA2-A3CE-6A1A827F6BF8}"/>
              </a:ext>
            </a:extLst>
          </p:cNvPr>
          <p:cNvSpPr/>
          <p:nvPr/>
        </p:nvSpPr>
        <p:spPr>
          <a:xfrm>
            <a:off x="485986" y="5747233"/>
            <a:ext cx="1705611" cy="374484"/>
          </a:xfrm>
          <a:prstGeom prst="flowChartMagneticDisk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40" name="Organigramme : Disque magnétique 39">
            <a:extLst>
              <a:ext uri="{FF2B5EF4-FFF2-40B4-BE49-F238E27FC236}">
                <a16:creationId xmlns:a16="http://schemas.microsoft.com/office/drawing/2014/main" id="{CB8B0A17-E2EE-4D91-A539-95D5F65C93F2}"/>
              </a:ext>
            </a:extLst>
          </p:cNvPr>
          <p:cNvSpPr/>
          <p:nvPr/>
        </p:nvSpPr>
        <p:spPr>
          <a:xfrm>
            <a:off x="485986" y="5472913"/>
            <a:ext cx="1705611" cy="374484"/>
          </a:xfrm>
          <a:prstGeom prst="flowChartMagneticDisk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42" name="Organigramme : Disque magnétique 41">
            <a:extLst>
              <a:ext uri="{FF2B5EF4-FFF2-40B4-BE49-F238E27FC236}">
                <a16:creationId xmlns:a16="http://schemas.microsoft.com/office/drawing/2014/main" id="{67A50120-198B-4940-82F6-E73AADD91D42}"/>
              </a:ext>
            </a:extLst>
          </p:cNvPr>
          <p:cNvSpPr/>
          <p:nvPr/>
        </p:nvSpPr>
        <p:spPr>
          <a:xfrm>
            <a:off x="485986" y="5198593"/>
            <a:ext cx="1705611" cy="374484"/>
          </a:xfrm>
          <a:prstGeom prst="flowChartMagneticDisk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  <p:sp>
        <p:nvSpPr>
          <p:cNvPr id="44" name="Organigramme : Disque magnétique 43">
            <a:extLst>
              <a:ext uri="{FF2B5EF4-FFF2-40B4-BE49-F238E27FC236}">
                <a16:creationId xmlns:a16="http://schemas.microsoft.com/office/drawing/2014/main" id="{DED9A217-DD3A-4BE7-841A-8FEC77349195}"/>
              </a:ext>
            </a:extLst>
          </p:cNvPr>
          <p:cNvSpPr/>
          <p:nvPr/>
        </p:nvSpPr>
        <p:spPr>
          <a:xfrm>
            <a:off x="485986" y="4924273"/>
            <a:ext cx="1705611" cy="374484"/>
          </a:xfrm>
          <a:prstGeom prst="flowChartMagneticDisk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61E4CD22-187B-4F5D-B511-F35308382B0D}"/>
              </a:ext>
            </a:extLst>
          </p:cNvPr>
          <p:cNvSpPr txBox="1"/>
          <p:nvPr/>
        </p:nvSpPr>
        <p:spPr>
          <a:xfrm>
            <a:off x="364962" y="6257091"/>
            <a:ext cx="2206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Pile d’exécution</a:t>
            </a:r>
          </a:p>
        </p:txBody>
      </p:sp>
      <p:cxnSp>
        <p:nvCxnSpPr>
          <p:cNvPr id="49" name="Connecteur : en arc 48">
            <a:extLst>
              <a:ext uri="{FF2B5EF4-FFF2-40B4-BE49-F238E27FC236}">
                <a16:creationId xmlns:a16="http://schemas.microsoft.com/office/drawing/2014/main" id="{B6D1868B-00FD-4B54-9AEC-DBA53AE791D4}"/>
              </a:ext>
            </a:extLst>
          </p:cNvPr>
          <p:cNvCxnSpPr>
            <a:cxnSpLocks/>
          </p:cNvCxnSpPr>
          <p:nvPr/>
        </p:nvCxnSpPr>
        <p:spPr>
          <a:xfrm>
            <a:off x="72812" y="3700773"/>
            <a:ext cx="852806" cy="48583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ZoneTexte 50">
            <a:extLst>
              <a:ext uri="{FF2B5EF4-FFF2-40B4-BE49-F238E27FC236}">
                <a16:creationId xmlns:a16="http://schemas.microsoft.com/office/drawing/2014/main" id="{A564D58B-EF98-45DD-866C-86A69526CF76}"/>
              </a:ext>
            </a:extLst>
          </p:cNvPr>
          <p:cNvSpPr txBox="1"/>
          <p:nvPr/>
        </p:nvSpPr>
        <p:spPr>
          <a:xfrm>
            <a:off x="349144" y="3310758"/>
            <a:ext cx="96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empiler</a:t>
            </a:r>
          </a:p>
        </p:txBody>
      </p:sp>
      <p:cxnSp>
        <p:nvCxnSpPr>
          <p:cNvPr id="52" name="Connecteur : en arc 51">
            <a:extLst>
              <a:ext uri="{FF2B5EF4-FFF2-40B4-BE49-F238E27FC236}">
                <a16:creationId xmlns:a16="http://schemas.microsoft.com/office/drawing/2014/main" id="{4B88292B-FB87-4DE9-BD5B-9676530415D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36684" y="3476519"/>
            <a:ext cx="541371" cy="75930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118565E8-F3EF-43D7-9DB6-5B939A4E1E07}"/>
              </a:ext>
            </a:extLst>
          </p:cNvPr>
          <p:cNvSpPr txBox="1"/>
          <p:nvPr/>
        </p:nvSpPr>
        <p:spPr>
          <a:xfrm>
            <a:off x="1171786" y="3294661"/>
            <a:ext cx="96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dépiler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DDC28E0-F5D9-4226-BDEE-66B385D51E7E}"/>
              </a:ext>
            </a:extLst>
          </p:cNvPr>
          <p:cNvSpPr/>
          <p:nvPr/>
        </p:nvSpPr>
        <p:spPr>
          <a:xfrm>
            <a:off x="9300092" y="2911362"/>
            <a:ext cx="2348653" cy="7645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1F7205F-957F-486C-8B20-7ADC076A4485}"/>
              </a:ext>
            </a:extLst>
          </p:cNvPr>
          <p:cNvSpPr/>
          <p:nvPr/>
        </p:nvSpPr>
        <p:spPr>
          <a:xfrm>
            <a:off x="9006365" y="5218245"/>
            <a:ext cx="321312" cy="764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/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088E6CD-BCA6-4CC5-AEFB-CA2F256ED68F}"/>
              </a:ext>
            </a:extLst>
          </p:cNvPr>
          <p:cNvSpPr/>
          <p:nvPr/>
        </p:nvSpPr>
        <p:spPr>
          <a:xfrm>
            <a:off x="6128950" y="4621237"/>
            <a:ext cx="321312" cy="764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/>
              <a:t>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64AAC6A-1CA4-4AA5-BAE6-95E48C02EF13}"/>
              </a:ext>
            </a:extLst>
          </p:cNvPr>
          <p:cNvSpPr/>
          <p:nvPr/>
        </p:nvSpPr>
        <p:spPr>
          <a:xfrm>
            <a:off x="3555078" y="3922482"/>
            <a:ext cx="621315" cy="7645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/>
              <a:t>11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A82E6B9-AEA1-4599-999B-ED4BBBA2A221}"/>
              </a:ext>
            </a:extLst>
          </p:cNvPr>
          <p:cNvSpPr/>
          <p:nvPr/>
        </p:nvSpPr>
        <p:spPr>
          <a:xfrm flipH="1">
            <a:off x="846249" y="2727456"/>
            <a:ext cx="514736" cy="8478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/>
              <a:t>18</a:t>
            </a:r>
          </a:p>
        </p:txBody>
      </p:sp>
      <p:cxnSp>
        <p:nvCxnSpPr>
          <p:cNvPr id="78" name="Connecteur : en angle 77">
            <a:extLst>
              <a:ext uri="{FF2B5EF4-FFF2-40B4-BE49-F238E27FC236}">
                <a16:creationId xmlns:a16="http://schemas.microsoft.com/office/drawing/2014/main" id="{100944ED-7181-4A8E-B948-1E4384ABFEF0}"/>
              </a:ext>
            </a:extLst>
          </p:cNvPr>
          <p:cNvCxnSpPr>
            <a:cxnSpLocks/>
            <a:endCxn id="10" idx="2"/>
          </p:cNvCxnSpPr>
          <p:nvPr/>
        </p:nvCxnSpPr>
        <p:spPr>
          <a:xfrm rot="10800000">
            <a:off x="8611113" y="4984773"/>
            <a:ext cx="1400950" cy="404955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2" name="Connecteur : en angle 81">
            <a:extLst>
              <a:ext uri="{FF2B5EF4-FFF2-40B4-BE49-F238E27FC236}">
                <a16:creationId xmlns:a16="http://schemas.microsoft.com/office/drawing/2014/main" id="{0C51AA47-D8A7-447C-8163-4210514D8B0D}"/>
              </a:ext>
            </a:extLst>
          </p:cNvPr>
          <p:cNvCxnSpPr>
            <a:cxnSpLocks/>
            <a:endCxn id="9" idx="2"/>
          </p:cNvCxnSpPr>
          <p:nvPr/>
        </p:nvCxnSpPr>
        <p:spPr>
          <a:xfrm rot="10800000">
            <a:off x="6106120" y="4321994"/>
            <a:ext cx="1402597" cy="461248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3" name="Connecteur : en angle 82">
            <a:extLst>
              <a:ext uri="{FF2B5EF4-FFF2-40B4-BE49-F238E27FC236}">
                <a16:creationId xmlns:a16="http://schemas.microsoft.com/office/drawing/2014/main" id="{D1AEF979-9F1F-4582-A8C7-CF5840F7D54F}"/>
              </a:ext>
            </a:extLst>
          </p:cNvPr>
          <p:cNvCxnSpPr>
            <a:cxnSpLocks/>
            <a:endCxn id="8" idx="2"/>
          </p:cNvCxnSpPr>
          <p:nvPr/>
        </p:nvCxnSpPr>
        <p:spPr>
          <a:xfrm rot="10800000">
            <a:off x="3631169" y="3791334"/>
            <a:ext cx="1257677" cy="3355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4" name="Connecteur : en angle 83">
            <a:extLst>
              <a:ext uri="{FF2B5EF4-FFF2-40B4-BE49-F238E27FC236}">
                <a16:creationId xmlns:a16="http://schemas.microsoft.com/office/drawing/2014/main" id="{84E748D9-8107-46BA-AD49-F5259FECCAB8}"/>
              </a:ext>
            </a:extLst>
          </p:cNvPr>
          <p:cNvCxnSpPr>
            <a:cxnSpLocks/>
            <a:stCxn id="8" idx="1"/>
            <a:endCxn id="7" idx="2"/>
          </p:cNvCxnSpPr>
          <p:nvPr/>
        </p:nvCxnSpPr>
        <p:spPr>
          <a:xfrm rot="10800000">
            <a:off x="1195944" y="2868759"/>
            <a:ext cx="1213374" cy="32241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2" name="ZoneTexte 91">
            <a:extLst>
              <a:ext uri="{FF2B5EF4-FFF2-40B4-BE49-F238E27FC236}">
                <a16:creationId xmlns:a16="http://schemas.microsoft.com/office/drawing/2014/main" id="{897AD37E-F4A3-47EB-8B5C-7C861D5A8589}"/>
              </a:ext>
            </a:extLst>
          </p:cNvPr>
          <p:cNvSpPr txBox="1"/>
          <p:nvPr/>
        </p:nvSpPr>
        <p:spPr>
          <a:xfrm>
            <a:off x="9298665" y="2438995"/>
            <a:ext cx="1285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Exécution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2206B4F-65A1-4030-A966-6AD22D3435D2}"/>
              </a:ext>
            </a:extLst>
          </p:cNvPr>
          <p:cNvSpPr/>
          <p:nvPr/>
        </p:nvSpPr>
        <p:spPr>
          <a:xfrm>
            <a:off x="9452493" y="3063762"/>
            <a:ext cx="1075966" cy="4737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26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07DDD4E0-7730-411C-8547-315A5B3B8614}"/>
              </a:ext>
            </a:extLst>
          </p:cNvPr>
          <p:cNvSpPr txBox="1"/>
          <p:nvPr/>
        </p:nvSpPr>
        <p:spPr>
          <a:xfrm>
            <a:off x="1133448" y="2048746"/>
            <a:ext cx="38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  <a:latin typeface="Century" panose="02040604050505020304" pitchFamily="18" charset="0"/>
                <a:sym typeface="Symbol" panose="05050102010706020507" pitchFamily="18" charset="2"/>
              </a:rPr>
              <a:t></a:t>
            </a:r>
            <a:endParaRPr lang="fr-FR" sz="2800" b="1" dirty="0">
              <a:solidFill>
                <a:srgbClr val="FF0000"/>
              </a:solidFill>
              <a:latin typeface="Century" panose="02040604050505020304" pitchFamily="18" charset="0"/>
            </a:endParaRP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DE5A887F-4089-4680-A2D1-85E39E3D33A2}"/>
              </a:ext>
            </a:extLst>
          </p:cNvPr>
          <p:cNvSpPr txBox="1"/>
          <p:nvPr/>
        </p:nvSpPr>
        <p:spPr>
          <a:xfrm>
            <a:off x="3460753" y="2797889"/>
            <a:ext cx="38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  <a:latin typeface="Century" panose="02040604050505020304" pitchFamily="18" charset="0"/>
                <a:sym typeface="Symbol" panose="05050102010706020507" pitchFamily="18" charset="2"/>
              </a:rPr>
              <a:t></a:t>
            </a:r>
            <a:endParaRPr lang="fr-FR" sz="2800" b="1" dirty="0">
              <a:solidFill>
                <a:srgbClr val="FF0000"/>
              </a:solidFill>
              <a:latin typeface="Century" panose="02040604050505020304" pitchFamily="18" charset="0"/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44C24541-99A6-4DF7-96AC-6893FD245F22}"/>
              </a:ext>
            </a:extLst>
          </p:cNvPr>
          <p:cNvSpPr txBox="1"/>
          <p:nvPr/>
        </p:nvSpPr>
        <p:spPr>
          <a:xfrm>
            <a:off x="5733798" y="3495424"/>
            <a:ext cx="38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  <a:latin typeface="Century" panose="02040604050505020304" pitchFamily="18" charset="0"/>
                <a:sym typeface="Symbol" panose="05050102010706020507" pitchFamily="18" charset="2"/>
              </a:rPr>
              <a:t></a:t>
            </a:r>
            <a:endParaRPr lang="fr-FR" sz="2800" b="1" dirty="0">
              <a:solidFill>
                <a:srgbClr val="FF0000"/>
              </a:solidFill>
              <a:latin typeface="Century" panose="02040604050505020304" pitchFamily="18" charset="0"/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C58AB901-67CF-40DE-A96D-F1FFBEE17E5E}"/>
              </a:ext>
            </a:extLst>
          </p:cNvPr>
          <p:cNvSpPr txBox="1"/>
          <p:nvPr/>
        </p:nvSpPr>
        <p:spPr>
          <a:xfrm>
            <a:off x="8191649" y="4135102"/>
            <a:ext cx="38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  <a:latin typeface="Century" panose="02040604050505020304" pitchFamily="18" charset="0"/>
                <a:sym typeface="Symbol" panose="05050102010706020507" pitchFamily="18" charset="2"/>
              </a:rPr>
              <a:t></a:t>
            </a:r>
            <a:endParaRPr lang="fr-FR" sz="2800" b="1" dirty="0">
              <a:solidFill>
                <a:srgbClr val="FF0000"/>
              </a:solidFill>
              <a:latin typeface="Century" panose="02040604050505020304" pitchFamily="18" charset="0"/>
            </a:endParaRPr>
          </a:p>
        </p:txBody>
      </p:sp>
      <p:sp>
        <p:nvSpPr>
          <p:cNvPr id="55" name="Titre 1">
            <a:extLst>
              <a:ext uri="{FF2B5EF4-FFF2-40B4-BE49-F238E27FC236}">
                <a16:creationId xmlns:a16="http://schemas.microsoft.com/office/drawing/2014/main" id="{254F92C3-C304-4BC2-9DB2-4FABA1B78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5" y="291338"/>
            <a:ext cx="10515600" cy="562527"/>
          </a:xfrm>
        </p:spPr>
        <p:txBody>
          <a:bodyPr>
            <a:normAutofit/>
          </a:bodyPr>
          <a:lstStyle/>
          <a:p>
            <a:pPr marL="342900" lvl="0" indent="-342900">
              <a:spcAft>
                <a:spcPts val="600"/>
              </a:spcAft>
              <a:tabLst>
                <a:tab pos="228600" algn="l"/>
              </a:tabLst>
            </a:pPr>
            <a:r>
              <a:rPr lang="fr-FR" sz="24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TD2 Exercice 5:</a:t>
            </a:r>
            <a:endParaRPr lang="fr-FR" sz="2400" b="1" dirty="0">
              <a:solidFill>
                <a:schemeClr val="accent1"/>
              </a:solidFill>
            </a:endParaRPr>
          </a:p>
        </p:txBody>
      </p:sp>
      <p:graphicFrame>
        <p:nvGraphicFramePr>
          <p:cNvPr id="13" name="Tableau 13">
            <a:extLst>
              <a:ext uri="{FF2B5EF4-FFF2-40B4-BE49-F238E27FC236}">
                <a16:creationId xmlns:a16="http://schemas.microsoft.com/office/drawing/2014/main" id="{D42595CF-9BC9-428E-BB6A-6BFCABE9A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628281"/>
              </p:ext>
            </p:extLst>
          </p:nvPr>
        </p:nvGraphicFramePr>
        <p:xfrm>
          <a:off x="474422" y="1102445"/>
          <a:ext cx="36062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1565">
                  <a:extLst>
                    <a:ext uri="{9D8B030D-6E8A-4147-A177-3AD203B41FA5}">
                      <a16:colId xmlns:a16="http://schemas.microsoft.com/office/drawing/2014/main" val="3736886440"/>
                    </a:ext>
                  </a:extLst>
                </a:gridCol>
                <a:gridCol w="901565">
                  <a:extLst>
                    <a:ext uri="{9D8B030D-6E8A-4147-A177-3AD203B41FA5}">
                      <a16:colId xmlns:a16="http://schemas.microsoft.com/office/drawing/2014/main" val="1528549679"/>
                    </a:ext>
                  </a:extLst>
                </a:gridCol>
                <a:gridCol w="901565">
                  <a:extLst>
                    <a:ext uri="{9D8B030D-6E8A-4147-A177-3AD203B41FA5}">
                      <a16:colId xmlns:a16="http://schemas.microsoft.com/office/drawing/2014/main" val="1646287439"/>
                    </a:ext>
                  </a:extLst>
                </a:gridCol>
                <a:gridCol w="901565">
                  <a:extLst>
                    <a:ext uri="{9D8B030D-6E8A-4147-A177-3AD203B41FA5}">
                      <a16:colId xmlns:a16="http://schemas.microsoft.com/office/drawing/2014/main" val="764827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64847"/>
                  </a:ext>
                </a:extLst>
              </a:tr>
            </a:tbl>
          </a:graphicData>
        </a:graphic>
      </p:graphicFrame>
      <p:sp>
        <p:nvSpPr>
          <p:cNvPr id="56" name="ZoneTexte 55">
            <a:extLst>
              <a:ext uri="{FF2B5EF4-FFF2-40B4-BE49-F238E27FC236}">
                <a16:creationId xmlns:a16="http://schemas.microsoft.com/office/drawing/2014/main" id="{B953224F-DFF6-4107-8C3E-4764F827F904}"/>
              </a:ext>
            </a:extLst>
          </p:cNvPr>
          <p:cNvSpPr txBox="1"/>
          <p:nvPr/>
        </p:nvSpPr>
        <p:spPr>
          <a:xfrm>
            <a:off x="6986584" y="310348"/>
            <a:ext cx="5205416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 err="1">
                <a:latin typeface="Century" panose="02040604050505020304" pitchFamily="18" charset="0"/>
              </a:rPr>
              <a:t>int</a:t>
            </a:r>
            <a:r>
              <a:rPr lang="fr-FR" sz="2400" dirty="0">
                <a:latin typeface="Century" panose="02040604050505020304" pitchFamily="18" charset="0"/>
              </a:rPr>
              <a:t> somme (</a:t>
            </a:r>
            <a:r>
              <a:rPr lang="fr-FR" sz="2400" dirty="0" err="1">
                <a:latin typeface="Century" panose="02040604050505020304" pitchFamily="18" charset="0"/>
              </a:rPr>
              <a:t>int</a:t>
            </a:r>
            <a:r>
              <a:rPr lang="fr-FR" sz="2400" dirty="0">
                <a:latin typeface="Century" panose="02040604050505020304" pitchFamily="18" charset="0"/>
              </a:rPr>
              <a:t> x[ ], </a:t>
            </a:r>
            <a:r>
              <a:rPr lang="fr-FR" sz="2400" dirty="0" err="1">
                <a:latin typeface="Century" panose="02040604050505020304" pitchFamily="18" charset="0"/>
              </a:rPr>
              <a:t>int</a:t>
            </a:r>
            <a:r>
              <a:rPr lang="fr-FR" sz="2400" dirty="0">
                <a:latin typeface="Century" panose="02040604050505020304" pitchFamily="18" charset="0"/>
              </a:rPr>
              <a:t> n)</a:t>
            </a:r>
          </a:p>
          <a:p>
            <a:r>
              <a:rPr lang="fr-FR" sz="2400" dirty="0">
                <a:latin typeface="Century" panose="02040604050505020304" pitchFamily="18" charset="0"/>
              </a:rPr>
              <a:t>{</a:t>
            </a:r>
          </a:p>
          <a:p>
            <a:r>
              <a:rPr lang="fr-FR" sz="2400" dirty="0">
                <a:latin typeface="Century" panose="02040604050505020304" pitchFamily="18" charset="0"/>
              </a:rPr>
              <a:t>    if(n== 0) return 0;</a:t>
            </a:r>
          </a:p>
          <a:p>
            <a:pPr lvl="1"/>
            <a:r>
              <a:rPr lang="fr-FR" sz="2400" dirty="0">
                <a:latin typeface="Century" panose="02040604050505020304" pitchFamily="18" charset="0"/>
              </a:rPr>
              <a:t>return (somme(x, n-1) + x[n-1]);</a:t>
            </a:r>
          </a:p>
          <a:p>
            <a:r>
              <a:rPr lang="fr-FR" sz="2400" dirty="0">
                <a:latin typeface="Century" panose="02040604050505020304" pitchFamily="18" charset="0"/>
              </a:rPr>
              <a:t>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D54CC09-392F-4E9B-81E5-E0CA1A90C0EB}"/>
              </a:ext>
            </a:extLst>
          </p:cNvPr>
          <p:cNvSpPr txBox="1"/>
          <p:nvPr/>
        </p:nvSpPr>
        <p:spPr>
          <a:xfrm>
            <a:off x="4380665" y="1102445"/>
            <a:ext cx="1110646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X, n= 4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02F37ECA-AF53-4AF3-87CD-A0893A01F3FB}"/>
              </a:ext>
            </a:extLst>
          </p:cNvPr>
          <p:cNvSpPr txBox="1"/>
          <p:nvPr/>
        </p:nvSpPr>
        <p:spPr>
          <a:xfrm>
            <a:off x="2988860" y="5385835"/>
            <a:ext cx="5076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La fonction de récurrence : </a:t>
            </a:r>
            <a:r>
              <a:rPr lang="fr-FR" sz="2400" b="1" dirty="0"/>
              <a:t>T(n) = T(n-1) + 2</a:t>
            </a:r>
          </a:p>
        </p:txBody>
      </p:sp>
    </p:spTree>
    <p:extLst>
      <p:ext uri="{BB962C8B-B14F-4D97-AF65-F5344CB8AC3E}">
        <p14:creationId xmlns:p14="http://schemas.microsoft.com/office/powerpoint/2010/main" val="81668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36" grpId="0" animBg="1"/>
      <p:bldP spid="38" grpId="0" animBg="1"/>
      <p:bldP spid="38" grpId="1" animBg="1"/>
      <p:bldP spid="40" grpId="0" animBg="1"/>
      <p:bldP spid="40" grpId="1" animBg="1"/>
      <p:bldP spid="42" grpId="0" animBg="1"/>
      <p:bldP spid="42" grpId="1" animBg="1"/>
      <p:bldP spid="44" grpId="0" animBg="1"/>
      <p:bldP spid="44" grpId="1" animBg="1"/>
      <p:bldP spid="47" grpId="0"/>
      <p:bldP spid="51" grpId="0"/>
      <p:bldP spid="51" grpId="1"/>
      <p:bldP spid="58" grpId="0"/>
      <p:bldP spid="63" grpId="0" animBg="1"/>
      <p:bldP spid="65" grpId="0" animBg="1"/>
      <p:bldP spid="67" grpId="0" animBg="1"/>
      <p:bldP spid="69" grpId="0" animBg="1"/>
      <p:bldP spid="72" grpId="0" animBg="1"/>
      <p:bldP spid="45" grpId="0"/>
      <p:bldP spid="48" grpId="0"/>
      <p:bldP spid="50" grpId="0"/>
      <p:bldP spid="5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ZoneTexte 93">
            <a:extLst>
              <a:ext uri="{FF2B5EF4-FFF2-40B4-BE49-F238E27FC236}">
                <a16:creationId xmlns:a16="http://schemas.microsoft.com/office/drawing/2014/main" id="{E8C376F4-50B8-4AF4-A85E-E18DAC7EC2C7}"/>
              </a:ext>
            </a:extLst>
          </p:cNvPr>
          <p:cNvSpPr txBox="1"/>
          <p:nvPr/>
        </p:nvSpPr>
        <p:spPr>
          <a:xfrm>
            <a:off x="5135499" y="748382"/>
            <a:ext cx="1285248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3430DC-8FE3-472A-8EE6-B46C51FAA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628" y="1011840"/>
            <a:ext cx="3799037" cy="456869"/>
          </a:xfrm>
        </p:spPr>
        <p:txBody>
          <a:bodyPr>
            <a:normAutofit fontScale="85000" lnSpcReduction="10000"/>
          </a:bodyPr>
          <a:lstStyle/>
          <a:p>
            <a:r>
              <a:rPr lang="fr-FR" dirty="0"/>
              <a:t>5, 7, 13, 4, 7, 0, 5, 15, 50, 0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5E29E02-18F4-4BF3-A442-3724E693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DE69952-40C4-46CF-AFC9-95B3EE65952D}"/>
              </a:ext>
            </a:extLst>
          </p:cNvPr>
          <p:cNvSpPr txBox="1"/>
          <p:nvPr/>
        </p:nvSpPr>
        <p:spPr>
          <a:xfrm>
            <a:off x="8846758" y="220341"/>
            <a:ext cx="3042079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dirty="0" err="1">
                <a:latin typeface="Century" panose="02040604050505020304" pitchFamily="18" charset="0"/>
              </a:rPr>
              <a:t>void</a:t>
            </a:r>
            <a:r>
              <a:rPr lang="fr-FR" sz="2000" dirty="0">
                <a:latin typeface="Century" panose="02040604050505020304" pitchFamily="18" charset="0"/>
              </a:rPr>
              <a:t> traiter()</a:t>
            </a:r>
          </a:p>
          <a:p>
            <a:r>
              <a:rPr lang="fr-FR" sz="2000" dirty="0">
                <a:latin typeface="Century" panose="02040604050505020304" pitchFamily="18" charset="0"/>
              </a:rPr>
              <a:t>{ </a:t>
            </a:r>
            <a:r>
              <a:rPr lang="fr-FR" sz="2000" dirty="0" err="1">
                <a:latin typeface="Century" panose="02040604050505020304" pitchFamily="18" charset="0"/>
              </a:rPr>
              <a:t>int</a:t>
            </a:r>
            <a:r>
              <a:rPr lang="fr-FR" sz="2000" dirty="0">
                <a:latin typeface="Century" panose="02040604050505020304" pitchFamily="18" charset="0"/>
              </a:rPr>
              <a:t> x;</a:t>
            </a:r>
          </a:p>
          <a:p>
            <a:r>
              <a:rPr lang="fr-FR" sz="2000" dirty="0" err="1">
                <a:latin typeface="Century" panose="02040604050505020304" pitchFamily="18" charset="0"/>
              </a:rPr>
              <a:t>cin</a:t>
            </a:r>
            <a:r>
              <a:rPr lang="fr-FR" sz="2000" dirty="0">
                <a:latin typeface="Century" panose="02040604050505020304" pitchFamily="18" charset="0"/>
              </a:rPr>
              <a:t> &gt;&gt; x;</a:t>
            </a:r>
          </a:p>
          <a:p>
            <a:r>
              <a:rPr lang="fr-FR" sz="2000" dirty="0">
                <a:latin typeface="Century" panose="02040604050505020304" pitchFamily="18" charset="0"/>
              </a:rPr>
              <a:t>if (x != 0)</a:t>
            </a:r>
          </a:p>
          <a:p>
            <a:r>
              <a:rPr lang="fr-FR" sz="2000" dirty="0">
                <a:latin typeface="Century" panose="02040604050505020304" pitchFamily="18" charset="0"/>
              </a:rPr>
              <a:t>    traiter();</a:t>
            </a:r>
          </a:p>
          <a:p>
            <a:r>
              <a:rPr lang="fr-FR" sz="2000" dirty="0">
                <a:latin typeface="Century" panose="02040604050505020304" pitchFamily="18" charset="0"/>
              </a:rPr>
              <a:t>cout &lt;&lt; " , " &lt;&lt; x;</a:t>
            </a:r>
          </a:p>
          <a:p>
            <a:r>
              <a:rPr lang="fr-FR" sz="2000" dirty="0">
                <a:latin typeface="Century" panose="02040604050505020304" pitchFamily="18" charset="0"/>
              </a:rPr>
              <a:t>}</a:t>
            </a:r>
          </a:p>
          <a:p>
            <a:r>
              <a:rPr lang="fr-FR" sz="2000" dirty="0" err="1">
                <a:latin typeface="Century" panose="02040604050505020304" pitchFamily="18" charset="0"/>
              </a:rPr>
              <a:t>void</a:t>
            </a:r>
            <a:r>
              <a:rPr lang="fr-FR" sz="2000" dirty="0">
                <a:latin typeface="Century" panose="02040604050505020304" pitchFamily="18" charset="0"/>
              </a:rPr>
              <a:t> main () { traiter (); 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7908097-DDCF-4773-AFE3-16A38C501C89}"/>
              </a:ext>
            </a:extLst>
          </p:cNvPr>
          <p:cNvSpPr txBox="1"/>
          <p:nvPr/>
        </p:nvSpPr>
        <p:spPr>
          <a:xfrm>
            <a:off x="234631" y="1592265"/>
            <a:ext cx="1984151" cy="1384995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traiter( 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</a:t>
            </a:r>
            <a:r>
              <a:rPr lang="fr-FR" sz="1200" dirty="0" err="1">
                <a:latin typeface="Century" panose="02040604050505020304" pitchFamily="18" charset="0"/>
              </a:rPr>
              <a:t>cin</a:t>
            </a:r>
            <a:r>
              <a:rPr lang="fr-FR" sz="1200" dirty="0">
                <a:latin typeface="Century" panose="02040604050505020304" pitchFamily="18" charset="0"/>
              </a:rPr>
              <a:t> &gt;&gt; 5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if (5!=0)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traiter( 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cout &lt;&lt; « , » &lt;&lt; 5;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7EAA7E5-7694-4D0B-98B9-CB98AF706144}"/>
              </a:ext>
            </a:extLst>
          </p:cNvPr>
          <p:cNvSpPr txBox="1"/>
          <p:nvPr/>
        </p:nvSpPr>
        <p:spPr>
          <a:xfrm>
            <a:off x="2394063" y="1989739"/>
            <a:ext cx="1920854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traiter ( 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</a:t>
            </a:r>
            <a:r>
              <a:rPr lang="fr-FR" sz="1200" dirty="0" err="1">
                <a:latin typeface="Century" panose="02040604050505020304" pitchFamily="18" charset="0"/>
              </a:rPr>
              <a:t>cin</a:t>
            </a:r>
            <a:r>
              <a:rPr lang="fr-FR" sz="1200" dirty="0">
                <a:latin typeface="Century" panose="02040604050505020304" pitchFamily="18" charset="0"/>
              </a:rPr>
              <a:t> &gt;&gt; 7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if (7!=0)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traiter( 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cout &lt;&lt; « , » &lt;&lt; 7;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}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79AF49B-EA13-48CC-A623-AADC6AB74959}"/>
              </a:ext>
            </a:extLst>
          </p:cNvPr>
          <p:cNvSpPr txBox="1"/>
          <p:nvPr/>
        </p:nvSpPr>
        <p:spPr>
          <a:xfrm>
            <a:off x="4431284" y="2560547"/>
            <a:ext cx="1920854" cy="13849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traiter ( 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</a:t>
            </a:r>
            <a:r>
              <a:rPr lang="fr-FR" sz="1200" dirty="0" err="1">
                <a:latin typeface="Century" panose="02040604050505020304" pitchFamily="18" charset="0"/>
              </a:rPr>
              <a:t>cin</a:t>
            </a:r>
            <a:r>
              <a:rPr lang="fr-FR" sz="1200" dirty="0">
                <a:latin typeface="Century" panose="02040604050505020304" pitchFamily="18" charset="0"/>
              </a:rPr>
              <a:t> &gt;&gt; 13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if (13!=0)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traiter( 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cout &lt;&lt; « , » &lt;&lt; 13;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}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7F73882-DAE7-42D1-AEA1-212A6E7F5D3E}"/>
              </a:ext>
            </a:extLst>
          </p:cNvPr>
          <p:cNvSpPr txBox="1"/>
          <p:nvPr/>
        </p:nvSpPr>
        <p:spPr>
          <a:xfrm>
            <a:off x="6513006" y="3406076"/>
            <a:ext cx="1920855" cy="138499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traiter ( 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</a:t>
            </a:r>
            <a:r>
              <a:rPr lang="fr-FR" sz="1200" dirty="0" err="1">
                <a:latin typeface="Century" panose="02040604050505020304" pitchFamily="18" charset="0"/>
              </a:rPr>
              <a:t>cin</a:t>
            </a:r>
            <a:r>
              <a:rPr lang="fr-FR" sz="1200" dirty="0">
                <a:latin typeface="Century" panose="02040604050505020304" pitchFamily="18" charset="0"/>
              </a:rPr>
              <a:t> &gt;&gt; 4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if (4!=0)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traiter( 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cout &lt;&lt; « , » &lt;&lt; 4;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6F79882-FB71-4C1C-ACEB-0379163668A6}"/>
              </a:ext>
            </a:extLst>
          </p:cNvPr>
          <p:cNvSpPr txBox="1"/>
          <p:nvPr/>
        </p:nvSpPr>
        <p:spPr>
          <a:xfrm>
            <a:off x="8544950" y="3957826"/>
            <a:ext cx="1813536" cy="13849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traiter ( 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</a:t>
            </a:r>
            <a:r>
              <a:rPr lang="fr-FR" sz="1200" dirty="0" err="1">
                <a:latin typeface="Century" panose="02040604050505020304" pitchFamily="18" charset="0"/>
              </a:rPr>
              <a:t>cin</a:t>
            </a:r>
            <a:r>
              <a:rPr lang="fr-FR" sz="1200" dirty="0">
                <a:latin typeface="Century" panose="02040604050505020304" pitchFamily="18" charset="0"/>
              </a:rPr>
              <a:t> &gt;&gt; 7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if (7!=0)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traiter( 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cout &lt;&lt; « , » &lt;&lt; 7;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79409C1-1E5C-4910-AE17-D36A91B0DBAF}"/>
              </a:ext>
            </a:extLst>
          </p:cNvPr>
          <p:cNvSpPr txBox="1"/>
          <p:nvPr/>
        </p:nvSpPr>
        <p:spPr>
          <a:xfrm>
            <a:off x="10441907" y="4922878"/>
            <a:ext cx="1705611" cy="120032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traiter ( 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</a:t>
            </a:r>
            <a:r>
              <a:rPr lang="fr-FR" sz="1200" dirty="0" err="1">
                <a:latin typeface="Century" panose="02040604050505020304" pitchFamily="18" charset="0"/>
              </a:rPr>
              <a:t>cin</a:t>
            </a:r>
            <a:r>
              <a:rPr lang="fr-FR" sz="1200" dirty="0">
                <a:latin typeface="Century" panose="02040604050505020304" pitchFamily="18" charset="0"/>
              </a:rPr>
              <a:t> &gt;&gt; 0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if (0!=0)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cout &lt;&lt; « , » &lt;&lt; 0;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}</a:t>
            </a:r>
          </a:p>
        </p:txBody>
      </p:sp>
      <p:cxnSp>
        <p:nvCxnSpPr>
          <p:cNvPr id="16" name="Connecteur : en angle 15">
            <a:extLst>
              <a:ext uri="{FF2B5EF4-FFF2-40B4-BE49-F238E27FC236}">
                <a16:creationId xmlns:a16="http://schemas.microsoft.com/office/drawing/2014/main" id="{AAA27329-A019-49F3-97DE-A0EFDF1B42AA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220779" y="1735147"/>
            <a:ext cx="1133711" cy="254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3832DF7D-ABAB-4D0B-ADF7-EEA2F6839218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4333253" y="2252043"/>
            <a:ext cx="1058458" cy="3085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C89E7925-74A9-41DF-886C-3D5A9E9873AE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6335250" y="2986467"/>
            <a:ext cx="1138184" cy="4196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Connecteur : en angle 26">
            <a:extLst>
              <a:ext uri="{FF2B5EF4-FFF2-40B4-BE49-F238E27FC236}">
                <a16:creationId xmlns:a16="http://schemas.microsoft.com/office/drawing/2014/main" id="{601E9B90-DFCF-422E-B15C-BD7C3855F30D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8433861" y="3671744"/>
            <a:ext cx="1017857" cy="286082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 : en angle 31">
            <a:extLst>
              <a:ext uri="{FF2B5EF4-FFF2-40B4-BE49-F238E27FC236}">
                <a16:creationId xmlns:a16="http://schemas.microsoft.com/office/drawing/2014/main" id="{4B7F1AA4-3A47-4698-8A8C-43F0F46564F5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0367797" y="4525725"/>
            <a:ext cx="926916" cy="3971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6" name="Cylindre 35">
            <a:extLst>
              <a:ext uri="{FF2B5EF4-FFF2-40B4-BE49-F238E27FC236}">
                <a16:creationId xmlns:a16="http://schemas.microsoft.com/office/drawing/2014/main" id="{0FCFFFC9-5931-41AF-B358-0DBD746A715C}"/>
              </a:ext>
            </a:extLst>
          </p:cNvPr>
          <p:cNvSpPr/>
          <p:nvPr/>
        </p:nvSpPr>
        <p:spPr>
          <a:xfrm>
            <a:off x="485986" y="3914835"/>
            <a:ext cx="1705611" cy="2263846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Organigramme : Disque magnétique 37">
            <a:extLst>
              <a:ext uri="{FF2B5EF4-FFF2-40B4-BE49-F238E27FC236}">
                <a16:creationId xmlns:a16="http://schemas.microsoft.com/office/drawing/2014/main" id="{A3B00585-1DB2-4CA2-A3CE-6A1A827F6BF8}"/>
              </a:ext>
            </a:extLst>
          </p:cNvPr>
          <p:cNvSpPr/>
          <p:nvPr/>
        </p:nvSpPr>
        <p:spPr>
          <a:xfrm>
            <a:off x="485986" y="5747233"/>
            <a:ext cx="1705611" cy="374484"/>
          </a:xfrm>
          <a:prstGeom prst="flowChartMagneticDisk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5</a:t>
            </a:r>
          </a:p>
        </p:txBody>
      </p:sp>
      <p:sp>
        <p:nvSpPr>
          <p:cNvPr id="40" name="Organigramme : Disque magnétique 39">
            <a:extLst>
              <a:ext uri="{FF2B5EF4-FFF2-40B4-BE49-F238E27FC236}">
                <a16:creationId xmlns:a16="http://schemas.microsoft.com/office/drawing/2014/main" id="{CB8B0A17-E2EE-4D91-A539-95D5F65C93F2}"/>
              </a:ext>
            </a:extLst>
          </p:cNvPr>
          <p:cNvSpPr/>
          <p:nvPr/>
        </p:nvSpPr>
        <p:spPr>
          <a:xfrm>
            <a:off x="485986" y="5472913"/>
            <a:ext cx="1705611" cy="374484"/>
          </a:xfrm>
          <a:prstGeom prst="flowChartMagneticDisk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7</a:t>
            </a:r>
          </a:p>
        </p:txBody>
      </p:sp>
      <p:sp>
        <p:nvSpPr>
          <p:cNvPr id="42" name="Organigramme : Disque magnétique 41">
            <a:extLst>
              <a:ext uri="{FF2B5EF4-FFF2-40B4-BE49-F238E27FC236}">
                <a16:creationId xmlns:a16="http://schemas.microsoft.com/office/drawing/2014/main" id="{67A50120-198B-4940-82F6-E73AADD91D42}"/>
              </a:ext>
            </a:extLst>
          </p:cNvPr>
          <p:cNvSpPr/>
          <p:nvPr/>
        </p:nvSpPr>
        <p:spPr>
          <a:xfrm>
            <a:off x="485986" y="5198593"/>
            <a:ext cx="1705611" cy="374484"/>
          </a:xfrm>
          <a:prstGeom prst="flowChartMagneticDisk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13</a:t>
            </a:r>
          </a:p>
        </p:txBody>
      </p:sp>
      <p:sp>
        <p:nvSpPr>
          <p:cNvPr id="44" name="Organigramme : Disque magnétique 43">
            <a:extLst>
              <a:ext uri="{FF2B5EF4-FFF2-40B4-BE49-F238E27FC236}">
                <a16:creationId xmlns:a16="http://schemas.microsoft.com/office/drawing/2014/main" id="{DED9A217-DD3A-4BE7-841A-8FEC77349195}"/>
              </a:ext>
            </a:extLst>
          </p:cNvPr>
          <p:cNvSpPr/>
          <p:nvPr/>
        </p:nvSpPr>
        <p:spPr>
          <a:xfrm>
            <a:off x="485986" y="4924273"/>
            <a:ext cx="1705611" cy="374484"/>
          </a:xfrm>
          <a:prstGeom prst="flowChartMagneticDisk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  <p:sp>
        <p:nvSpPr>
          <p:cNvPr id="46" name="Organigramme : Disque magnétique 45">
            <a:extLst>
              <a:ext uri="{FF2B5EF4-FFF2-40B4-BE49-F238E27FC236}">
                <a16:creationId xmlns:a16="http://schemas.microsoft.com/office/drawing/2014/main" id="{28435363-B82F-4683-8EB0-0B9499C5BB97}"/>
              </a:ext>
            </a:extLst>
          </p:cNvPr>
          <p:cNvSpPr/>
          <p:nvPr/>
        </p:nvSpPr>
        <p:spPr>
          <a:xfrm>
            <a:off x="485986" y="4654194"/>
            <a:ext cx="1705611" cy="374484"/>
          </a:xfrm>
          <a:prstGeom prst="flowChartMagneticDisk">
            <a:avLst/>
          </a:prstGeom>
          <a:ln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7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61E4CD22-187B-4F5D-B511-F35308382B0D}"/>
              </a:ext>
            </a:extLst>
          </p:cNvPr>
          <p:cNvSpPr txBox="1"/>
          <p:nvPr/>
        </p:nvSpPr>
        <p:spPr>
          <a:xfrm>
            <a:off x="364962" y="6257091"/>
            <a:ext cx="2206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Pile d’exécution</a:t>
            </a:r>
          </a:p>
        </p:txBody>
      </p:sp>
      <p:cxnSp>
        <p:nvCxnSpPr>
          <p:cNvPr id="49" name="Connecteur : en arc 48">
            <a:extLst>
              <a:ext uri="{FF2B5EF4-FFF2-40B4-BE49-F238E27FC236}">
                <a16:creationId xmlns:a16="http://schemas.microsoft.com/office/drawing/2014/main" id="{B6D1868B-00FD-4B54-9AEC-DBA53AE791D4}"/>
              </a:ext>
            </a:extLst>
          </p:cNvPr>
          <p:cNvCxnSpPr>
            <a:cxnSpLocks/>
          </p:cNvCxnSpPr>
          <p:nvPr/>
        </p:nvCxnSpPr>
        <p:spPr>
          <a:xfrm>
            <a:off x="72812" y="3700773"/>
            <a:ext cx="852806" cy="48583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ZoneTexte 50">
            <a:extLst>
              <a:ext uri="{FF2B5EF4-FFF2-40B4-BE49-F238E27FC236}">
                <a16:creationId xmlns:a16="http://schemas.microsoft.com/office/drawing/2014/main" id="{A564D58B-EF98-45DD-866C-86A69526CF76}"/>
              </a:ext>
            </a:extLst>
          </p:cNvPr>
          <p:cNvSpPr txBox="1"/>
          <p:nvPr/>
        </p:nvSpPr>
        <p:spPr>
          <a:xfrm>
            <a:off x="349144" y="3310758"/>
            <a:ext cx="96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empiler</a:t>
            </a:r>
          </a:p>
        </p:txBody>
      </p:sp>
      <p:cxnSp>
        <p:nvCxnSpPr>
          <p:cNvPr id="52" name="Connecteur : en arc 51">
            <a:extLst>
              <a:ext uri="{FF2B5EF4-FFF2-40B4-BE49-F238E27FC236}">
                <a16:creationId xmlns:a16="http://schemas.microsoft.com/office/drawing/2014/main" id="{4B88292B-FB87-4DE9-BD5B-9676530415D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36684" y="3476519"/>
            <a:ext cx="541371" cy="75930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118565E8-F3EF-43D7-9DB6-5B939A4E1E07}"/>
              </a:ext>
            </a:extLst>
          </p:cNvPr>
          <p:cNvSpPr txBox="1"/>
          <p:nvPr/>
        </p:nvSpPr>
        <p:spPr>
          <a:xfrm>
            <a:off x="1171786" y="3294661"/>
            <a:ext cx="96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dépiler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DDC28E0-F5D9-4226-BDEE-66B385D51E7E}"/>
              </a:ext>
            </a:extLst>
          </p:cNvPr>
          <p:cNvSpPr/>
          <p:nvPr/>
        </p:nvSpPr>
        <p:spPr>
          <a:xfrm>
            <a:off x="5218420" y="1266514"/>
            <a:ext cx="2348653" cy="7645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/>
          </a:p>
        </p:txBody>
      </p:sp>
      <p:cxnSp>
        <p:nvCxnSpPr>
          <p:cNvPr id="70" name="Connecteur : en angle 69">
            <a:extLst>
              <a:ext uri="{FF2B5EF4-FFF2-40B4-BE49-F238E27FC236}">
                <a16:creationId xmlns:a16="http://schemas.microsoft.com/office/drawing/2014/main" id="{DB6F8DC4-4DBA-4535-8A41-05375968B83E}"/>
              </a:ext>
            </a:extLst>
          </p:cNvPr>
          <p:cNvCxnSpPr>
            <a:cxnSpLocks/>
          </p:cNvCxnSpPr>
          <p:nvPr/>
        </p:nvCxnSpPr>
        <p:spPr>
          <a:xfrm rot="10800000">
            <a:off x="9244213" y="5404670"/>
            <a:ext cx="1197694" cy="378320"/>
          </a:xfrm>
          <a:prstGeom prst="bentConnector3">
            <a:avLst>
              <a:gd name="adj1" fmla="val 99791"/>
            </a:avLst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8" name="Connecteur : en angle 77">
            <a:extLst>
              <a:ext uri="{FF2B5EF4-FFF2-40B4-BE49-F238E27FC236}">
                <a16:creationId xmlns:a16="http://schemas.microsoft.com/office/drawing/2014/main" id="{100944ED-7181-4A8E-B948-1E4384ABFEF0}"/>
              </a:ext>
            </a:extLst>
          </p:cNvPr>
          <p:cNvCxnSpPr>
            <a:cxnSpLocks/>
          </p:cNvCxnSpPr>
          <p:nvPr/>
        </p:nvCxnSpPr>
        <p:spPr>
          <a:xfrm rot="10800000">
            <a:off x="7116418" y="4791072"/>
            <a:ext cx="1428533" cy="349695"/>
          </a:xfrm>
          <a:prstGeom prst="bentConnector3">
            <a:avLst>
              <a:gd name="adj1" fmla="val 101022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2" name="Connecteur : en angle 81">
            <a:extLst>
              <a:ext uri="{FF2B5EF4-FFF2-40B4-BE49-F238E27FC236}">
                <a16:creationId xmlns:a16="http://schemas.microsoft.com/office/drawing/2014/main" id="{0C51AA47-D8A7-447C-8163-4210514D8B0D}"/>
              </a:ext>
            </a:extLst>
          </p:cNvPr>
          <p:cNvCxnSpPr>
            <a:cxnSpLocks/>
          </p:cNvCxnSpPr>
          <p:nvPr/>
        </p:nvCxnSpPr>
        <p:spPr>
          <a:xfrm rot="10800000">
            <a:off x="5196033" y="3920890"/>
            <a:ext cx="1316972" cy="476532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3" name="Connecteur : en angle 82">
            <a:extLst>
              <a:ext uri="{FF2B5EF4-FFF2-40B4-BE49-F238E27FC236}">
                <a16:creationId xmlns:a16="http://schemas.microsoft.com/office/drawing/2014/main" id="{D1AEF979-9F1F-4582-A8C7-CF5840F7D54F}"/>
              </a:ext>
            </a:extLst>
          </p:cNvPr>
          <p:cNvCxnSpPr>
            <a:cxnSpLocks/>
            <a:endCxn id="8" idx="2"/>
          </p:cNvCxnSpPr>
          <p:nvPr/>
        </p:nvCxnSpPr>
        <p:spPr>
          <a:xfrm rot="10800000">
            <a:off x="3354491" y="3374735"/>
            <a:ext cx="1027783" cy="3094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4" name="Connecteur : en angle 83">
            <a:extLst>
              <a:ext uri="{FF2B5EF4-FFF2-40B4-BE49-F238E27FC236}">
                <a16:creationId xmlns:a16="http://schemas.microsoft.com/office/drawing/2014/main" id="{84E748D9-8107-46BA-AD49-F5259FECCAB8}"/>
              </a:ext>
            </a:extLst>
          </p:cNvPr>
          <p:cNvCxnSpPr>
            <a:cxnSpLocks/>
            <a:endCxn id="7" idx="2"/>
          </p:cNvCxnSpPr>
          <p:nvPr/>
        </p:nvCxnSpPr>
        <p:spPr>
          <a:xfrm rot="10800000">
            <a:off x="1226708" y="2977261"/>
            <a:ext cx="1165359" cy="2739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2" name="ZoneTexte 91">
            <a:extLst>
              <a:ext uri="{FF2B5EF4-FFF2-40B4-BE49-F238E27FC236}">
                <a16:creationId xmlns:a16="http://schemas.microsoft.com/office/drawing/2014/main" id="{897AD37E-F4A3-47EB-8B5C-7C861D5A8589}"/>
              </a:ext>
            </a:extLst>
          </p:cNvPr>
          <p:cNvSpPr txBox="1"/>
          <p:nvPr/>
        </p:nvSpPr>
        <p:spPr>
          <a:xfrm>
            <a:off x="5216993" y="794147"/>
            <a:ext cx="1285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Exécution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2206B4F-65A1-4030-A966-6AD22D3435D2}"/>
              </a:ext>
            </a:extLst>
          </p:cNvPr>
          <p:cNvSpPr/>
          <p:nvPr/>
        </p:nvSpPr>
        <p:spPr>
          <a:xfrm>
            <a:off x="5370822" y="1418914"/>
            <a:ext cx="328186" cy="4737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0</a:t>
            </a:r>
          </a:p>
        </p:txBody>
      </p:sp>
      <p:sp>
        <p:nvSpPr>
          <p:cNvPr id="55" name="Titre 1">
            <a:extLst>
              <a:ext uri="{FF2B5EF4-FFF2-40B4-BE49-F238E27FC236}">
                <a16:creationId xmlns:a16="http://schemas.microsoft.com/office/drawing/2014/main" id="{124360EE-D952-41E0-A0B3-9155397AC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5" y="291338"/>
            <a:ext cx="10515600" cy="562527"/>
          </a:xfrm>
        </p:spPr>
        <p:txBody>
          <a:bodyPr>
            <a:normAutofit/>
          </a:bodyPr>
          <a:lstStyle/>
          <a:p>
            <a:pPr marL="342900" lvl="0" indent="-342900">
              <a:spcAft>
                <a:spcPts val="600"/>
              </a:spcAft>
              <a:tabLst>
                <a:tab pos="228600" algn="l"/>
              </a:tabLst>
            </a:pPr>
            <a:r>
              <a:rPr lang="fr-FR" sz="24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TD2 Exercice </a:t>
            </a:r>
            <a:r>
              <a:rPr lang="fr-FR" sz="2400" b="1" dirty="0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6.1</a:t>
            </a:r>
            <a:r>
              <a:rPr lang="fr-FR" sz="24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2400" b="1" dirty="0">
              <a:solidFill>
                <a:schemeClr val="accent1"/>
              </a:solidFill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67DF2595-8918-4849-89BC-94D195B7CB5B}"/>
              </a:ext>
            </a:extLst>
          </p:cNvPr>
          <p:cNvSpPr txBox="1"/>
          <p:nvPr/>
        </p:nvSpPr>
        <p:spPr>
          <a:xfrm>
            <a:off x="11263850" y="5288465"/>
            <a:ext cx="323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  <a:latin typeface="Century" panose="02040604050505020304" pitchFamily="18" charset="0"/>
                <a:sym typeface="Symbol" panose="05050102010706020507" pitchFamily="18" charset="2"/>
              </a:rPr>
              <a:t></a:t>
            </a:r>
            <a:endParaRPr lang="fr-FR" sz="2800" b="1" dirty="0">
              <a:solidFill>
                <a:srgbClr val="FF0000"/>
              </a:solidFill>
              <a:latin typeface="Century" panose="020406040505050203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E25CA91-F0C4-4BCF-89EC-6F62E44DFACE}"/>
              </a:ext>
            </a:extLst>
          </p:cNvPr>
          <p:cNvSpPr/>
          <p:nvPr/>
        </p:nvSpPr>
        <p:spPr>
          <a:xfrm>
            <a:off x="5614030" y="1426218"/>
            <a:ext cx="328186" cy="4737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7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C479E83-AFDA-48BF-B840-90CB1C60F307}"/>
              </a:ext>
            </a:extLst>
          </p:cNvPr>
          <p:cNvSpPr/>
          <p:nvPr/>
        </p:nvSpPr>
        <p:spPr>
          <a:xfrm>
            <a:off x="5861773" y="1425467"/>
            <a:ext cx="328186" cy="4737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4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1895F14-D790-45E8-96CB-63D3260834D2}"/>
              </a:ext>
            </a:extLst>
          </p:cNvPr>
          <p:cNvSpPr/>
          <p:nvPr/>
        </p:nvSpPr>
        <p:spPr>
          <a:xfrm>
            <a:off x="6164807" y="1425467"/>
            <a:ext cx="437703" cy="4737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13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50406A8-23FB-4735-A299-85C771F53CF3}"/>
              </a:ext>
            </a:extLst>
          </p:cNvPr>
          <p:cNvSpPr/>
          <p:nvPr/>
        </p:nvSpPr>
        <p:spPr>
          <a:xfrm>
            <a:off x="6570320" y="1425467"/>
            <a:ext cx="328186" cy="4737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7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06F7AB7-83CA-4EEC-B3B0-29390B03ADBD}"/>
              </a:ext>
            </a:extLst>
          </p:cNvPr>
          <p:cNvSpPr/>
          <p:nvPr/>
        </p:nvSpPr>
        <p:spPr>
          <a:xfrm>
            <a:off x="6875285" y="1423750"/>
            <a:ext cx="328186" cy="4737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0050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36" grpId="0" animBg="1"/>
      <p:bldP spid="38" grpId="0" animBg="1"/>
      <p:bldP spid="38" grpId="1" animBg="1"/>
      <p:bldP spid="40" grpId="0" animBg="1"/>
      <p:bldP spid="40" grpId="1" animBg="1"/>
      <p:bldP spid="42" grpId="0" animBg="1"/>
      <p:bldP spid="42" grpId="1" animBg="1"/>
      <p:bldP spid="44" grpId="0" animBg="1"/>
      <p:bldP spid="44" grpId="1" animBg="1"/>
      <p:bldP spid="46" grpId="0" animBg="1"/>
      <p:bldP spid="46" grpId="1" animBg="1"/>
      <p:bldP spid="47" grpId="0"/>
      <p:bldP spid="51" grpId="0"/>
      <p:bldP spid="51" grpId="1"/>
      <p:bldP spid="58" grpId="0"/>
      <p:bldP spid="72" grpId="0" animBg="1"/>
      <p:bldP spid="56" grpId="0"/>
      <p:bldP spid="77" grpId="0" animBg="1"/>
      <p:bldP spid="79" grpId="0" animBg="1"/>
      <p:bldP spid="80" grpId="0" animBg="1"/>
      <p:bldP spid="81" grpId="0" animBg="1"/>
      <p:bldP spid="8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3430DC-8FE3-472A-8EE6-B46C51FAA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628" y="1011840"/>
            <a:ext cx="6146718" cy="456869"/>
          </a:xfrm>
        </p:spPr>
        <p:txBody>
          <a:bodyPr>
            <a:noAutofit/>
          </a:bodyPr>
          <a:lstStyle/>
          <a:p>
            <a:r>
              <a:rPr lang="fr-FR" sz="2400" dirty="0"/>
              <a:t>La version désécurisée de la fonction </a:t>
            </a:r>
            <a:r>
              <a:rPr lang="fr-FR" sz="2400" b="1" dirty="0"/>
              <a:t>traiter </a:t>
            </a:r>
            <a:r>
              <a:rPr lang="fr-FR" sz="2400" dirty="0"/>
              <a:t>?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5E29E02-18F4-4BF3-A442-3724E693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DE69952-40C4-46CF-AFC9-95B3EE65952D}"/>
              </a:ext>
            </a:extLst>
          </p:cNvPr>
          <p:cNvSpPr txBox="1"/>
          <p:nvPr/>
        </p:nvSpPr>
        <p:spPr>
          <a:xfrm>
            <a:off x="1149420" y="2049141"/>
            <a:ext cx="3042079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dirty="0" err="1">
                <a:latin typeface="Century" panose="02040604050505020304" pitchFamily="18" charset="0"/>
              </a:rPr>
              <a:t>void</a:t>
            </a:r>
            <a:r>
              <a:rPr lang="fr-FR" sz="2000" dirty="0">
                <a:latin typeface="Century" panose="02040604050505020304" pitchFamily="18" charset="0"/>
              </a:rPr>
              <a:t> traiter()</a:t>
            </a:r>
          </a:p>
          <a:p>
            <a:r>
              <a:rPr lang="fr-FR" sz="2000" dirty="0">
                <a:latin typeface="Century" panose="02040604050505020304" pitchFamily="18" charset="0"/>
              </a:rPr>
              <a:t>{ </a:t>
            </a:r>
            <a:r>
              <a:rPr lang="fr-FR" sz="2000" dirty="0" err="1">
                <a:latin typeface="Century" panose="02040604050505020304" pitchFamily="18" charset="0"/>
              </a:rPr>
              <a:t>int</a:t>
            </a:r>
            <a:r>
              <a:rPr lang="fr-FR" sz="2000" dirty="0">
                <a:latin typeface="Century" panose="02040604050505020304" pitchFamily="18" charset="0"/>
              </a:rPr>
              <a:t> x;</a:t>
            </a:r>
          </a:p>
          <a:p>
            <a:r>
              <a:rPr lang="fr-FR" sz="2000" dirty="0" err="1">
                <a:latin typeface="Century" panose="02040604050505020304" pitchFamily="18" charset="0"/>
              </a:rPr>
              <a:t>cin</a:t>
            </a:r>
            <a:r>
              <a:rPr lang="fr-FR" sz="2000" dirty="0">
                <a:latin typeface="Century" panose="02040604050505020304" pitchFamily="18" charset="0"/>
              </a:rPr>
              <a:t> &gt;&gt; x;</a:t>
            </a:r>
          </a:p>
          <a:p>
            <a:r>
              <a:rPr lang="fr-FR" sz="2000" dirty="0">
                <a:latin typeface="Century" panose="02040604050505020304" pitchFamily="18" charset="0"/>
              </a:rPr>
              <a:t>if (x != 0)</a:t>
            </a:r>
          </a:p>
          <a:p>
            <a:r>
              <a:rPr lang="fr-FR" sz="2000" dirty="0">
                <a:latin typeface="Century" panose="02040604050505020304" pitchFamily="18" charset="0"/>
              </a:rPr>
              <a:t>    traiter();</a:t>
            </a:r>
          </a:p>
          <a:p>
            <a:r>
              <a:rPr lang="fr-FR" sz="2000" dirty="0">
                <a:latin typeface="Century" panose="02040604050505020304" pitchFamily="18" charset="0"/>
              </a:rPr>
              <a:t>cout &lt;&lt; " , " &lt;&lt; x;</a:t>
            </a:r>
          </a:p>
          <a:p>
            <a:r>
              <a:rPr lang="fr-FR" sz="2000" dirty="0">
                <a:latin typeface="Century" panose="02040604050505020304" pitchFamily="18" charset="0"/>
              </a:rPr>
              <a:t>}</a:t>
            </a:r>
          </a:p>
          <a:p>
            <a:r>
              <a:rPr lang="fr-FR" sz="2000" dirty="0" err="1">
                <a:latin typeface="Century" panose="02040604050505020304" pitchFamily="18" charset="0"/>
              </a:rPr>
              <a:t>void</a:t>
            </a:r>
            <a:r>
              <a:rPr lang="fr-FR" sz="2000" dirty="0">
                <a:latin typeface="Century" panose="02040604050505020304" pitchFamily="18" charset="0"/>
              </a:rPr>
              <a:t> main () { traiter (); }</a:t>
            </a:r>
          </a:p>
        </p:txBody>
      </p:sp>
      <p:sp>
        <p:nvSpPr>
          <p:cNvPr id="55" name="Titre 1">
            <a:extLst>
              <a:ext uri="{FF2B5EF4-FFF2-40B4-BE49-F238E27FC236}">
                <a16:creationId xmlns:a16="http://schemas.microsoft.com/office/drawing/2014/main" id="{124360EE-D952-41E0-A0B3-9155397AC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5" y="291338"/>
            <a:ext cx="10515600" cy="562527"/>
          </a:xfrm>
        </p:spPr>
        <p:txBody>
          <a:bodyPr>
            <a:normAutofit/>
          </a:bodyPr>
          <a:lstStyle/>
          <a:p>
            <a:pPr marL="342900" lvl="0" indent="-342900">
              <a:spcAft>
                <a:spcPts val="600"/>
              </a:spcAft>
              <a:tabLst>
                <a:tab pos="228600" algn="l"/>
              </a:tabLst>
            </a:pPr>
            <a:r>
              <a:rPr lang="fr-FR" sz="24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TD2 Exercice </a:t>
            </a:r>
            <a:r>
              <a:rPr lang="fr-FR" sz="2400" b="1" dirty="0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6.2</a:t>
            </a:r>
            <a:r>
              <a:rPr lang="fr-FR" sz="24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2400" b="1" dirty="0">
              <a:solidFill>
                <a:schemeClr val="accent1"/>
              </a:solidFill>
            </a:endParaRPr>
          </a:p>
        </p:txBody>
      </p:sp>
      <p:sp>
        <p:nvSpPr>
          <p:cNvPr id="2" name="Flèche : droite 1">
            <a:extLst>
              <a:ext uri="{FF2B5EF4-FFF2-40B4-BE49-F238E27FC236}">
                <a16:creationId xmlns:a16="http://schemas.microsoft.com/office/drawing/2014/main" id="{F6A1C07D-C9BF-4C7B-9425-0CC3CD812643}"/>
              </a:ext>
            </a:extLst>
          </p:cNvPr>
          <p:cNvSpPr/>
          <p:nvPr/>
        </p:nvSpPr>
        <p:spPr>
          <a:xfrm>
            <a:off x="4585648" y="3084394"/>
            <a:ext cx="532262" cy="344606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AF57F569-5442-45CF-AF9C-A9D43693207B}"/>
              </a:ext>
            </a:extLst>
          </p:cNvPr>
          <p:cNvSpPr txBox="1"/>
          <p:nvPr/>
        </p:nvSpPr>
        <p:spPr>
          <a:xfrm>
            <a:off x="5659128" y="2049140"/>
            <a:ext cx="3042079" cy="4093428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dirty="0" err="1">
                <a:latin typeface="Century" panose="02040604050505020304" pitchFamily="18" charset="0"/>
              </a:rPr>
              <a:t>void</a:t>
            </a:r>
            <a:r>
              <a:rPr lang="fr-FR" sz="2000" dirty="0">
                <a:latin typeface="Century" panose="02040604050505020304" pitchFamily="18" charset="0"/>
              </a:rPr>
              <a:t> traiter()</a:t>
            </a:r>
          </a:p>
          <a:p>
            <a:r>
              <a:rPr lang="fr-FR" sz="2000" dirty="0">
                <a:latin typeface="Century" panose="02040604050505020304" pitchFamily="18" charset="0"/>
              </a:rPr>
              <a:t>{ </a:t>
            </a:r>
            <a:r>
              <a:rPr lang="fr-FR" sz="2000" dirty="0" err="1">
                <a:latin typeface="Century" panose="02040604050505020304" pitchFamily="18" charset="0"/>
              </a:rPr>
              <a:t>Pile.init</a:t>
            </a:r>
            <a:r>
              <a:rPr lang="fr-FR" sz="2000" dirty="0">
                <a:latin typeface="Century" panose="02040604050505020304" pitchFamily="18" charset="0"/>
              </a:rPr>
              <a:t> ( );</a:t>
            </a:r>
          </a:p>
          <a:p>
            <a:r>
              <a:rPr lang="fr-FR" sz="2000" dirty="0">
                <a:latin typeface="Century" panose="02040604050505020304" pitchFamily="18" charset="0"/>
              </a:rPr>
              <a:t>  </a:t>
            </a:r>
            <a:r>
              <a:rPr lang="fr-FR" sz="2000" dirty="0" err="1">
                <a:latin typeface="Century" panose="02040604050505020304" pitchFamily="18" charset="0"/>
              </a:rPr>
              <a:t>cin</a:t>
            </a:r>
            <a:r>
              <a:rPr lang="fr-FR" sz="2000" dirty="0">
                <a:latin typeface="Century" panose="02040604050505020304" pitchFamily="18" charset="0"/>
              </a:rPr>
              <a:t> &gt;&gt; x;</a:t>
            </a:r>
          </a:p>
          <a:p>
            <a:r>
              <a:rPr lang="fr-FR" sz="2000" dirty="0">
                <a:latin typeface="Century" panose="02040604050505020304" pitchFamily="18" charset="0"/>
              </a:rPr>
              <a:t>  </a:t>
            </a:r>
            <a:r>
              <a:rPr lang="fr-FR" sz="2000" dirty="0" err="1">
                <a:latin typeface="Century" panose="02040604050505020304" pitchFamily="18" charset="0"/>
              </a:rPr>
              <a:t>while</a:t>
            </a:r>
            <a:r>
              <a:rPr lang="fr-FR" sz="2000" dirty="0">
                <a:latin typeface="Century" panose="02040604050505020304" pitchFamily="18" charset="0"/>
              </a:rPr>
              <a:t> (x != 0){</a:t>
            </a:r>
          </a:p>
          <a:p>
            <a:r>
              <a:rPr lang="fr-FR" sz="2000" dirty="0">
                <a:latin typeface="Century" panose="02040604050505020304" pitchFamily="18" charset="0"/>
              </a:rPr>
              <a:t>     </a:t>
            </a:r>
            <a:r>
              <a:rPr lang="fr-FR" sz="2000" dirty="0" err="1">
                <a:latin typeface="Century" panose="02040604050505020304" pitchFamily="18" charset="0"/>
              </a:rPr>
              <a:t>Pile.push</a:t>
            </a:r>
            <a:r>
              <a:rPr lang="fr-FR" sz="2000" dirty="0">
                <a:latin typeface="Century" panose="02040604050505020304" pitchFamily="18" charset="0"/>
              </a:rPr>
              <a:t>(x);</a:t>
            </a:r>
          </a:p>
          <a:p>
            <a:r>
              <a:rPr lang="fr-FR" sz="2000" dirty="0">
                <a:latin typeface="Century" panose="02040604050505020304" pitchFamily="18" charset="0"/>
              </a:rPr>
              <a:t>     </a:t>
            </a:r>
            <a:r>
              <a:rPr lang="fr-FR" sz="2000" dirty="0" err="1">
                <a:latin typeface="Century" panose="02040604050505020304" pitchFamily="18" charset="0"/>
              </a:rPr>
              <a:t>cin</a:t>
            </a:r>
            <a:r>
              <a:rPr lang="fr-FR" sz="2000" dirty="0">
                <a:latin typeface="Century" panose="02040604050505020304" pitchFamily="18" charset="0"/>
              </a:rPr>
              <a:t> &gt;&gt; x;</a:t>
            </a:r>
          </a:p>
          <a:p>
            <a:r>
              <a:rPr lang="fr-FR" sz="2000" dirty="0">
                <a:latin typeface="Century" panose="02040604050505020304" pitchFamily="18" charset="0"/>
              </a:rPr>
              <a:t>   }</a:t>
            </a:r>
          </a:p>
          <a:p>
            <a:r>
              <a:rPr lang="fr-FR" sz="2000" dirty="0">
                <a:latin typeface="Century" panose="02040604050505020304" pitchFamily="18" charset="0"/>
              </a:rPr>
              <a:t>   </a:t>
            </a:r>
            <a:r>
              <a:rPr lang="fr-FR" sz="2000" dirty="0" err="1">
                <a:latin typeface="Century" panose="02040604050505020304" pitchFamily="18" charset="0"/>
              </a:rPr>
              <a:t>while</a:t>
            </a:r>
            <a:r>
              <a:rPr lang="fr-FR" sz="2000" dirty="0">
                <a:latin typeface="Century" panose="02040604050505020304" pitchFamily="18" charset="0"/>
              </a:rPr>
              <a:t>(! </a:t>
            </a:r>
            <a:r>
              <a:rPr lang="fr-FR" sz="2000" dirty="0" err="1">
                <a:latin typeface="Century" panose="02040604050505020304" pitchFamily="18" charset="0"/>
              </a:rPr>
              <a:t>Pile.empty</a:t>
            </a:r>
            <a:r>
              <a:rPr lang="fr-FR" sz="2000" dirty="0">
                <a:latin typeface="Century" panose="02040604050505020304" pitchFamily="18" charset="0"/>
              </a:rPr>
              <a:t>){</a:t>
            </a:r>
          </a:p>
          <a:p>
            <a:r>
              <a:rPr lang="fr-FR" sz="2000" dirty="0">
                <a:latin typeface="Century" panose="02040604050505020304" pitchFamily="18" charset="0"/>
              </a:rPr>
              <a:t>        y = </a:t>
            </a:r>
            <a:r>
              <a:rPr lang="fr-FR" sz="2000" dirty="0" err="1">
                <a:latin typeface="Century" panose="02040604050505020304" pitchFamily="18" charset="0"/>
              </a:rPr>
              <a:t>Pile.pop</a:t>
            </a:r>
            <a:r>
              <a:rPr lang="fr-FR" sz="2000" dirty="0">
                <a:latin typeface="Century" panose="02040604050505020304" pitchFamily="18" charset="0"/>
              </a:rPr>
              <a:t>( );</a:t>
            </a:r>
          </a:p>
          <a:p>
            <a:r>
              <a:rPr lang="fr-FR" sz="2000" dirty="0">
                <a:latin typeface="Century" panose="02040604050505020304" pitchFamily="18" charset="0"/>
              </a:rPr>
              <a:t>        cout &lt;&lt; " , " &lt;&lt; y;</a:t>
            </a:r>
          </a:p>
          <a:p>
            <a:r>
              <a:rPr lang="fr-FR" sz="2000" dirty="0">
                <a:latin typeface="Century" panose="02040604050505020304" pitchFamily="18" charset="0"/>
              </a:rPr>
              <a:t>    }</a:t>
            </a:r>
          </a:p>
          <a:p>
            <a:r>
              <a:rPr lang="fr-FR" sz="2000" dirty="0">
                <a:latin typeface="Century" panose="02040604050505020304" pitchFamily="18" charset="0"/>
              </a:rPr>
              <a:t>}</a:t>
            </a:r>
          </a:p>
          <a:p>
            <a:r>
              <a:rPr lang="fr-FR" sz="2000" dirty="0" err="1">
                <a:latin typeface="Century" panose="02040604050505020304" pitchFamily="18" charset="0"/>
              </a:rPr>
              <a:t>void</a:t>
            </a:r>
            <a:r>
              <a:rPr lang="fr-FR" sz="2000" dirty="0">
                <a:latin typeface="Century" panose="02040604050505020304" pitchFamily="18" charset="0"/>
              </a:rPr>
              <a:t> main () { traiter (); }</a:t>
            </a:r>
          </a:p>
        </p:txBody>
      </p:sp>
    </p:spTree>
    <p:extLst>
      <p:ext uri="{BB962C8B-B14F-4D97-AF65-F5344CB8AC3E}">
        <p14:creationId xmlns:p14="http://schemas.microsoft.com/office/powerpoint/2010/main" val="199320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ZoneTexte 93">
            <a:extLst>
              <a:ext uri="{FF2B5EF4-FFF2-40B4-BE49-F238E27FC236}">
                <a16:creationId xmlns:a16="http://schemas.microsoft.com/office/drawing/2014/main" id="{E8C376F4-50B8-4AF4-A85E-E18DAC7EC2C7}"/>
              </a:ext>
            </a:extLst>
          </p:cNvPr>
          <p:cNvSpPr txBox="1"/>
          <p:nvPr/>
        </p:nvSpPr>
        <p:spPr>
          <a:xfrm>
            <a:off x="5135499" y="748382"/>
            <a:ext cx="1285248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3430DC-8FE3-472A-8EE6-B46C51FAA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628" y="1011840"/>
            <a:ext cx="3799037" cy="456869"/>
          </a:xfrm>
        </p:spPr>
        <p:txBody>
          <a:bodyPr>
            <a:normAutofit lnSpcReduction="10000"/>
          </a:bodyPr>
          <a:lstStyle/>
          <a:p>
            <a:r>
              <a:rPr lang="fr-FR" dirty="0"/>
              <a:t>n = 13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5E29E02-18F4-4BF3-A442-3724E693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7908097-DDCF-4773-AFE3-16A38C501C89}"/>
              </a:ext>
            </a:extLst>
          </p:cNvPr>
          <p:cNvSpPr txBox="1"/>
          <p:nvPr/>
        </p:nvSpPr>
        <p:spPr>
          <a:xfrm>
            <a:off x="234631" y="1592265"/>
            <a:ext cx="1984151" cy="1200329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Binaire (13)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if (13 != 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{ Binaire(6);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cout &lt;&lt; 13%2; }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7EAA7E5-7694-4D0B-98B9-CB98AF706144}"/>
              </a:ext>
            </a:extLst>
          </p:cNvPr>
          <p:cNvSpPr txBox="1"/>
          <p:nvPr/>
        </p:nvSpPr>
        <p:spPr>
          <a:xfrm>
            <a:off x="2394063" y="1989739"/>
            <a:ext cx="1920854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Binaire (6)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if (6 != 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{ Binaire(3);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  cout &lt;&lt; 6%2; }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}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79AF49B-EA13-48CC-A623-AADC6AB74959}"/>
              </a:ext>
            </a:extLst>
          </p:cNvPr>
          <p:cNvSpPr txBox="1"/>
          <p:nvPr/>
        </p:nvSpPr>
        <p:spPr>
          <a:xfrm>
            <a:off x="4431284" y="2560547"/>
            <a:ext cx="1920854" cy="120032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Binaire (3)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if (3 != 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{ Binaire(1);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  cout &lt;&lt; 3%2; }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}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7F73882-DAE7-42D1-AEA1-212A6E7F5D3E}"/>
              </a:ext>
            </a:extLst>
          </p:cNvPr>
          <p:cNvSpPr txBox="1"/>
          <p:nvPr/>
        </p:nvSpPr>
        <p:spPr>
          <a:xfrm>
            <a:off x="6513006" y="3406076"/>
            <a:ext cx="1920855" cy="120032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Binaire (1)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if (1 != 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{ Binaire(0);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     cout &lt;&lt; 1%2; }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6F79882-FB71-4C1C-ACEB-0379163668A6}"/>
              </a:ext>
            </a:extLst>
          </p:cNvPr>
          <p:cNvSpPr txBox="1"/>
          <p:nvPr/>
        </p:nvSpPr>
        <p:spPr>
          <a:xfrm>
            <a:off x="8544950" y="3957826"/>
            <a:ext cx="1813536" cy="101566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>
                <a:latin typeface="Century" panose="02040604050505020304" pitchFamily="18" charset="0"/>
              </a:rPr>
              <a:t>Void</a:t>
            </a:r>
            <a:r>
              <a:rPr lang="fr-FR" sz="1200" dirty="0">
                <a:latin typeface="Century" panose="02040604050505020304" pitchFamily="18" charset="0"/>
              </a:rPr>
              <a:t> Binaire (0)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{ 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if (0 != 0)</a:t>
            </a:r>
          </a:p>
          <a:p>
            <a:r>
              <a:rPr lang="fr-FR" sz="1200" dirty="0">
                <a:latin typeface="Century" panose="02040604050505020304" pitchFamily="18" charset="0"/>
              </a:rPr>
              <a:t>      { …..}</a:t>
            </a:r>
          </a:p>
          <a:p>
            <a:r>
              <a:rPr lang="fr-FR" sz="1200" dirty="0">
                <a:latin typeface="Century" panose="02040604050505020304" pitchFamily="18" charset="0"/>
              </a:rPr>
              <a:t>}</a:t>
            </a:r>
          </a:p>
        </p:txBody>
      </p:sp>
      <p:cxnSp>
        <p:nvCxnSpPr>
          <p:cNvPr id="16" name="Connecteur : en angle 15">
            <a:extLst>
              <a:ext uri="{FF2B5EF4-FFF2-40B4-BE49-F238E27FC236}">
                <a16:creationId xmlns:a16="http://schemas.microsoft.com/office/drawing/2014/main" id="{AAA27329-A019-49F3-97DE-A0EFDF1B42AA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220779" y="1735147"/>
            <a:ext cx="1133711" cy="254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 : en angle 17">
            <a:extLst>
              <a:ext uri="{FF2B5EF4-FFF2-40B4-BE49-F238E27FC236}">
                <a16:creationId xmlns:a16="http://schemas.microsoft.com/office/drawing/2014/main" id="{3832DF7D-ABAB-4D0B-ADF7-EEA2F6839218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4333253" y="2252043"/>
            <a:ext cx="1058458" cy="3085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Connecteur : en angle 21">
            <a:extLst>
              <a:ext uri="{FF2B5EF4-FFF2-40B4-BE49-F238E27FC236}">
                <a16:creationId xmlns:a16="http://schemas.microsoft.com/office/drawing/2014/main" id="{C89E7925-74A9-41DF-886C-3D5A9E9873AE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6335250" y="2986467"/>
            <a:ext cx="1138184" cy="4196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Connecteur : en angle 26">
            <a:extLst>
              <a:ext uri="{FF2B5EF4-FFF2-40B4-BE49-F238E27FC236}">
                <a16:creationId xmlns:a16="http://schemas.microsoft.com/office/drawing/2014/main" id="{601E9B90-DFCF-422E-B15C-BD7C3855F30D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8433861" y="3671744"/>
            <a:ext cx="1017857" cy="286082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ylindre 35">
            <a:extLst>
              <a:ext uri="{FF2B5EF4-FFF2-40B4-BE49-F238E27FC236}">
                <a16:creationId xmlns:a16="http://schemas.microsoft.com/office/drawing/2014/main" id="{0FCFFFC9-5931-41AF-B358-0DBD746A715C}"/>
              </a:ext>
            </a:extLst>
          </p:cNvPr>
          <p:cNvSpPr/>
          <p:nvPr/>
        </p:nvSpPr>
        <p:spPr>
          <a:xfrm>
            <a:off x="485986" y="3914835"/>
            <a:ext cx="1705611" cy="2263846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Organigramme : Disque magnétique 37">
            <a:extLst>
              <a:ext uri="{FF2B5EF4-FFF2-40B4-BE49-F238E27FC236}">
                <a16:creationId xmlns:a16="http://schemas.microsoft.com/office/drawing/2014/main" id="{A3B00585-1DB2-4CA2-A3CE-6A1A827F6BF8}"/>
              </a:ext>
            </a:extLst>
          </p:cNvPr>
          <p:cNvSpPr/>
          <p:nvPr/>
        </p:nvSpPr>
        <p:spPr>
          <a:xfrm>
            <a:off x="485986" y="5747233"/>
            <a:ext cx="1705611" cy="374484"/>
          </a:xfrm>
          <a:prstGeom prst="flowChartMagneticDisk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13</a:t>
            </a:r>
          </a:p>
        </p:txBody>
      </p:sp>
      <p:sp>
        <p:nvSpPr>
          <p:cNvPr id="40" name="Organigramme : Disque magnétique 39">
            <a:extLst>
              <a:ext uri="{FF2B5EF4-FFF2-40B4-BE49-F238E27FC236}">
                <a16:creationId xmlns:a16="http://schemas.microsoft.com/office/drawing/2014/main" id="{CB8B0A17-E2EE-4D91-A539-95D5F65C93F2}"/>
              </a:ext>
            </a:extLst>
          </p:cNvPr>
          <p:cNvSpPr/>
          <p:nvPr/>
        </p:nvSpPr>
        <p:spPr>
          <a:xfrm>
            <a:off x="485986" y="5472913"/>
            <a:ext cx="1705611" cy="374484"/>
          </a:xfrm>
          <a:prstGeom prst="flowChartMagneticDisk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6</a:t>
            </a:r>
          </a:p>
        </p:txBody>
      </p:sp>
      <p:sp>
        <p:nvSpPr>
          <p:cNvPr id="42" name="Organigramme : Disque magnétique 41">
            <a:extLst>
              <a:ext uri="{FF2B5EF4-FFF2-40B4-BE49-F238E27FC236}">
                <a16:creationId xmlns:a16="http://schemas.microsoft.com/office/drawing/2014/main" id="{67A50120-198B-4940-82F6-E73AADD91D42}"/>
              </a:ext>
            </a:extLst>
          </p:cNvPr>
          <p:cNvSpPr/>
          <p:nvPr/>
        </p:nvSpPr>
        <p:spPr>
          <a:xfrm>
            <a:off x="485986" y="5198593"/>
            <a:ext cx="1705611" cy="374484"/>
          </a:xfrm>
          <a:prstGeom prst="flowChartMagneticDisk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  <p:sp>
        <p:nvSpPr>
          <p:cNvPr id="44" name="Organigramme : Disque magnétique 43">
            <a:extLst>
              <a:ext uri="{FF2B5EF4-FFF2-40B4-BE49-F238E27FC236}">
                <a16:creationId xmlns:a16="http://schemas.microsoft.com/office/drawing/2014/main" id="{DED9A217-DD3A-4BE7-841A-8FEC77349195}"/>
              </a:ext>
            </a:extLst>
          </p:cNvPr>
          <p:cNvSpPr/>
          <p:nvPr/>
        </p:nvSpPr>
        <p:spPr>
          <a:xfrm>
            <a:off x="485986" y="4924273"/>
            <a:ext cx="1705611" cy="374484"/>
          </a:xfrm>
          <a:prstGeom prst="flowChartMagneticDisk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61E4CD22-187B-4F5D-B511-F35308382B0D}"/>
              </a:ext>
            </a:extLst>
          </p:cNvPr>
          <p:cNvSpPr txBox="1"/>
          <p:nvPr/>
        </p:nvSpPr>
        <p:spPr>
          <a:xfrm>
            <a:off x="364962" y="6257091"/>
            <a:ext cx="2206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Pile d’exécution</a:t>
            </a:r>
          </a:p>
        </p:txBody>
      </p:sp>
      <p:cxnSp>
        <p:nvCxnSpPr>
          <p:cNvPr id="49" name="Connecteur : en arc 48">
            <a:extLst>
              <a:ext uri="{FF2B5EF4-FFF2-40B4-BE49-F238E27FC236}">
                <a16:creationId xmlns:a16="http://schemas.microsoft.com/office/drawing/2014/main" id="{B6D1868B-00FD-4B54-9AEC-DBA53AE791D4}"/>
              </a:ext>
            </a:extLst>
          </p:cNvPr>
          <p:cNvCxnSpPr>
            <a:cxnSpLocks/>
          </p:cNvCxnSpPr>
          <p:nvPr/>
        </p:nvCxnSpPr>
        <p:spPr>
          <a:xfrm>
            <a:off x="72812" y="3700773"/>
            <a:ext cx="852806" cy="48583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ZoneTexte 50">
            <a:extLst>
              <a:ext uri="{FF2B5EF4-FFF2-40B4-BE49-F238E27FC236}">
                <a16:creationId xmlns:a16="http://schemas.microsoft.com/office/drawing/2014/main" id="{A564D58B-EF98-45DD-866C-86A69526CF76}"/>
              </a:ext>
            </a:extLst>
          </p:cNvPr>
          <p:cNvSpPr txBox="1"/>
          <p:nvPr/>
        </p:nvSpPr>
        <p:spPr>
          <a:xfrm>
            <a:off x="349144" y="3310758"/>
            <a:ext cx="96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empiler</a:t>
            </a:r>
          </a:p>
        </p:txBody>
      </p:sp>
      <p:cxnSp>
        <p:nvCxnSpPr>
          <p:cNvPr id="52" name="Connecteur : en arc 51">
            <a:extLst>
              <a:ext uri="{FF2B5EF4-FFF2-40B4-BE49-F238E27FC236}">
                <a16:creationId xmlns:a16="http://schemas.microsoft.com/office/drawing/2014/main" id="{4B88292B-FB87-4DE9-BD5B-9676530415D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36684" y="3476519"/>
            <a:ext cx="541371" cy="75930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118565E8-F3EF-43D7-9DB6-5B939A4E1E07}"/>
              </a:ext>
            </a:extLst>
          </p:cNvPr>
          <p:cNvSpPr txBox="1"/>
          <p:nvPr/>
        </p:nvSpPr>
        <p:spPr>
          <a:xfrm>
            <a:off x="1171786" y="3294661"/>
            <a:ext cx="96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dépiler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DDC28E0-F5D9-4226-BDEE-66B385D51E7E}"/>
              </a:ext>
            </a:extLst>
          </p:cNvPr>
          <p:cNvSpPr/>
          <p:nvPr/>
        </p:nvSpPr>
        <p:spPr>
          <a:xfrm>
            <a:off x="5218420" y="1266514"/>
            <a:ext cx="2348653" cy="7645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/>
          </a:p>
        </p:txBody>
      </p:sp>
      <p:cxnSp>
        <p:nvCxnSpPr>
          <p:cNvPr id="78" name="Connecteur : en angle 77">
            <a:extLst>
              <a:ext uri="{FF2B5EF4-FFF2-40B4-BE49-F238E27FC236}">
                <a16:creationId xmlns:a16="http://schemas.microsoft.com/office/drawing/2014/main" id="{100944ED-7181-4A8E-B948-1E4384ABFEF0}"/>
              </a:ext>
            </a:extLst>
          </p:cNvPr>
          <p:cNvCxnSpPr>
            <a:cxnSpLocks/>
          </p:cNvCxnSpPr>
          <p:nvPr/>
        </p:nvCxnSpPr>
        <p:spPr>
          <a:xfrm rot="10800000">
            <a:off x="7039379" y="4640547"/>
            <a:ext cx="1505573" cy="216053"/>
          </a:xfrm>
          <a:prstGeom prst="bentConnector3">
            <a:avLst>
              <a:gd name="adj1" fmla="val 99857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2" name="Connecteur : en angle 81">
            <a:extLst>
              <a:ext uri="{FF2B5EF4-FFF2-40B4-BE49-F238E27FC236}">
                <a16:creationId xmlns:a16="http://schemas.microsoft.com/office/drawing/2014/main" id="{0C51AA47-D8A7-447C-8163-4210514D8B0D}"/>
              </a:ext>
            </a:extLst>
          </p:cNvPr>
          <p:cNvCxnSpPr>
            <a:cxnSpLocks/>
          </p:cNvCxnSpPr>
          <p:nvPr/>
        </p:nvCxnSpPr>
        <p:spPr>
          <a:xfrm rot="10800000">
            <a:off x="5185269" y="3767974"/>
            <a:ext cx="1316972" cy="476532"/>
          </a:xfrm>
          <a:prstGeom prst="bentConnector2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3" name="Connecteur : en angle 82">
            <a:extLst>
              <a:ext uri="{FF2B5EF4-FFF2-40B4-BE49-F238E27FC236}">
                <a16:creationId xmlns:a16="http://schemas.microsoft.com/office/drawing/2014/main" id="{D1AEF979-9F1F-4582-A8C7-CF5840F7D54F}"/>
              </a:ext>
            </a:extLst>
          </p:cNvPr>
          <p:cNvCxnSpPr>
            <a:cxnSpLocks/>
            <a:endCxn id="8" idx="2"/>
          </p:cNvCxnSpPr>
          <p:nvPr/>
        </p:nvCxnSpPr>
        <p:spPr>
          <a:xfrm rot="10800000">
            <a:off x="3354491" y="3190069"/>
            <a:ext cx="1053307" cy="4167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4" name="Connecteur : en angle 83">
            <a:extLst>
              <a:ext uri="{FF2B5EF4-FFF2-40B4-BE49-F238E27FC236}">
                <a16:creationId xmlns:a16="http://schemas.microsoft.com/office/drawing/2014/main" id="{84E748D9-8107-46BA-AD49-F5259FECCAB8}"/>
              </a:ext>
            </a:extLst>
          </p:cNvPr>
          <p:cNvCxnSpPr>
            <a:cxnSpLocks/>
            <a:endCxn id="7" idx="2"/>
          </p:cNvCxnSpPr>
          <p:nvPr/>
        </p:nvCxnSpPr>
        <p:spPr>
          <a:xfrm rot="10800000">
            <a:off x="1226707" y="2792594"/>
            <a:ext cx="1152888" cy="2544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2" name="ZoneTexte 91">
            <a:extLst>
              <a:ext uri="{FF2B5EF4-FFF2-40B4-BE49-F238E27FC236}">
                <a16:creationId xmlns:a16="http://schemas.microsoft.com/office/drawing/2014/main" id="{897AD37E-F4A3-47EB-8B5C-7C861D5A8589}"/>
              </a:ext>
            </a:extLst>
          </p:cNvPr>
          <p:cNvSpPr txBox="1"/>
          <p:nvPr/>
        </p:nvSpPr>
        <p:spPr>
          <a:xfrm>
            <a:off x="5216993" y="794147"/>
            <a:ext cx="12852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Exécution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2206B4F-65A1-4030-A966-6AD22D3435D2}"/>
              </a:ext>
            </a:extLst>
          </p:cNvPr>
          <p:cNvSpPr/>
          <p:nvPr/>
        </p:nvSpPr>
        <p:spPr>
          <a:xfrm>
            <a:off x="5370822" y="1418914"/>
            <a:ext cx="328186" cy="4737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1</a:t>
            </a:r>
          </a:p>
        </p:txBody>
      </p:sp>
      <p:sp>
        <p:nvSpPr>
          <p:cNvPr id="55" name="Titre 1">
            <a:extLst>
              <a:ext uri="{FF2B5EF4-FFF2-40B4-BE49-F238E27FC236}">
                <a16:creationId xmlns:a16="http://schemas.microsoft.com/office/drawing/2014/main" id="{124360EE-D952-41E0-A0B3-9155397AC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5" y="291338"/>
            <a:ext cx="10515600" cy="562527"/>
          </a:xfrm>
        </p:spPr>
        <p:txBody>
          <a:bodyPr>
            <a:normAutofit/>
          </a:bodyPr>
          <a:lstStyle/>
          <a:p>
            <a:pPr marL="342900" lvl="0" indent="-342900">
              <a:spcAft>
                <a:spcPts val="600"/>
              </a:spcAft>
              <a:tabLst>
                <a:tab pos="228600" algn="l"/>
              </a:tabLst>
            </a:pPr>
            <a:r>
              <a:rPr lang="fr-FR" sz="24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TD2 Exercice 7:</a:t>
            </a:r>
            <a:endParaRPr lang="fr-FR" sz="2400" b="1" dirty="0">
              <a:solidFill>
                <a:schemeClr val="accent1"/>
              </a:solidFill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67DF2595-8918-4849-89BC-94D195B7CB5B}"/>
              </a:ext>
            </a:extLst>
          </p:cNvPr>
          <p:cNvSpPr txBox="1"/>
          <p:nvPr/>
        </p:nvSpPr>
        <p:spPr>
          <a:xfrm>
            <a:off x="9426433" y="4135812"/>
            <a:ext cx="3233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  <a:latin typeface="Century" panose="02040604050505020304" pitchFamily="18" charset="0"/>
                <a:sym typeface="Symbol" panose="05050102010706020507" pitchFamily="18" charset="2"/>
              </a:rPr>
              <a:t></a:t>
            </a:r>
            <a:endParaRPr lang="fr-FR" sz="2800" b="1" dirty="0">
              <a:solidFill>
                <a:srgbClr val="FF0000"/>
              </a:solidFill>
              <a:latin typeface="Century" panose="020406040505050203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E25CA91-F0C4-4BCF-89EC-6F62E44DFACE}"/>
              </a:ext>
            </a:extLst>
          </p:cNvPr>
          <p:cNvSpPr/>
          <p:nvPr/>
        </p:nvSpPr>
        <p:spPr>
          <a:xfrm>
            <a:off x="5614030" y="1426218"/>
            <a:ext cx="328186" cy="4737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1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C479E83-AFDA-48BF-B840-90CB1C60F307}"/>
              </a:ext>
            </a:extLst>
          </p:cNvPr>
          <p:cNvSpPr/>
          <p:nvPr/>
        </p:nvSpPr>
        <p:spPr>
          <a:xfrm>
            <a:off x="5861773" y="1425467"/>
            <a:ext cx="328186" cy="4737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0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1895F14-D790-45E8-96CB-63D3260834D2}"/>
              </a:ext>
            </a:extLst>
          </p:cNvPr>
          <p:cNvSpPr/>
          <p:nvPr/>
        </p:nvSpPr>
        <p:spPr>
          <a:xfrm>
            <a:off x="6123863" y="1425467"/>
            <a:ext cx="437703" cy="4737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1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2FAA4058-629D-4D39-BC36-6D0F490D85EC}"/>
              </a:ext>
            </a:extLst>
          </p:cNvPr>
          <p:cNvSpPr txBox="1"/>
          <p:nvPr/>
        </p:nvSpPr>
        <p:spPr>
          <a:xfrm>
            <a:off x="8846758" y="220341"/>
            <a:ext cx="3042079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dirty="0" err="1">
                <a:latin typeface="Century" panose="02040604050505020304" pitchFamily="18" charset="0"/>
              </a:rPr>
              <a:t>void</a:t>
            </a:r>
            <a:r>
              <a:rPr lang="fr-FR" sz="2000" dirty="0">
                <a:latin typeface="Century" panose="02040604050505020304" pitchFamily="18" charset="0"/>
              </a:rPr>
              <a:t> Binaire (</a:t>
            </a:r>
            <a:r>
              <a:rPr lang="fr-FR" sz="2000" dirty="0" err="1">
                <a:latin typeface="Century" panose="02040604050505020304" pitchFamily="18" charset="0"/>
              </a:rPr>
              <a:t>int</a:t>
            </a:r>
            <a:r>
              <a:rPr lang="fr-FR" sz="2000" dirty="0">
                <a:latin typeface="Century" panose="02040604050505020304" pitchFamily="18" charset="0"/>
              </a:rPr>
              <a:t> n)</a:t>
            </a:r>
          </a:p>
          <a:p>
            <a:r>
              <a:rPr lang="fr-FR" sz="2000" dirty="0">
                <a:latin typeface="Century" panose="02040604050505020304" pitchFamily="18" charset="0"/>
              </a:rPr>
              <a:t>{</a:t>
            </a:r>
          </a:p>
          <a:p>
            <a:r>
              <a:rPr lang="fr-FR" sz="2000" dirty="0">
                <a:latin typeface="Century" panose="02040604050505020304" pitchFamily="18" charset="0"/>
              </a:rPr>
              <a:t>if (n != 0){</a:t>
            </a:r>
          </a:p>
          <a:p>
            <a:r>
              <a:rPr lang="fr-FR" sz="2000" dirty="0">
                <a:latin typeface="Century" panose="02040604050505020304" pitchFamily="18" charset="0"/>
              </a:rPr>
              <a:t>    Binaire (n/2);</a:t>
            </a:r>
          </a:p>
          <a:p>
            <a:r>
              <a:rPr lang="fr-FR" sz="2000" dirty="0">
                <a:latin typeface="Century" panose="02040604050505020304" pitchFamily="18" charset="0"/>
              </a:rPr>
              <a:t>     cout &lt;&lt; n%2;</a:t>
            </a:r>
          </a:p>
          <a:p>
            <a:r>
              <a:rPr lang="fr-FR" sz="2000" dirty="0">
                <a:latin typeface="Century" panose="02040604050505020304" pitchFamily="18" charset="0"/>
              </a:rPr>
              <a:t>     }</a:t>
            </a:r>
          </a:p>
          <a:p>
            <a:r>
              <a:rPr lang="fr-FR" sz="2000" dirty="0">
                <a:latin typeface="Century" panose="02040604050505020304" pitchFamily="18" charset="0"/>
              </a:rPr>
              <a:t>}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40426F6-EE76-4A77-924D-8B62DAAA095C}"/>
              </a:ext>
            </a:extLst>
          </p:cNvPr>
          <p:cNvSpPr txBox="1"/>
          <p:nvPr/>
        </p:nvSpPr>
        <p:spPr>
          <a:xfrm>
            <a:off x="2988860" y="5385835"/>
            <a:ext cx="5076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La fonction de récurrence : </a:t>
            </a:r>
            <a:r>
              <a:rPr lang="fr-FR" sz="2400" b="1" dirty="0"/>
              <a:t>T(n) = T(n/2) + 2</a:t>
            </a:r>
          </a:p>
        </p:txBody>
      </p:sp>
    </p:spTree>
    <p:extLst>
      <p:ext uri="{BB962C8B-B14F-4D97-AF65-F5344CB8AC3E}">
        <p14:creationId xmlns:p14="http://schemas.microsoft.com/office/powerpoint/2010/main" val="1579138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36" grpId="0" animBg="1"/>
      <p:bldP spid="38" grpId="0" animBg="1"/>
      <p:bldP spid="38" grpId="1" animBg="1"/>
      <p:bldP spid="40" grpId="0" animBg="1"/>
      <p:bldP spid="40" grpId="1" animBg="1"/>
      <p:bldP spid="42" grpId="0" animBg="1"/>
      <p:bldP spid="42" grpId="1" animBg="1"/>
      <p:bldP spid="44" grpId="0" animBg="1"/>
      <p:bldP spid="44" grpId="1" animBg="1"/>
      <p:bldP spid="47" grpId="0"/>
      <p:bldP spid="51" grpId="0"/>
      <p:bldP spid="51" grpId="1"/>
      <p:bldP spid="58" grpId="0"/>
      <p:bldP spid="72" grpId="0" animBg="1"/>
      <p:bldP spid="56" grpId="0"/>
      <p:bldP spid="77" grpId="0" animBg="1"/>
      <p:bldP spid="79" grpId="0" animBg="1"/>
      <p:bldP spid="8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5E29E02-18F4-4BF3-A442-3724E693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55" name="Titre 1">
            <a:extLst>
              <a:ext uri="{FF2B5EF4-FFF2-40B4-BE49-F238E27FC236}">
                <a16:creationId xmlns:a16="http://schemas.microsoft.com/office/drawing/2014/main" id="{124360EE-D952-41E0-A0B3-9155397AC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5" y="291338"/>
            <a:ext cx="10515600" cy="562527"/>
          </a:xfrm>
        </p:spPr>
        <p:txBody>
          <a:bodyPr>
            <a:normAutofit/>
          </a:bodyPr>
          <a:lstStyle/>
          <a:p>
            <a:pPr marL="342900" lvl="0" indent="-342900">
              <a:spcAft>
                <a:spcPts val="600"/>
              </a:spcAft>
              <a:tabLst>
                <a:tab pos="228600" algn="l"/>
              </a:tabLst>
            </a:pPr>
            <a:r>
              <a:rPr lang="fr-FR" sz="24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TD2 Exercice </a:t>
            </a:r>
            <a:r>
              <a:rPr lang="fr-FR" sz="2400" b="1" dirty="0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fr-FR" sz="24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2400" b="1" dirty="0">
              <a:solidFill>
                <a:schemeClr val="accent1"/>
              </a:solidFill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2FAA4058-629D-4D39-BC36-6D0F490D85EC}"/>
              </a:ext>
            </a:extLst>
          </p:cNvPr>
          <p:cNvSpPr txBox="1"/>
          <p:nvPr/>
        </p:nvSpPr>
        <p:spPr>
          <a:xfrm>
            <a:off x="739988" y="1996465"/>
            <a:ext cx="4678173" cy="3170099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Century" panose="02040604050505020304" pitchFamily="18" charset="0"/>
              </a:rPr>
              <a:t>Int Palindrome ( char* m, </a:t>
            </a:r>
            <a:r>
              <a:rPr lang="fr-FR" sz="2000" dirty="0" err="1">
                <a:latin typeface="Century" panose="02040604050505020304" pitchFamily="18" charset="0"/>
              </a:rPr>
              <a:t>int</a:t>
            </a:r>
            <a:r>
              <a:rPr lang="fr-FR" sz="2000" dirty="0">
                <a:latin typeface="Century" panose="02040604050505020304" pitchFamily="18" charset="0"/>
              </a:rPr>
              <a:t> g, </a:t>
            </a:r>
            <a:r>
              <a:rPr lang="fr-FR" sz="2000" dirty="0" err="1">
                <a:latin typeface="Century" panose="02040604050505020304" pitchFamily="18" charset="0"/>
              </a:rPr>
              <a:t>int</a:t>
            </a:r>
            <a:r>
              <a:rPr lang="fr-FR" sz="2000" dirty="0">
                <a:latin typeface="Century" panose="02040604050505020304" pitchFamily="18" charset="0"/>
              </a:rPr>
              <a:t> d) </a:t>
            </a:r>
          </a:p>
          <a:p>
            <a:r>
              <a:rPr lang="fr-FR" sz="2000" dirty="0">
                <a:latin typeface="Century" panose="02040604050505020304" pitchFamily="18" charset="0"/>
              </a:rPr>
              <a:t>{</a:t>
            </a:r>
          </a:p>
          <a:p>
            <a:r>
              <a:rPr lang="fr-FR" sz="2000" dirty="0">
                <a:latin typeface="Century" panose="02040604050505020304" pitchFamily="18" charset="0"/>
              </a:rPr>
              <a:t>if (m[g] != m[d])</a:t>
            </a:r>
          </a:p>
          <a:p>
            <a:r>
              <a:rPr lang="fr-FR" sz="2000" dirty="0">
                <a:latin typeface="Century" panose="02040604050505020304" pitchFamily="18" charset="0"/>
              </a:rPr>
              <a:t>      return 0;</a:t>
            </a:r>
          </a:p>
          <a:p>
            <a:r>
              <a:rPr lang="fr-FR" sz="2000" dirty="0" err="1">
                <a:latin typeface="Century" panose="02040604050505020304" pitchFamily="18" charset="0"/>
              </a:rPr>
              <a:t>Else</a:t>
            </a:r>
            <a:r>
              <a:rPr lang="fr-FR" sz="2000" dirty="0">
                <a:latin typeface="Century" panose="02040604050505020304" pitchFamily="18" charset="0"/>
              </a:rPr>
              <a:t>{</a:t>
            </a:r>
          </a:p>
          <a:p>
            <a:r>
              <a:rPr lang="fr-FR" sz="2000" dirty="0">
                <a:latin typeface="Century" panose="02040604050505020304" pitchFamily="18" charset="0"/>
              </a:rPr>
              <a:t>      if(g &gt;= d) </a:t>
            </a:r>
          </a:p>
          <a:p>
            <a:r>
              <a:rPr lang="fr-FR" sz="2000" dirty="0">
                <a:latin typeface="Century" panose="02040604050505020304" pitchFamily="18" charset="0"/>
              </a:rPr>
              <a:t>            return 1;</a:t>
            </a:r>
          </a:p>
          <a:p>
            <a:r>
              <a:rPr lang="fr-FR" sz="2000" dirty="0">
                <a:latin typeface="Century" panose="02040604050505020304" pitchFamily="18" charset="0"/>
              </a:rPr>
              <a:t>       return Palindrome(m, g+1, d-1);</a:t>
            </a:r>
          </a:p>
          <a:p>
            <a:r>
              <a:rPr lang="fr-FR" sz="2000" dirty="0">
                <a:latin typeface="Century" panose="02040604050505020304" pitchFamily="18" charset="0"/>
              </a:rPr>
              <a:t>}</a:t>
            </a:r>
          </a:p>
          <a:p>
            <a:r>
              <a:rPr lang="fr-FR" sz="2000" dirty="0">
                <a:latin typeface="Century" panose="02040604050505020304" pitchFamily="18" charset="0"/>
              </a:rPr>
              <a:t>}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40426F6-EE76-4A77-924D-8B62DAAA095C}"/>
              </a:ext>
            </a:extLst>
          </p:cNvPr>
          <p:cNvSpPr txBox="1"/>
          <p:nvPr/>
        </p:nvSpPr>
        <p:spPr>
          <a:xfrm>
            <a:off x="2988860" y="5385835"/>
            <a:ext cx="5076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La fonction de récurrence : </a:t>
            </a:r>
            <a:r>
              <a:rPr lang="fr-FR" sz="2400" b="1" dirty="0"/>
              <a:t>T(n) = T(n-2) + 2</a:t>
            </a:r>
          </a:p>
        </p:txBody>
      </p:sp>
      <p:sp>
        <p:nvSpPr>
          <p:cNvPr id="41" name="Espace réservé du contenu 2">
            <a:extLst>
              <a:ext uri="{FF2B5EF4-FFF2-40B4-BE49-F238E27FC236}">
                <a16:creationId xmlns:a16="http://schemas.microsoft.com/office/drawing/2014/main" id="{9D0F130B-78AA-41D8-964A-BCD98D06D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628" y="1011840"/>
            <a:ext cx="3799037" cy="456869"/>
          </a:xfrm>
        </p:spPr>
        <p:txBody>
          <a:bodyPr>
            <a:normAutofit fontScale="85000" lnSpcReduction="10000"/>
          </a:bodyPr>
          <a:lstStyle/>
          <a:p>
            <a:r>
              <a:rPr lang="fr-FR" dirty="0"/>
              <a:t>Palindrome = RADAR, PAAP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8361251-4DED-4203-9C32-56AB89F100CC}"/>
              </a:ext>
            </a:extLst>
          </p:cNvPr>
          <p:cNvSpPr/>
          <p:nvPr/>
        </p:nvSpPr>
        <p:spPr>
          <a:xfrm>
            <a:off x="6687403" y="5385835"/>
            <a:ext cx="423081" cy="46166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F38D43AE-B78F-460E-A56A-754E5CDBE498}"/>
              </a:ext>
            </a:extLst>
          </p:cNvPr>
          <p:cNvSpPr/>
          <p:nvPr/>
        </p:nvSpPr>
        <p:spPr>
          <a:xfrm>
            <a:off x="3930555" y="4159809"/>
            <a:ext cx="1037229" cy="38489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5EFBC4AB-ECCE-4C10-908E-DF66FA5567A9}"/>
              </a:ext>
            </a:extLst>
          </p:cNvPr>
          <p:cNvCxnSpPr>
            <a:endCxn id="6" idx="0"/>
          </p:cNvCxnSpPr>
          <p:nvPr/>
        </p:nvCxnSpPr>
        <p:spPr>
          <a:xfrm>
            <a:off x="4995081" y="4312693"/>
            <a:ext cx="1903863" cy="1073142"/>
          </a:xfrm>
          <a:prstGeom prst="bentConnector2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B032DD3F-62EF-4951-B9B8-D897DFC2128F}"/>
              </a:ext>
            </a:extLst>
          </p:cNvPr>
          <p:cNvSpPr txBox="1"/>
          <p:nvPr/>
        </p:nvSpPr>
        <p:spPr>
          <a:xfrm>
            <a:off x="6974005" y="3752091"/>
            <a:ext cx="23201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A chaque appel récursif, on diminue la longueur de la chaine m de 2</a:t>
            </a:r>
          </a:p>
        </p:txBody>
      </p:sp>
    </p:spTree>
    <p:extLst>
      <p:ext uri="{BB962C8B-B14F-4D97-AF65-F5344CB8AC3E}">
        <p14:creationId xmlns:p14="http://schemas.microsoft.com/office/powerpoint/2010/main" val="124204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3" grpId="0" animBg="1"/>
      <p:bldP spid="14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2702</TotalTime>
  <Words>906</Words>
  <Application>Microsoft Office PowerPoint</Application>
  <PresentationFormat>Grand écran</PresentationFormat>
  <Paragraphs>217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Arial</vt:lpstr>
      <vt:lpstr>Bahnschrift SemiBold</vt:lpstr>
      <vt:lpstr>Calibri</vt:lpstr>
      <vt:lpstr>Calibri Light</vt:lpstr>
      <vt:lpstr>Century</vt:lpstr>
      <vt:lpstr>Thème Office</vt:lpstr>
      <vt:lpstr>Correction du TD N°2</vt:lpstr>
      <vt:lpstr>TD2 Exercice 5:</vt:lpstr>
      <vt:lpstr>TD2 Exercice 6.1:</vt:lpstr>
      <vt:lpstr>TD2 Exercice 6.2:</vt:lpstr>
      <vt:lpstr>TD2 Exercice 7:</vt:lpstr>
      <vt:lpstr>TD2 Exercice 8: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HP</dc:creator>
  <cp:lastModifiedBy>HP</cp:lastModifiedBy>
  <cp:revision>89</cp:revision>
  <dcterms:created xsi:type="dcterms:W3CDTF">2020-10-28T09:47:25Z</dcterms:created>
  <dcterms:modified xsi:type="dcterms:W3CDTF">2020-11-27T12:30:54Z</dcterms:modified>
</cp:coreProperties>
</file>