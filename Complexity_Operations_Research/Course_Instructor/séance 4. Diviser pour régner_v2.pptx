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5" r:id="rId2"/>
    <p:sldId id="294" r:id="rId3"/>
    <p:sldId id="298" r:id="rId4"/>
    <p:sldId id="339" r:id="rId5"/>
    <p:sldId id="293" r:id="rId6"/>
    <p:sldId id="355" r:id="rId7"/>
    <p:sldId id="354" r:id="rId8"/>
    <p:sldId id="343" r:id="rId9"/>
    <p:sldId id="345" r:id="rId10"/>
    <p:sldId id="310" r:id="rId11"/>
    <p:sldId id="311" r:id="rId12"/>
    <p:sldId id="296" r:id="rId13"/>
    <p:sldId id="297" r:id="rId14"/>
    <p:sldId id="312" r:id="rId15"/>
    <p:sldId id="356" r:id="rId16"/>
    <p:sldId id="313" r:id="rId17"/>
    <p:sldId id="314" r:id="rId18"/>
    <p:sldId id="315" r:id="rId19"/>
    <p:sldId id="316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295"/>
            <p14:sldId id="294"/>
            <p14:sldId id="298"/>
            <p14:sldId id="339"/>
            <p14:sldId id="293"/>
            <p14:sldId id="355"/>
            <p14:sldId id="354"/>
            <p14:sldId id="343"/>
            <p14:sldId id="345"/>
            <p14:sldId id="310"/>
            <p14:sldId id="311"/>
            <p14:sldId id="296"/>
            <p14:sldId id="297"/>
            <p14:sldId id="312"/>
            <p14:sldId id="356"/>
            <p14:sldId id="313"/>
            <p14:sldId id="314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9F46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6953" autoAdjust="0"/>
  </p:normalViewPr>
  <p:slideViewPr>
    <p:cSldViewPr snapToGrid="0">
      <p:cViewPr varScale="1">
        <p:scale>
          <a:sx n="69" d="100"/>
          <a:sy n="69" d="100"/>
        </p:scale>
        <p:origin x="45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5.wmf"/><Relationship Id="rId4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6.wmf"/><Relationship Id="rId4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C1933-18F5-4246-B1F0-35A4DD3AC935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7279F-DFAE-4657-A800-A8C38FC41E9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50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0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970" y="325936"/>
            <a:ext cx="10112829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52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46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50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2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86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63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515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5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31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7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44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8.png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6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wmf"/><Relationship Id="rId9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4.wmf"/><Relationship Id="rId9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19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2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2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2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5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28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56032" y="1921906"/>
            <a:ext cx="11935968" cy="4176392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fr-FR" b="1" dirty="0">
              <a:latin typeface="Aparajita" pitchFamily="34" charset="0"/>
              <a:ea typeface="Microsoft YaHei" pitchFamily="34" charset="-122"/>
              <a:cs typeface="Aparajita" pitchFamily="34" charset="0"/>
            </a:endParaRPr>
          </a:p>
          <a:p>
            <a:pPr algn="ctr">
              <a:buNone/>
            </a:pPr>
            <a:endParaRPr lang="fr-FR" sz="3600" b="1" dirty="0">
              <a:latin typeface="Aparajita" pitchFamily="34" charset="0"/>
              <a:ea typeface="Microsoft YaHei" pitchFamily="34" charset="-122"/>
              <a:cs typeface="Aparajita" pitchFamily="34" charset="0"/>
            </a:endParaRPr>
          </a:p>
          <a:p>
            <a:pPr algn="ctr">
              <a:buNone/>
            </a:pPr>
            <a:endParaRPr lang="fr-CA" sz="2000" dirty="0"/>
          </a:p>
        </p:txBody>
      </p:sp>
      <p:pic>
        <p:nvPicPr>
          <p:cNvPr id="1026" name="Picture 2" descr="C:\Users\esprit\Downloads\logo-esprit--n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492" y="0"/>
            <a:ext cx="1726510" cy="1220040"/>
          </a:xfrm>
          <a:prstGeom prst="rect">
            <a:avLst/>
          </a:prstGeom>
          <a:noFill/>
        </p:spPr>
      </p:pic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1021080" y="279742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rgbClr val="CC0000"/>
                </a:solidFill>
              </a:rPr>
              <a:t>Chapitre 4. Diviser pour régner</a:t>
            </a:r>
          </a:p>
        </p:txBody>
      </p:sp>
      <p:sp>
        <p:nvSpPr>
          <p:cNvPr id="14" name="TextBox 2"/>
          <p:cNvSpPr txBox="1">
            <a:spLocks noGrp="1"/>
          </p:cNvSpPr>
          <p:nvPr>
            <p:ph type="sldNum" sz="quarter" idx="12"/>
          </p:nvPr>
        </p:nvSpPr>
        <p:spPr>
          <a:xfrm>
            <a:off x="7443216" y="6118606"/>
            <a:ext cx="422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chemeClr val="tx1"/>
                </a:solidFill>
              </a:rPr>
              <a:t>Année universitaire :2020/2021</a:t>
            </a:r>
          </a:p>
        </p:txBody>
      </p:sp>
    </p:spTree>
    <p:extLst>
      <p:ext uri="{BB962C8B-B14F-4D97-AF65-F5344CB8AC3E}">
        <p14:creationId xmlns:p14="http://schemas.microsoft.com/office/powerpoint/2010/main" val="316804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1. Diviser pour régner : Principe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fr-FR" dirty="0"/>
              <a:t>De nombreux algorithmes ont une structure récursive en suivant le paradigme « </a:t>
            </a:r>
            <a:r>
              <a:rPr lang="fr-FR" b="1" dirty="0"/>
              <a:t>diviser pour régner </a:t>
            </a:r>
            <a:r>
              <a:rPr lang="fr-FR" dirty="0"/>
              <a:t>» qui donne lieu à trois étapes à chaque niveau de récursivité :</a:t>
            </a:r>
          </a:p>
          <a:p>
            <a:pPr algn="just"/>
            <a:endParaRPr lang="fr-FR" dirty="0"/>
          </a:p>
          <a:p>
            <a:pPr lvl="1" algn="just"/>
            <a:r>
              <a:rPr lang="fr-FR" b="1" dirty="0"/>
              <a:t>Diviser </a:t>
            </a:r>
            <a:r>
              <a:rPr lang="fr-FR" dirty="0"/>
              <a:t>le problème en un certain nombre de sous-problèmes ;</a:t>
            </a:r>
          </a:p>
          <a:p>
            <a:pPr lvl="1" algn="just"/>
            <a:endParaRPr lang="fr-FR" dirty="0"/>
          </a:p>
          <a:p>
            <a:pPr lvl="1" algn="just"/>
            <a:r>
              <a:rPr lang="fr-FR" b="1" dirty="0"/>
              <a:t>Régner </a:t>
            </a:r>
            <a:r>
              <a:rPr lang="fr-FR" dirty="0"/>
              <a:t>sur les sous-problèmes en les résolvant récursivement ou, si la taille d’un sous-problème est assez réduite, le résoudre directement ;</a:t>
            </a:r>
          </a:p>
          <a:p>
            <a:pPr lvl="1" algn="just"/>
            <a:endParaRPr lang="fr-FR" dirty="0"/>
          </a:p>
          <a:p>
            <a:pPr lvl="1" algn="just"/>
            <a:r>
              <a:rPr lang="fr-FR" b="1" dirty="0"/>
              <a:t>Combiner </a:t>
            </a:r>
            <a:r>
              <a:rPr lang="fr-FR" dirty="0"/>
              <a:t>les solutions des sous-problèmes en une solution complète du problème initial.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2. Analyse des algorithmes «diviser pour régner»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fr-FR" dirty="0"/>
          </a:p>
          <a:p>
            <a:pPr algn="just"/>
            <a:r>
              <a:rPr lang="fr-FR" dirty="0"/>
              <a:t>Lorsqu’un algorithme contient un appel récursif à lui-même, son temps d’exécution peut souvent être décrit par une équation de récurrence</a:t>
            </a:r>
          </a:p>
          <a:p>
            <a:pPr algn="just"/>
            <a:r>
              <a:rPr lang="fr-FR" dirty="0"/>
              <a:t> Elle décrit le temps d’exécution global pour un problème de taille </a:t>
            </a:r>
            <a:r>
              <a:rPr lang="fr-FR" i="1" dirty="0"/>
              <a:t>n </a:t>
            </a:r>
            <a:r>
              <a:rPr lang="fr-FR" dirty="0"/>
              <a:t>en fonction du temps d’exécution pour des entrées de taille moindre.</a:t>
            </a:r>
          </a:p>
          <a:p>
            <a:pPr algn="just"/>
            <a:r>
              <a:rPr lang="fr-FR" dirty="0"/>
              <a:t>La récurrence définissant le temps d’exécution d’un algorithme  </a:t>
            </a:r>
          </a:p>
          <a:p>
            <a:pPr marL="0" indent="0" algn="just">
              <a:buNone/>
            </a:pPr>
            <a:r>
              <a:rPr lang="fr-FR" dirty="0"/>
              <a:t>« diviser pour régner » se décompose suivant les étapes du paradigme de base :</a:t>
            </a:r>
          </a:p>
          <a:p>
            <a:pPr algn="just"/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2. Analyse des algorithmes «diviser pour régner»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398642"/>
            <a:ext cx="10515600" cy="3957707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endParaRPr lang="fr-FR" dirty="0"/>
          </a:p>
          <a:p>
            <a:pPr marL="514350" indent="-514350">
              <a:buAutoNum type="arabicPeriod"/>
            </a:pPr>
            <a:r>
              <a:rPr lang="fr-FR" dirty="0"/>
              <a:t>Si la taille du problème est suffisamment réduite,</a:t>
            </a:r>
            <a:r>
              <a:rPr lang="fr-FR" b="1" dirty="0"/>
              <a:t> </a:t>
            </a:r>
            <a:r>
              <a:rPr lang="fr-FR" b="1" i="1" dirty="0"/>
              <a:t>n &lt;= c </a:t>
            </a:r>
            <a:r>
              <a:rPr lang="fr-FR" dirty="0"/>
              <a:t>pour une certaine constante </a:t>
            </a:r>
            <a:r>
              <a:rPr lang="fr-FR" b="1" i="1" dirty="0"/>
              <a:t>c</a:t>
            </a:r>
            <a:r>
              <a:rPr lang="fr-FR" dirty="0"/>
              <a:t>, la résolution est directe et consomme un temps constant </a:t>
            </a:r>
            <a:r>
              <a:rPr lang="fr-FR" b="1" dirty="0"/>
              <a:t>O(1).</a:t>
            </a:r>
          </a:p>
          <a:p>
            <a:pPr marL="514350" indent="-514350">
              <a:buAutoNum type="arabicPeriod"/>
            </a:pPr>
            <a:endParaRPr lang="fr-FR" dirty="0"/>
          </a:p>
          <a:p>
            <a:pPr>
              <a:buNone/>
            </a:pPr>
            <a:r>
              <a:rPr lang="fr-FR" dirty="0"/>
              <a:t>2. Sinon, on divise le problème en </a:t>
            </a:r>
            <a:r>
              <a:rPr lang="fr-FR" b="1" i="1" dirty="0"/>
              <a:t>a</a:t>
            </a:r>
            <a:r>
              <a:rPr lang="fr-FR" i="1" dirty="0"/>
              <a:t> </a:t>
            </a:r>
            <a:r>
              <a:rPr lang="fr-FR" dirty="0"/>
              <a:t>sous-problèmes chacun de taille </a:t>
            </a:r>
            <a:r>
              <a:rPr lang="fr-FR" b="1" dirty="0"/>
              <a:t>1/</a:t>
            </a:r>
            <a:r>
              <a:rPr lang="fr-FR" b="1" i="1" dirty="0"/>
              <a:t>b </a:t>
            </a:r>
            <a:r>
              <a:rPr lang="fr-FR" dirty="0"/>
              <a:t>de la taille du problème initial. Le temps d’exécution total se décompose alors en trois parties :</a:t>
            </a:r>
          </a:p>
          <a:p>
            <a:pPr>
              <a:buNone/>
            </a:pPr>
            <a:r>
              <a:rPr lang="fr-FR" dirty="0"/>
              <a:t>	-</a:t>
            </a:r>
            <a:r>
              <a:rPr lang="fr-FR" b="1" dirty="0"/>
              <a:t> </a:t>
            </a:r>
            <a:r>
              <a:rPr lang="fr-FR" b="1" i="1" dirty="0"/>
              <a:t>D</a:t>
            </a:r>
            <a:r>
              <a:rPr lang="fr-FR" b="1" dirty="0"/>
              <a:t>(</a:t>
            </a:r>
            <a:r>
              <a:rPr lang="fr-FR" b="1" i="1" dirty="0"/>
              <a:t>n</a:t>
            </a:r>
            <a:r>
              <a:rPr lang="fr-FR" b="1" dirty="0"/>
              <a:t>) </a:t>
            </a:r>
            <a:r>
              <a:rPr lang="fr-FR" dirty="0"/>
              <a:t>: le temps nécessaire à la division du problème en sous-problèmes.</a:t>
            </a:r>
          </a:p>
          <a:p>
            <a:pPr>
              <a:buNone/>
            </a:pPr>
            <a:r>
              <a:rPr lang="fr-FR" dirty="0"/>
              <a:t>	- </a:t>
            </a:r>
            <a:r>
              <a:rPr lang="fr-FR" b="1" i="1" dirty="0" err="1"/>
              <a:t>aT</a:t>
            </a:r>
            <a:r>
              <a:rPr lang="fr-FR" b="1" dirty="0"/>
              <a:t>(</a:t>
            </a:r>
            <a:r>
              <a:rPr lang="fr-FR" b="1" i="1" dirty="0"/>
              <a:t>n</a:t>
            </a:r>
            <a:r>
              <a:rPr lang="fr-FR" b="1" dirty="0"/>
              <a:t>/</a:t>
            </a:r>
            <a:r>
              <a:rPr lang="fr-FR" b="1" i="1" dirty="0"/>
              <a:t>b</a:t>
            </a:r>
            <a:r>
              <a:rPr lang="fr-FR" b="1" dirty="0"/>
              <a:t>) </a:t>
            </a:r>
            <a:r>
              <a:rPr lang="fr-FR" dirty="0"/>
              <a:t>: le temps de résolution des </a:t>
            </a:r>
            <a:r>
              <a:rPr lang="fr-FR" i="1" dirty="0"/>
              <a:t>a </a:t>
            </a:r>
            <a:r>
              <a:rPr lang="fr-FR" dirty="0"/>
              <a:t>sous-problèmes.</a:t>
            </a:r>
          </a:p>
          <a:p>
            <a:pPr>
              <a:buNone/>
            </a:pPr>
            <a:r>
              <a:rPr lang="fr-FR" dirty="0"/>
              <a:t>	- </a:t>
            </a:r>
            <a:r>
              <a:rPr lang="fr-FR" b="1" i="1" dirty="0"/>
              <a:t>C</a:t>
            </a:r>
            <a:r>
              <a:rPr lang="fr-FR" b="1" dirty="0"/>
              <a:t>(</a:t>
            </a:r>
            <a:r>
              <a:rPr lang="fr-FR" b="1" i="1" dirty="0"/>
              <a:t>n</a:t>
            </a:r>
            <a:r>
              <a:rPr lang="fr-FR" b="1" dirty="0"/>
              <a:t>) </a:t>
            </a:r>
            <a:r>
              <a:rPr lang="fr-FR" dirty="0"/>
              <a:t>: le temps nécessaire pour construire la solution finale à partir des solutions aux sous-problèmes.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4</a:t>
            </a:fld>
            <a:endParaRPr lang="fr-FR"/>
          </a:p>
        </p:txBody>
      </p:sp>
      <p:graphicFrame>
        <p:nvGraphicFramePr>
          <p:cNvPr id="134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003123"/>
              </p:ext>
            </p:extLst>
          </p:nvPr>
        </p:nvGraphicFramePr>
        <p:xfrm>
          <a:off x="3153569" y="1502783"/>
          <a:ext cx="5884862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80" name="Equation" r:id="rId3" imgW="2577960" imgH="457200" progId="">
                  <p:embed/>
                </p:oleObj>
              </mc:Choice>
              <mc:Fallback>
                <p:oleObj name="Equation" r:id="rId3" imgW="2577960" imgH="4572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3569" y="1502783"/>
                        <a:ext cx="5884862" cy="104457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 w="19050">
                        <a:solidFill>
                          <a:schemeClr val="accent2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2.1. Exemple1 : Recherche du maximum d’un tableau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2">
              <a:buNone/>
            </a:pPr>
            <a:r>
              <a:rPr lang="en-GB" sz="2400" dirty="0"/>
              <a:t>int</a:t>
            </a:r>
            <a:r>
              <a:rPr lang="en-GB" sz="2400" b="1" dirty="0"/>
              <a:t> Maximum</a:t>
            </a:r>
            <a:r>
              <a:rPr lang="en-GB" sz="2400" dirty="0"/>
              <a:t> (int tab[], int left, int right)</a:t>
            </a:r>
            <a:endParaRPr lang="fr-FR" sz="2400" dirty="0"/>
          </a:p>
          <a:p>
            <a:pPr lvl="2">
              <a:buNone/>
            </a:pPr>
            <a:r>
              <a:rPr lang="en-GB" sz="2400" dirty="0"/>
              <a:t>{ int k1, k2,m;</a:t>
            </a:r>
          </a:p>
          <a:p>
            <a:pPr lvl="2">
              <a:buNone/>
            </a:pPr>
            <a:r>
              <a:rPr lang="en-GB" sz="2400" dirty="0"/>
              <a:t>	If ( left == right)</a:t>
            </a:r>
            <a:endParaRPr lang="fr-FR" sz="2400" dirty="0"/>
          </a:p>
          <a:p>
            <a:pPr lvl="2">
              <a:buNone/>
            </a:pPr>
            <a:r>
              <a:rPr lang="en-GB" sz="2400" dirty="0"/>
              <a:t>		</a:t>
            </a:r>
            <a:r>
              <a:rPr lang="fr-FR" sz="2400" dirty="0"/>
              <a:t>return tab[</a:t>
            </a:r>
            <a:r>
              <a:rPr lang="fr-FR" sz="2400" dirty="0" err="1"/>
              <a:t>left</a:t>
            </a:r>
            <a:r>
              <a:rPr lang="fr-FR" sz="2400" dirty="0"/>
              <a:t>];</a:t>
            </a:r>
          </a:p>
          <a:p>
            <a:pPr lvl="2">
              <a:buNone/>
            </a:pPr>
            <a:r>
              <a:rPr lang="fr-FR" sz="2400" dirty="0"/>
              <a:t>	</a:t>
            </a:r>
            <a:r>
              <a:rPr lang="fr-FR" sz="2400" dirty="0" err="1"/>
              <a:t>Else</a:t>
            </a:r>
            <a:endParaRPr lang="fr-FR" sz="2400" dirty="0"/>
          </a:p>
          <a:p>
            <a:pPr lvl="2">
              <a:buNone/>
            </a:pPr>
            <a:r>
              <a:rPr lang="fr-FR" sz="2400" dirty="0"/>
              <a:t>		m= (</a:t>
            </a:r>
            <a:r>
              <a:rPr lang="fr-FR" sz="2400" dirty="0" err="1"/>
              <a:t>left+right</a:t>
            </a:r>
            <a:r>
              <a:rPr lang="fr-FR" sz="2400" dirty="0"/>
              <a:t>)/2	</a:t>
            </a:r>
            <a:r>
              <a:rPr lang="fr-FR" sz="2400" b="1" dirty="0"/>
              <a:t>// division du problème en 2 sous-problèmes</a:t>
            </a:r>
          </a:p>
          <a:p>
            <a:pPr lvl="2">
              <a:buNone/>
            </a:pPr>
            <a:r>
              <a:rPr lang="fr-FR" sz="2400" dirty="0"/>
              <a:t>		k1 = maximum (tab, </a:t>
            </a:r>
            <a:r>
              <a:rPr lang="fr-FR" sz="2400" dirty="0" err="1"/>
              <a:t>left</a:t>
            </a:r>
            <a:r>
              <a:rPr lang="fr-FR" sz="2400" dirty="0"/>
              <a:t>, m)	</a:t>
            </a:r>
            <a:r>
              <a:rPr lang="fr-FR" sz="2400" b="1" dirty="0"/>
              <a:t>// régner sur le 1er sous-problème</a:t>
            </a:r>
          </a:p>
          <a:p>
            <a:pPr lvl="2">
              <a:buNone/>
            </a:pPr>
            <a:r>
              <a:rPr lang="fr-FR" sz="2400" dirty="0"/>
              <a:t>		k2 = maximum (tab, m+1, right) </a:t>
            </a:r>
            <a:r>
              <a:rPr lang="fr-FR" sz="2400" b="1" dirty="0"/>
              <a:t>// régner sur le 2</a:t>
            </a:r>
            <a:r>
              <a:rPr lang="fr-FR" sz="2400" b="1" baseline="30000" dirty="0"/>
              <a:t>ème</a:t>
            </a:r>
            <a:r>
              <a:rPr lang="fr-FR" sz="2400" b="1" dirty="0"/>
              <a:t> sous-problème</a:t>
            </a:r>
          </a:p>
          <a:p>
            <a:pPr lvl="2">
              <a:buNone/>
            </a:pPr>
            <a:r>
              <a:rPr lang="en-GB" sz="2400" dirty="0"/>
              <a:t>		If(k1 &gt;= k2)			</a:t>
            </a:r>
            <a:r>
              <a:rPr lang="en-GB" sz="2400" b="1" dirty="0"/>
              <a:t>// combiner les solutions</a:t>
            </a:r>
            <a:endParaRPr lang="fr-FR" sz="2400" b="1" dirty="0"/>
          </a:p>
          <a:p>
            <a:pPr lvl="2">
              <a:buNone/>
            </a:pPr>
            <a:r>
              <a:rPr lang="en-GB" sz="2400" dirty="0"/>
              <a:t>			return k1</a:t>
            </a:r>
            <a:endParaRPr lang="fr-FR" sz="2400" dirty="0"/>
          </a:p>
          <a:p>
            <a:pPr lvl="2">
              <a:buNone/>
            </a:pPr>
            <a:r>
              <a:rPr lang="en-GB" sz="2400" dirty="0"/>
              <a:t>		Else </a:t>
            </a:r>
            <a:endParaRPr lang="fr-FR" sz="2400" dirty="0"/>
          </a:p>
          <a:p>
            <a:pPr lvl="2">
              <a:buNone/>
            </a:pPr>
            <a:r>
              <a:rPr lang="en-GB" sz="2400" dirty="0"/>
              <a:t>			return k2</a:t>
            </a:r>
            <a:endParaRPr lang="fr-FR" sz="2400" dirty="0"/>
          </a:p>
          <a:p>
            <a:pPr lvl="2">
              <a:buNone/>
            </a:pPr>
            <a:r>
              <a:rPr lang="fr-FR" sz="2400" b="1" dirty="0"/>
              <a:t>}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5</a:t>
            </a:fld>
            <a:endParaRPr lang="fr-FR"/>
          </a:p>
        </p:txBody>
      </p:sp>
      <p:grpSp>
        <p:nvGrpSpPr>
          <p:cNvPr id="77825" name="Group 1"/>
          <p:cNvGrpSpPr>
            <a:grpSpLocks/>
          </p:cNvGrpSpPr>
          <p:nvPr/>
        </p:nvGrpSpPr>
        <p:grpSpPr bwMode="auto">
          <a:xfrm>
            <a:off x="8084597" y="1793875"/>
            <a:ext cx="3551238" cy="1146175"/>
            <a:chOff x="3226" y="3588"/>
            <a:chExt cx="4057" cy="1310"/>
          </a:xfrm>
        </p:grpSpPr>
        <p:sp>
          <p:nvSpPr>
            <p:cNvPr id="77826" name="Rectangle 2"/>
            <p:cNvSpPr>
              <a:spLocks noChangeArrowheads="1"/>
            </p:cNvSpPr>
            <p:nvPr/>
          </p:nvSpPr>
          <p:spPr bwMode="auto">
            <a:xfrm>
              <a:off x="3435" y="3638"/>
              <a:ext cx="3627" cy="2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7827" name="AutoShape 3"/>
            <p:cNvSpPr>
              <a:spLocks noChangeArrowheads="1"/>
            </p:cNvSpPr>
            <p:nvPr/>
          </p:nvSpPr>
          <p:spPr bwMode="auto">
            <a:xfrm>
              <a:off x="5125" y="4020"/>
              <a:ext cx="248" cy="444"/>
            </a:xfrm>
            <a:prstGeom prst="downArrow">
              <a:avLst>
                <a:gd name="adj1" fmla="val 50000"/>
                <a:gd name="adj2" fmla="val 44758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7828" name="Rectangle 4"/>
            <p:cNvSpPr>
              <a:spLocks noChangeArrowheads="1"/>
            </p:cNvSpPr>
            <p:nvPr/>
          </p:nvSpPr>
          <p:spPr bwMode="auto">
            <a:xfrm>
              <a:off x="3300" y="4612"/>
              <a:ext cx="1801" cy="2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7829" name="Rectangle 5"/>
            <p:cNvSpPr>
              <a:spLocks noChangeArrowheads="1"/>
            </p:cNvSpPr>
            <p:nvPr/>
          </p:nvSpPr>
          <p:spPr bwMode="auto">
            <a:xfrm>
              <a:off x="5397" y="4612"/>
              <a:ext cx="1798" cy="2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7830" name="Text Box 6"/>
            <p:cNvSpPr txBox="1">
              <a:spLocks noChangeArrowheads="1"/>
            </p:cNvSpPr>
            <p:nvPr/>
          </p:nvSpPr>
          <p:spPr bwMode="auto">
            <a:xfrm>
              <a:off x="4324" y="3588"/>
              <a:ext cx="1973" cy="3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problème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831" name="Text Box 7"/>
            <p:cNvSpPr txBox="1">
              <a:spLocks noChangeArrowheads="1"/>
            </p:cNvSpPr>
            <p:nvPr/>
          </p:nvSpPr>
          <p:spPr bwMode="auto">
            <a:xfrm>
              <a:off x="3226" y="4575"/>
              <a:ext cx="1974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Sous-problème1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832" name="Text Box 8"/>
            <p:cNvSpPr txBox="1">
              <a:spLocks noChangeArrowheads="1"/>
            </p:cNvSpPr>
            <p:nvPr/>
          </p:nvSpPr>
          <p:spPr bwMode="auto">
            <a:xfrm>
              <a:off x="5310" y="4563"/>
              <a:ext cx="1973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Sous-problème2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xmlns="" id="{6AEDE7D3-1DDD-4CC0-8DA6-BED964C69F6B}"/>
              </a:ext>
            </a:extLst>
          </p:cNvPr>
          <p:cNvSpPr/>
          <p:nvPr/>
        </p:nvSpPr>
        <p:spPr>
          <a:xfrm>
            <a:off x="2729948" y="4162357"/>
            <a:ext cx="3599067" cy="3813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xmlns="" id="{B22C04BF-D0C3-4B0C-9C17-2B24E8BC3473}"/>
              </a:ext>
            </a:extLst>
          </p:cNvPr>
          <p:cNvSpPr/>
          <p:nvPr/>
        </p:nvSpPr>
        <p:spPr>
          <a:xfrm>
            <a:off x="2729948" y="3797559"/>
            <a:ext cx="3599067" cy="3813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2.1. Exemple1 : Recherche du maximum d’un tableau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32072" y="1825625"/>
            <a:ext cx="10421728" cy="4351338"/>
          </a:xfrm>
        </p:spPr>
        <p:txBody>
          <a:bodyPr>
            <a:normAutofit fontScale="92500" lnSpcReduction="10000"/>
          </a:bodyPr>
          <a:lstStyle/>
          <a:p>
            <a:pPr lvl="2">
              <a:buNone/>
            </a:pPr>
            <a:r>
              <a:rPr lang="en-GB" sz="2400" dirty="0"/>
              <a:t>int</a:t>
            </a:r>
            <a:r>
              <a:rPr lang="en-GB" sz="2400" b="1" dirty="0"/>
              <a:t> Maximum</a:t>
            </a:r>
            <a:r>
              <a:rPr lang="en-GB" sz="2400" dirty="0"/>
              <a:t> (int tab[], int left, int right)</a:t>
            </a:r>
            <a:endParaRPr lang="fr-FR" sz="2400" dirty="0"/>
          </a:p>
          <a:p>
            <a:pPr lvl="2">
              <a:buNone/>
            </a:pPr>
            <a:r>
              <a:rPr lang="en-GB" sz="2400" dirty="0"/>
              <a:t>{ int k1, k2,m;</a:t>
            </a:r>
          </a:p>
          <a:p>
            <a:pPr lvl="2">
              <a:buNone/>
            </a:pPr>
            <a:r>
              <a:rPr lang="en-GB" sz="2400" dirty="0"/>
              <a:t>	if ( left == right)</a:t>
            </a:r>
            <a:endParaRPr lang="fr-FR" sz="2400" dirty="0"/>
          </a:p>
          <a:p>
            <a:pPr lvl="2">
              <a:buNone/>
            </a:pPr>
            <a:r>
              <a:rPr lang="en-GB" sz="2400" dirty="0"/>
              <a:t>		</a:t>
            </a:r>
            <a:r>
              <a:rPr lang="fr-FR" sz="2400" dirty="0"/>
              <a:t>return tab[</a:t>
            </a:r>
            <a:r>
              <a:rPr lang="fr-FR" sz="2400" dirty="0" err="1"/>
              <a:t>left</a:t>
            </a:r>
            <a:r>
              <a:rPr lang="fr-FR" sz="2400" dirty="0"/>
              <a:t>];</a:t>
            </a:r>
          </a:p>
          <a:p>
            <a:pPr lvl="2">
              <a:buNone/>
            </a:pPr>
            <a:r>
              <a:rPr lang="fr-FR" sz="2400" dirty="0"/>
              <a:t>	</a:t>
            </a:r>
            <a:r>
              <a:rPr lang="fr-FR" sz="2400" dirty="0" err="1"/>
              <a:t>else</a:t>
            </a:r>
            <a:endParaRPr lang="fr-FR" sz="2400" dirty="0"/>
          </a:p>
          <a:p>
            <a:pPr lvl="2">
              <a:buNone/>
            </a:pPr>
            <a:r>
              <a:rPr lang="fr-FR" sz="2400" dirty="0"/>
              <a:t>		m= (</a:t>
            </a:r>
            <a:r>
              <a:rPr lang="fr-FR" sz="2400" dirty="0" err="1"/>
              <a:t>left+right</a:t>
            </a:r>
            <a:r>
              <a:rPr lang="fr-FR" sz="2400" dirty="0"/>
              <a:t>)/2	</a:t>
            </a:r>
          </a:p>
          <a:p>
            <a:pPr lvl="2">
              <a:buNone/>
            </a:pPr>
            <a:r>
              <a:rPr lang="fr-FR" sz="2400" dirty="0"/>
              <a:t>		k1 = maximum (tab, </a:t>
            </a:r>
            <a:r>
              <a:rPr lang="fr-FR" sz="2400" dirty="0" err="1"/>
              <a:t>left</a:t>
            </a:r>
            <a:r>
              <a:rPr lang="fr-FR" sz="2400" dirty="0"/>
              <a:t>, m)	</a:t>
            </a:r>
            <a:endParaRPr lang="fr-FR" sz="2400" b="1" dirty="0"/>
          </a:p>
          <a:p>
            <a:pPr lvl="2">
              <a:buNone/>
            </a:pPr>
            <a:r>
              <a:rPr lang="fr-FR" sz="2400" dirty="0"/>
              <a:t>		k2 = maximum (tab, m+1, right) </a:t>
            </a:r>
          </a:p>
          <a:p>
            <a:pPr lvl="2">
              <a:buNone/>
            </a:pPr>
            <a:r>
              <a:rPr lang="en-GB" sz="2400" dirty="0"/>
              <a:t>		If(k1 &gt;= k2)			</a:t>
            </a:r>
          </a:p>
          <a:p>
            <a:pPr lvl="2">
              <a:buNone/>
            </a:pPr>
            <a:r>
              <a:rPr lang="en-GB" sz="2400" dirty="0"/>
              <a:t>			return k1</a:t>
            </a:r>
            <a:endParaRPr lang="fr-FR" sz="2400" dirty="0"/>
          </a:p>
          <a:p>
            <a:pPr lvl="2">
              <a:buNone/>
            </a:pPr>
            <a:r>
              <a:rPr lang="en-GB" sz="2400" dirty="0"/>
              <a:t>		Else </a:t>
            </a:r>
            <a:endParaRPr lang="fr-FR" sz="2400" dirty="0"/>
          </a:p>
          <a:p>
            <a:pPr lvl="2">
              <a:buNone/>
            </a:pPr>
            <a:r>
              <a:rPr lang="en-GB" sz="2400" dirty="0"/>
              <a:t>			return k2</a:t>
            </a:r>
            <a:endParaRPr lang="fr-FR" sz="2400" dirty="0"/>
          </a:p>
          <a:p>
            <a:pPr lvl="2">
              <a:buNone/>
            </a:pPr>
            <a:r>
              <a:rPr lang="fr-FR" sz="2400" b="1" dirty="0"/>
              <a:t>}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6</a:t>
            </a:fld>
            <a:endParaRPr lang="fr-FR" dirty="0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xmlns="" id="{AB72A6E2-0DB0-47CF-94F4-A3CB9F907DE0}"/>
              </a:ext>
            </a:extLst>
          </p:cNvPr>
          <p:cNvGraphicFramePr>
            <a:graphicFrameLocks noGrp="1"/>
          </p:cNvGraphicFramePr>
          <p:nvPr/>
        </p:nvGraphicFramePr>
        <p:xfrm>
          <a:off x="8044069" y="1778758"/>
          <a:ext cx="3215860" cy="381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65">
                  <a:extLst>
                    <a:ext uri="{9D8B030D-6E8A-4147-A177-3AD203B41FA5}">
                      <a16:colId xmlns:a16="http://schemas.microsoft.com/office/drawing/2014/main" xmlns="" val="4030586207"/>
                    </a:ext>
                  </a:extLst>
                </a:gridCol>
                <a:gridCol w="803965">
                  <a:extLst>
                    <a:ext uri="{9D8B030D-6E8A-4147-A177-3AD203B41FA5}">
                      <a16:colId xmlns:a16="http://schemas.microsoft.com/office/drawing/2014/main" xmlns="" val="452359116"/>
                    </a:ext>
                  </a:extLst>
                </a:gridCol>
                <a:gridCol w="803965">
                  <a:extLst>
                    <a:ext uri="{9D8B030D-6E8A-4147-A177-3AD203B41FA5}">
                      <a16:colId xmlns:a16="http://schemas.microsoft.com/office/drawing/2014/main" xmlns="" val="2043492865"/>
                    </a:ext>
                  </a:extLst>
                </a:gridCol>
                <a:gridCol w="803965">
                  <a:extLst>
                    <a:ext uri="{9D8B030D-6E8A-4147-A177-3AD203B41FA5}">
                      <a16:colId xmlns:a16="http://schemas.microsoft.com/office/drawing/2014/main" xmlns="" val="361690525"/>
                    </a:ext>
                  </a:extLst>
                </a:gridCol>
              </a:tblGrid>
              <a:tr h="38134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9474856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A22A87AD-5D26-4CD4-B0CD-EDD58FB9425C}"/>
              </a:ext>
            </a:extLst>
          </p:cNvPr>
          <p:cNvSpPr txBox="1"/>
          <p:nvPr/>
        </p:nvSpPr>
        <p:spPr>
          <a:xfrm>
            <a:off x="6408527" y="1825623"/>
            <a:ext cx="239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	tab</a:t>
            </a:r>
          </a:p>
          <a:p>
            <a:r>
              <a:rPr lang="fr-FR" dirty="0" err="1">
                <a:solidFill>
                  <a:srgbClr val="0070C0"/>
                </a:solidFill>
              </a:rPr>
              <a:t>left</a:t>
            </a:r>
            <a:r>
              <a:rPr lang="fr-FR" dirty="0">
                <a:solidFill>
                  <a:srgbClr val="0070C0"/>
                </a:solidFill>
              </a:rPr>
              <a:t>=0; right=3; m=1</a:t>
            </a:r>
          </a:p>
        </p:txBody>
      </p:sp>
      <p:graphicFrame>
        <p:nvGraphicFramePr>
          <p:cNvPr id="8" name="Tableau 6">
            <a:extLst>
              <a:ext uri="{FF2B5EF4-FFF2-40B4-BE49-F238E27FC236}">
                <a16:creationId xmlns:a16="http://schemas.microsoft.com/office/drawing/2014/main" xmlns="" id="{0D994B11-66DF-4ED3-85EF-9C5A3AD01ED6}"/>
              </a:ext>
            </a:extLst>
          </p:cNvPr>
          <p:cNvGraphicFramePr>
            <a:graphicFrameLocks noGrp="1"/>
          </p:cNvGraphicFramePr>
          <p:nvPr/>
        </p:nvGraphicFramePr>
        <p:xfrm>
          <a:off x="8044068" y="2748955"/>
          <a:ext cx="1607930" cy="381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65">
                  <a:extLst>
                    <a:ext uri="{9D8B030D-6E8A-4147-A177-3AD203B41FA5}">
                      <a16:colId xmlns:a16="http://schemas.microsoft.com/office/drawing/2014/main" xmlns="" val="4030586207"/>
                    </a:ext>
                  </a:extLst>
                </a:gridCol>
                <a:gridCol w="803965">
                  <a:extLst>
                    <a:ext uri="{9D8B030D-6E8A-4147-A177-3AD203B41FA5}">
                      <a16:colId xmlns:a16="http://schemas.microsoft.com/office/drawing/2014/main" xmlns="" val="452359116"/>
                    </a:ext>
                  </a:extLst>
                </a:gridCol>
              </a:tblGrid>
              <a:tr h="38134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9474856"/>
                  </a:ext>
                </a:extLst>
              </a:tr>
            </a:tbl>
          </a:graphicData>
        </a:graphic>
      </p:graphicFrame>
      <p:graphicFrame>
        <p:nvGraphicFramePr>
          <p:cNvPr id="9" name="Tableau 6">
            <a:extLst>
              <a:ext uri="{FF2B5EF4-FFF2-40B4-BE49-F238E27FC236}">
                <a16:creationId xmlns:a16="http://schemas.microsoft.com/office/drawing/2014/main" xmlns="" id="{662A6916-C932-4A08-856F-3A64E2097A94}"/>
              </a:ext>
            </a:extLst>
          </p:cNvPr>
          <p:cNvGraphicFramePr>
            <a:graphicFrameLocks noGrp="1"/>
          </p:cNvGraphicFramePr>
          <p:nvPr/>
        </p:nvGraphicFramePr>
        <p:xfrm>
          <a:off x="9698934" y="2748953"/>
          <a:ext cx="1607930" cy="381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65">
                  <a:extLst>
                    <a:ext uri="{9D8B030D-6E8A-4147-A177-3AD203B41FA5}">
                      <a16:colId xmlns:a16="http://schemas.microsoft.com/office/drawing/2014/main" xmlns="" val="2043492865"/>
                    </a:ext>
                  </a:extLst>
                </a:gridCol>
                <a:gridCol w="803965">
                  <a:extLst>
                    <a:ext uri="{9D8B030D-6E8A-4147-A177-3AD203B41FA5}">
                      <a16:colId xmlns:a16="http://schemas.microsoft.com/office/drawing/2014/main" xmlns="" val="361690525"/>
                    </a:ext>
                  </a:extLst>
                </a:gridCol>
              </a:tblGrid>
              <a:tr h="38134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9474856"/>
                  </a:ext>
                </a:extLst>
              </a:tr>
            </a:tbl>
          </a:graphicData>
        </a:graphic>
      </p:graphicFrame>
      <p:graphicFrame>
        <p:nvGraphicFramePr>
          <p:cNvPr id="10" name="Tableau 6">
            <a:extLst>
              <a:ext uri="{FF2B5EF4-FFF2-40B4-BE49-F238E27FC236}">
                <a16:creationId xmlns:a16="http://schemas.microsoft.com/office/drawing/2014/main" xmlns="" id="{F5AEBB81-98EF-46E4-9E65-9362D8FBC862}"/>
              </a:ext>
            </a:extLst>
          </p:cNvPr>
          <p:cNvGraphicFramePr>
            <a:graphicFrameLocks noGrp="1"/>
          </p:cNvGraphicFramePr>
          <p:nvPr/>
        </p:nvGraphicFramePr>
        <p:xfrm>
          <a:off x="8004312" y="3837316"/>
          <a:ext cx="803965" cy="381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65">
                  <a:extLst>
                    <a:ext uri="{9D8B030D-6E8A-4147-A177-3AD203B41FA5}">
                      <a16:colId xmlns:a16="http://schemas.microsoft.com/office/drawing/2014/main" xmlns="" val="4030586207"/>
                    </a:ext>
                  </a:extLst>
                </a:gridCol>
              </a:tblGrid>
              <a:tr h="38134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9474856"/>
                  </a:ext>
                </a:extLst>
              </a:tr>
            </a:tbl>
          </a:graphicData>
        </a:graphic>
      </p:graphicFrame>
      <p:graphicFrame>
        <p:nvGraphicFramePr>
          <p:cNvPr id="11" name="Tableau 6">
            <a:extLst>
              <a:ext uri="{FF2B5EF4-FFF2-40B4-BE49-F238E27FC236}">
                <a16:creationId xmlns:a16="http://schemas.microsoft.com/office/drawing/2014/main" xmlns="" id="{C303ACA2-EC8B-4722-9DC3-B53ABECA17E5}"/>
              </a:ext>
            </a:extLst>
          </p:cNvPr>
          <p:cNvGraphicFramePr>
            <a:graphicFrameLocks noGrp="1"/>
          </p:cNvGraphicFramePr>
          <p:nvPr/>
        </p:nvGraphicFramePr>
        <p:xfrm>
          <a:off x="8852449" y="3837316"/>
          <a:ext cx="803965" cy="381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65">
                  <a:extLst>
                    <a:ext uri="{9D8B030D-6E8A-4147-A177-3AD203B41FA5}">
                      <a16:colId xmlns:a16="http://schemas.microsoft.com/office/drawing/2014/main" xmlns="" val="452359116"/>
                    </a:ext>
                  </a:extLst>
                </a:gridCol>
              </a:tblGrid>
              <a:tr h="38134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9474856"/>
                  </a:ext>
                </a:extLst>
              </a:tr>
            </a:tbl>
          </a:graphicData>
        </a:graphic>
      </p:graphicFrame>
      <p:graphicFrame>
        <p:nvGraphicFramePr>
          <p:cNvPr id="12" name="Tableau 6">
            <a:extLst>
              <a:ext uri="{FF2B5EF4-FFF2-40B4-BE49-F238E27FC236}">
                <a16:creationId xmlns:a16="http://schemas.microsoft.com/office/drawing/2014/main" xmlns="" id="{AF86251B-2F81-4B33-9F08-47551D2522E5}"/>
              </a:ext>
            </a:extLst>
          </p:cNvPr>
          <p:cNvGraphicFramePr>
            <a:graphicFrameLocks noGrp="1"/>
          </p:cNvGraphicFramePr>
          <p:nvPr/>
        </p:nvGraphicFramePr>
        <p:xfrm>
          <a:off x="9706112" y="3837315"/>
          <a:ext cx="803965" cy="381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65">
                  <a:extLst>
                    <a:ext uri="{9D8B030D-6E8A-4147-A177-3AD203B41FA5}">
                      <a16:colId xmlns:a16="http://schemas.microsoft.com/office/drawing/2014/main" xmlns="" val="2043492865"/>
                    </a:ext>
                  </a:extLst>
                </a:gridCol>
              </a:tblGrid>
              <a:tr h="38134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9474856"/>
                  </a:ext>
                </a:extLst>
              </a:tr>
            </a:tbl>
          </a:graphicData>
        </a:graphic>
      </p:graphicFrame>
      <p:graphicFrame>
        <p:nvGraphicFramePr>
          <p:cNvPr id="13" name="Tableau 6">
            <a:extLst>
              <a:ext uri="{FF2B5EF4-FFF2-40B4-BE49-F238E27FC236}">
                <a16:creationId xmlns:a16="http://schemas.microsoft.com/office/drawing/2014/main" xmlns="" id="{B2206EED-FF29-48C7-A0A8-17F290828375}"/>
              </a:ext>
            </a:extLst>
          </p:cNvPr>
          <p:cNvGraphicFramePr>
            <a:graphicFrameLocks noGrp="1"/>
          </p:cNvGraphicFramePr>
          <p:nvPr/>
        </p:nvGraphicFramePr>
        <p:xfrm>
          <a:off x="10568606" y="3837315"/>
          <a:ext cx="803965" cy="381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65">
                  <a:extLst>
                    <a:ext uri="{9D8B030D-6E8A-4147-A177-3AD203B41FA5}">
                      <a16:colId xmlns:a16="http://schemas.microsoft.com/office/drawing/2014/main" xmlns="" val="361690525"/>
                    </a:ext>
                  </a:extLst>
                </a:gridCol>
              </a:tblGrid>
              <a:tr h="38134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9474856"/>
                  </a:ext>
                </a:extLst>
              </a:tr>
            </a:tbl>
          </a:graphicData>
        </a:graphic>
      </p:graphicFrame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xmlns="" id="{F2441A2E-D92D-4597-BE26-33427E209BD1}"/>
              </a:ext>
            </a:extLst>
          </p:cNvPr>
          <p:cNvCxnSpPr>
            <a:cxnSpLocks/>
          </p:cNvCxnSpPr>
          <p:nvPr/>
        </p:nvCxnSpPr>
        <p:spPr>
          <a:xfrm>
            <a:off x="9678502" y="2439493"/>
            <a:ext cx="0" cy="208800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xmlns="" id="{E0FA113E-0390-4ECA-B27C-8136F2979A33}"/>
              </a:ext>
            </a:extLst>
          </p:cNvPr>
          <p:cNvCxnSpPr>
            <a:cxnSpLocks/>
          </p:cNvCxnSpPr>
          <p:nvPr/>
        </p:nvCxnSpPr>
        <p:spPr>
          <a:xfrm>
            <a:off x="8832570" y="3651396"/>
            <a:ext cx="0" cy="86673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xmlns="" id="{008A61B1-A5E1-45EA-BA5A-AA589D91E8E0}"/>
              </a:ext>
            </a:extLst>
          </p:cNvPr>
          <p:cNvCxnSpPr>
            <a:cxnSpLocks/>
          </p:cNvCxnSpPr>
          <p:nvPr/>
        </p:nvCxnSpPr>
        <p:spPr>
          <a:xfrm>
            <a:off x="10535478" y="3658024"/>
            <a:ext cx="0" cy="86673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xmlns="" id="{F9DA7817-110B-4235-AC8C-F17D419B5600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8848033" y="2160103"/>
            <a:ext cx="803966" cy="588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xmlns="" id="{34D80687-5123-482E-ABF0-1E71F054518B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9651999" y="2160103"/>
            <a:ext cx="850900" cy="588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xmlns="" id="{FA701198-18FC-450A-B59E-EE2A187BA5AC}"/>
              </a:ext>
            </a:extLst>
          </p:cNvPr>
          <p:cNvCxnSpPr>
            <a:endCxn id="10" idx="0"/>
          </p:cNvCxnSpPr>
          <p:nvPr/>
        </p:nvCxnSpPr>
        <p:spPr>
          <a:xfrm flipH="1">
            <a:off x="8406294" y="3130298"/>
            <a:ext cx="422401" cy="707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xmlns="" id="{F995421C-5EA9-4538-9911-35770697E2F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8848033" y="3130299"/>
            <a:ext cx="406398" cy="707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xmlns="" id="{C94C94B2-5097-47F2-ADAE-B58290DF4AE8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10108094" y="3130298"/>
            <a:ext cx="394805" cy="707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xmlns="" id="{1DFCFCE3-0B51-4019-9FD6-A1A43ED23BC2}"/>
              </a:ext>
            </a:extLst>
          </p:cNvPr>
          <p:cNvCxnSpPr>
            <a:endCxn id="13" idx="0"/>
          </p:cNvCxnSpPr>
          <p:nvPr/>
        </p:nvCxnSpPr>
        <p:spPr>
          <a:xfrm>
            <a:off x="10502898" y="3130298"/>
            <a:ext cx="467690" cy="707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xmlns="" id="{0FFDCA80-8FCD-409B-8C92-FE3BE898A79E}"/>
              </a:ext>
            </a:extLst>
          </p:cNvPr>
          <p:cNvCxnSpPr>
            <a:cxnSpLocks/>
          </p:cNvCxnSpPr>
          <p:nvPr/>
        </p:nvCxnSpPr>
        <p:spPr>
          <a:xfrm flipV="1">
            <a:off x="8406294" y="3130298"/>
            <a:ext cx="204306" cy="707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xmlns="" id="{00DBDE10-E70E-4848-94D8-2342AB8DB4BE}"/>
              </a:ext>
            </a:extLst>
          </p:cNvPr>
          <p:cNvCxnSpPr>
            <a:cxnSpLocks/>
          </p:cNvCxnSpPr>
          <p:nvPr/>
        </p:nvCxnSpPr>
        <p:spPr>
          <a:xfrm flipH="1" flipV="1">
            <a:off x="8998226" y="3130298"/>
            <a:ext cx="256205" cy="707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xmlns="" id="{46F05492-2156-4606-886C-D19DFE4C6591}"/>
              </a:ext>
            </a:extLst>
          </p:cNvPr>
          <p:cNvCxnSpPr>
            <a:cxnSpLocks/>
          </p:cNvCxnSpPr>
          <p:nvPr/>
        </p:nvCxnSpPr>
        <p:spPr>
          <a:xfrm flipV="1">
            <a:off x="10122454" y="3150178"/>
            <a:ext cx="204306" cy="707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xmlns="" id="{18F7E673-B7EB-4481-B838-73AF07EBAA48}"/>
              </a:ext>
            </a:extLst>
          </p:cNvPr>
          <p:cNvCxnSpPr>
            <a:cxnSpLocks/>
          </p:cNvCxnSpPr>
          <p:nvPr/>
        </p:nvCxnSpPr>
        <p:spPr>
          <a:xfrm flipH="1" flipV="1">
            <a:off x="10714386" y="3150178"/>
            <a:ext cx="256205" cy="707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xmlns="" id="{29418179-62A8-4688-B9AB-4FD5289A3050}"/>
              </a:ext>
            </a:extLst>
          </p:cNvPr>
          <p:cNvCxnSpPr/>
          <p:nvPr/>
        </p:nvCxnSpPr>
        <p:spPr>
          <a:xfrm flipV="1">
            <a:off x="8848033" y="2140223"/>
            <a:ext cx="406398" cy="588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xmlns="" id="{2C27C12D-63BE-4CD2-B585-A02C63EDEB7B}"/>
              </a:ext>
            </a:extLst>
          </p:cNvPr>
          <p:cNvCxnSpPr/>
          <p:nvPr/>
        </p:nvCxnSpPr>
        <p:spPr>
          <a:xfrm flipH="1" flipV="1">
            <a:off x="9992139" y="2160102"/>
            <a:ext cx="510759" cy="588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xmlns="" id="{4D60EBFC-8F1A-4B70-8559-A4CC87B3407E}"/>
              </a:ext>
            </a:extLst>
          </p:cNvPr>
          <p:cNvSpPr txBox="1"/>
          <p:nvPr/>
        </p:nvSpPr>
        <p:spPr>
          <a:xfrm>
            <a:off x="8406295" y="3269535"/>
            <a:ext cx="392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15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xmlns="" id="{AC761283-A8FC-4847-8172-D031E55BC061}"/>
              </a:ext>
            </a:extLst>
          </p:cNvPr>
          <p:cNvSpPr txBox="1"/>
          <p:nvPr/>
        </p:nvSpPr>
        <p:spPr>
          <a:xfrm>
            <a:off x="10081591" y="3290501"/>
            <a:ext cx="428486" cy="275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18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xmlns="" id="{66969D5A-A4C8-4B5E-B7D3-4B885E3184CB}"/>
              </a:ext>
            </a:extLst>
          </p:cNvPr>
          <p:cNvSpPr txBox="1"/>
          <p:nvPr/>
        </p:nvSpPr>
        <p:spPr>
          <a:xfrm>
            <a:off x="9143113" y="2188535"/>
            <a:ext cx="581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15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xmlns="" id="{3BC95FA7-0ADB-4FB3-93C0-1DB9C009E06D}"/>
              </a:ext>
            </a:extLst>
          </p:cNvPr>
          <p:cNvSpPr txBox="1"/>
          <p:nvPr/>
        </p:nvSpPr>
        <p:spPr>
          <a:xfrm>
            <a:off x="9380043" y="1163322"/>
            <a:ext cx="528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     18</a:t>
            </a:r>
          </a:p>
        </p:txBody>
      </p: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xmlns="" id="{52F1238C-0982-450D-932C-8C87D814AAE3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9651998" y="1441058"/>
            <a:ext cx="1" cy="337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xmlns="" id="{7389BA8B-905E-44C0-8028-36080190DDE4}"/>
                  </a:ext>
                </a:extLst>
              </p:cNvPr>
              <p:cNvSpPr txBox="1"/>
              <p:nvPr/>
            </p:nvSpPr>
            <p:spPr>
              <a:xfrm>
                <a:off x="7860749" y="5035826"/>
                <a:ext cx="3986686" cy="81176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+3          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𝑠𝑖𝑛𝑜𝑛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389BA8B-905E-44C0-8028-36080190D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749" y="5035826"/>
                <a:ext cx="3986686" cy="81176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ZoneTexte 36">
            <a:extLst>
              <a:ext uri="{FF2B5EF4-FFF2-40B4-BE49-F238E27FC236}">
                <a16:creationId xmlns:a16="http://schemas.microsoft.com/office/drawing/2014/main" xmlns="" id="{670C345E-78EA-40C5-A9F9-6FB30D890712}"/>
              </a:ext>
            </a:extLst>
          </p:cNvPr>
          <p:cNvSpPr txBox="1"/>
          <p:nvPr/>
        </p:nvSpPr>
        <p:spPr>
          <a:xfrm>
            <a:off x="10259112" y="2138973"/>
            <a:ext cx="581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18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xmlns="" id="{B2A7AA9E-AEC1-4C96-B1EB-FFD82B48CD28}"/>
              </a:ext>
            </a:extLst>
          </p:cNvPr>
          <p:cNvSpPr txBox="1"/>
          <p:nvPr/>
        </p:nvSpPr>
        <p:spPr>
          <a:xfrm>
            <a:off x="9149523" y="3220287"/>
            <a:ext cx="316395" cy="287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5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xmlns="" id="{51D1656D-EBC2-4FD3-8ECD-47F72F2A1DDC}"/>
              </a:ext>
            </a:extLst>
          </p:cNvPr>
          <p:cNvSpPr txBox="1"/>
          <p:nvPr/>
        </p:nvSpPr>
        <p:spPr>
          <a:xfrm>
            <a:off x="10503562" y="3287844"/>
            <a:ext cx="286699" cy="28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3471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3" grpId="0"/>
      <p:bldP spid="54" grpId="0"/>
      <p:bldP spid="55" grpId="0"/>
      <p:bldP spid="56" grpId="0"/>
      <p:bldP spid="16" grpId="0" animBg="1"/>
      <p:bldP spid="37" grpId="0"/>
      <p:bldP spid="38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E126411-658B-4B59-BF91-C507AEDC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2.2. Ex3-TD3 : Recherche du maximum d’une fonction </a:t>
            </a:r>
            <a:r>
              <a:rPr lang="fr-FR" b="1" dirty="0" err="1" smtClean="0">
                <a:solidFill>
                  <a:srgbClr val="C00000"/>
                </a:solidFill>
              </a:rPr>
              <a:t>unimodale</a:t>
            </a:r>
            <a:endParaRPr lang="fr-FR" dirty="0"/>
          </a:p>
        </p:txBody>
      </p:sp>
      <p:graphicFrame>
        <p:nvGraphicFramePr>
          <p:cNvPr id="15" name="Tableau 15">
            <a:extLst>
              <a:ext uri="{FF2B5EF4-FFF2-40B4-BE49-F238E27FC236}">
                <a16:creationId xmlns:a16="http://schemas.microsoft.com/office/drawing/2014/main" xmlns="" id="{1AC33D9C-6600-4DF3-AEFD-FB53612952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87280" y="5407909"/>
          <a:ext cx="27076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xmlns="" val="170636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6534550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7962688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5761034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8849160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8551862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3951643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2977831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9099680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4219294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33772919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4604824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49536565"/>
                    </a:ext>
                  </a:extLst>
                </a:gridCol>
              </a:tblGrid>
              <a:tr h="36510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50144257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D0B4D5F3-07A9-4689-A6EC-212D95A4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6CB1089A-3192-4B4F-82CC-C088B259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7</a:t>
            </a:fld>
            <a:endParaRPr lang="fr-FR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xmlns="" id="{519627F3-837D-4671-A348-53832E6A4744}"/>
              </a:ext>
            </a:extLst>
          </p:cNvPr>
          <p:cNvCxnSpPr/>
          <p:nvPr/>
        </p:nvCxnSpPr>
        <p:spPr>
          <a:xfrm>
            <a:off x="1115878" y="4850970"/>
            <a:ext cx="3099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xmlns="" id="{92C9DF75-CDFF-425B-87E1-A063BE56C266}"/>
              </a:ext>
            </a:extLst>
          </p:cNvPr>
          <p:cNvCxnSpPr/>
          <p:nvPr/>
        </p:nvCxnSpPr>
        <p:spPr>
          <a:xfrm flipV="1">
            <a:off x="1131376" y="2526224"/>
            <a:ext cx="0" cy="2309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xmlns="" id="{EA82950B-E32C-404C-B30D-9CF77287BC32}"/>
              </a:ext>
            </a:extLst>
          </p:cNvPr>
          <p:cNvSpPr/>
          <p:nvPr/>
        </p:nvSpPr>
        <p:spPr>
          <a:xfrm>
            <a:off x="1146875" y="2861894"/>
            <a:ext cx="2495227" cy="1989075"/>
          </a:xfrm>
          <a:custGeom>
            <a:avLst/>
            <a:gdLst>
              <a:gd name="connsiteX0" fmla="*/ 0 w 2495227"/>
              <a:gd name="connsiteY0" fmla="*/ 1989075 h 1989075"/>
              <a:gd name="connsiteX1" fmla="*/ 991891 w 2495227"/>
              <a:gd name="connsiteY1" fmla="*/ 5292 h 1989075"/>
              <a:gd name="connsiteX2" fmla="*/ 2138766 w 2495227"/>
              <a:gd name="connsiteY2" fmla="*/ 1415638 h 1989075"/>
              <a:gd name="connsiteX3" fmla="*/ 2448732 w 2495227"/>
              <a:gd name="connsiteY3" fmla="*/ 1679109 h 1989075"/>
              <a:gd name="connsiteX4" fmla="*/ 2448732 w 2495227"/>
              <a:gd name="connsiteY4" fmla="*/ 1679109 h 1989075"/>
              <a:gd name="connsiteX5" fmla="*/ 2495227 w 2495227"/>
              <a:gd name="connsiteY5" fmla="*/ 1710106 h 198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5227" h="1989075">
                <a:moveTo>
                  <a:pt x="0" y="1989075"/>
                </a:moveTo>
                <a:cubicBezTo>
                  <a:pt x="317715" y="1044970"/>
                  <a:pt x="635430" y="100865"/>
                  <a:pt x="991891" y="5292"/>
                </a:cubicBezTo>
                <a:cubicBezTo>
                  <a:pt x="1348352" y="-90281"/>
                  <a:pt x="1895959" y="1136669"/>
                  <a:pt x="2138766" y="1415638"/>
                </a:cubicBezTo>
                <a:cubicBezTo>
                  <a:pt x="2381573" y="1694607"/>
                  <a:pt x="2448732" y="1679109"/>
                  <a:pt x="2448732" y="1679109"/>
                </a:cubicBezTo>
                <a:lnTo>
                  <a:pt x="2448732" y="1679109"/>
                </a:lnTo>
                <a:lnTo>
                  <a:pt x="2495227" y="171010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A19E812D-C1C0-41DF-9C1D-9CC31CC2550D}"/>
              </a:ext>
            </a:extLst>
          </p:cNvPr>
          <p:cNvSpPr txBox="1"/>
          <p:nvPr/>
        </p:nvSpPr>
        <p:spPr>
          <a:xfrm>
            <a:off x="4215539" y="4850969"/>
            <a:ext cx="35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6859CE83-3746-4700-B1D5-A27AB98ABCC5}"/>
              </a:ext>
            </a:extLst>
          </p:cNvPr>
          <p:cNvSpPr txBox="1"/>
          <p:nvPr/>
        </p:nvSpPr>
        <p:spPr>
          <a:xfrm>
            <a:off x="573438" y="2341558"/>
            <a:ext cx="573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f(x)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xmlns="" id="{B6B0B6BD-CF99-4100-ADEE-9892ACA1A075}"/>
              </a:ext>
            </a:extLst>
          </p:cNvPr>
          <p:cNvCxnSpPr>
            <a:cxnSpLocks/>
          </p:cNvCxnSpPr>
          <p:nvPr/>
        </p:nvCxnSpPr>
        <p:spPr>
          <a:xfrm flipV="1">
            <a:off x="1193367" y="4757981"/>
            <a:ext cx="2" cy="648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xmlns="" id="{4A541F21-3CEC-4D00-8989-CD35E9EEC5CA}"/>
              </a:ext>
            </a:extLst>
          </p:cNvPr>
          <p:cNvCxnSpPr>
            <a:cxnSpLocks/>
          </p:cNvCxnSpPr>
          <p:nvPr/>
        </p:nvCxnSpPr>
        <p:spPr>
          <a:xfrm flipV="1">
            <a:off x="1392262" y="4184543"/>
            <a:ext cx="0" cy="121885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xmlns="" id="{9AEF4A87-3AA3-4A4A-B3EE-277C197E0265}"/>
              </a:ext>
            </a:extLst>
          </p:cNvPr>
          <p:cNvCxnSpPr>
            <a:cxnSpLocks/>
          </p:cNvCxnSpPr>
          <p:nvPr/>
        </p:nvCxnSpPr>
        <p:spPr>
          <a:xfrm flipV="1">
            <a:off x="1606654" y="3595607"/>
            <a:ext cx="0" cy="1807794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xmlns="" id="{671B884C-BB11-449D-844C-3A5841718470}"/>
              </a:ext>
            </a:extLst>
          </p:cNvPr>
          <p:cNvCxnSpPr>
            <a:cxnSpLocks/>
          </p:cNvCxnSpPr>
          <p:nvPr/>
        </p:nvCxnSpPr>
        <p:spPr>
          <a:xfrm flipV="1">
            <a:off x="1805549" y="3280646"/>
            <a:ext cx="0" cy="212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xmlns="" id="{6CA4AF02-5DEB-4AE5-BCAF-5C4A7C315F0A}"/>
              </a:ext>
            </a:extLst>
          </p:cNvPr>
          <p:cNvCxnSpPr>
            <a:cxnSpLocks/>
          </p:cNvCxnSpPr>
          <p:nvPr/>
        </p:nvCxnSpPr>
        <p:spPr>
          <a:xfrm flipV="1">
            <a:off x="2004444" y="2937100"/>
            <a:ext cx="0" cy="248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xmlns="" id="{A73B76D1-C215-4A69-AE1F-888835B42B70}"/>
              </a:ext>
            </a:extLst>
          </p:cNvPr>
          <p:cNvCxnSpPr>
            <a:cxnSpLocks/>
          </p:cNvCxnSpPr>
          <p:nvPr/>
        </p:nvCxnSpPr>
        <p:spPr>
          <a:xfrm flipV="1">
            <a:off x="2218837" y="2861894"/>
            <a:ext cx="0" cy="2556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xmlns="" id="{990B2ADE-7FD0-4BC4-A1B0-32E3D3367C9F}"/>
              </a:ext>
            </a:extLst>
          </p:cNvPr>
          <p:cNvCxnSpPr>
            <a:cxnSpLocks/>
          </p:cNvCxnSpPr>
          <p:nvPr/>
        </p:nvCxnSpPr>
        <p:spPr>
          <a:xfrm flipV="1">
            <a:off x="2417733" y="2937100"/>
            <a:ext cx="0" cy="248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xmlns="" id="{2EE57534-BCFD-4FB3-A20B-8375518BCA9C}"/>
              </a:ext>
            </a:extLst>
          </p:cNvPr>
          <p:cNvCxnSpPr>
            <a:cxnSpLocks/>
          </p:cNvCxnSpPr>
          <p:nvPr/>
        </p:nvCxnSpPr>
        <p:spPr>
          <a:xfrm flipV="1">
            <a:off x="2632125" y="3244480"/>
            <a:ext cx="0" cy="2160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xmlns="" id="{2903D895-1BF9-453C-9082-F125FA04CCAB}"/>
              </a:ext>
            </a:extLst>
          </p:cNvPr>
          <p:cNvCxnSpPr>
            <a:cxnSpLocks/>
          </p:cNvCxnSpPr>
          <p:nvPr/>
        </p:nvCxnSpPr>
        <p:spPr>
          <a:xfrm flipV="1">
            <a:off x="2862015" y="3613852"/>
            <a:ext cx="0" cy="1800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xmlns="" id="{89A15437-52B3-4653-995B-4B3B9D756902}"/>
              </a:ext>
            </a:extLst>
          </p:cNvPr>
          <p:cNvCxnSpPr>
            <a:cxnSpLocks/>
          </p:cNvCxnSpPr>
          <p:nvPr/>
        </p:nvCxnSpPr>
        <p:spPr>
          <a:xfrm flipV="1">
            <a:off x="3076408" y="3973669"/>
            <a:ext cx="0" cy="1440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xmlns="" id="{AD9EC0F9-E00B-47B5-B8DC-5D6121CA662D}"/>
              </a:ext>
            </a:extLst>
          </p:cNvPr>
          <p:cNvCxnSpPr>
            <a:cxnSpLocks/>
          </p:cNvCxnSpPr>
          <p:nvPr/>
        </p:nvCxnSpPr>
        <p:spPr>
          <a:xfrm flipV="1">
            <a:off x="3259804" y="4216431"/>
            <a:ext cx="0" cy="122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xmlns="" id="{1884AECF-8A6A-4673-B493-DAC2DD6D63F8}"/>
              </a:ext>
            </a:extLst>
          </p:cNvPr>
          <p:cNvCxnSpPr>
            <a:cxnSpLocks/>
          </p:cNvCxnSpPr>
          <p:nvPr/>
        </p:nvCxnSpPr>
        <p:spPr>
          <a:xfrm flipV="1">
            <a:off x="3443201" y="4430825"/>
            <a:ext cx="0" cy="1008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xmlns="" id="{B048ECF7-AE44-4F62-B4B0-70DC599B4D23}"/>
              </a:ext>
            </a:extLst>
          </p:cNvPr>
          <p:cNvCxnSpPr>
            <a:cxnSpLocks/>
          </p:cNvCxnSpPr>
          <p:nvPr/>
        </p:nvCxnSpPr>
        <p:spPr>
          <a:xfrm flipV="1">
            <a:off x="3642102" y="4521231"/>
            <a:ext cx="0" cy="86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xmlns="" id="{97DCF458-AAD6-42CD-804D-FD9CF5C98FC0}"/>
              </a:ext>
            </a:extLst>
          </p:cNvPr>
          <p:cNvSpPr txBox="1"/>
          <p:nvPr/>
        </p:nvSpPr>
        <p:spPr>
          <a:xfrm>
            <a:off x="4499671" y="2036542"/>
            <a:ext cx="7383466" cy="367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dirty="0"/>
              <a:t>Soit une fonction à une dimension définie par N échantillons équidistants se trouvant dans un tableau ‘tab’. On suppose que la fonction est unimodale (croissante puis décroissante) (Voir figure). On voudrait déterminer l’échantillon qui donne sa valeur maximale. </a:t>
            </a:r>
          </a:p>
          <a:p>
            <a:pPr marL="457200" lvl="0" indent="-457200" algn="just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fr-FR" sz="2400" dirty="0"/>
              <a:t>Ecrire un algorithme récursif permettant de déterminer l’élément du tableau X contenant l’échantillon maximal selon le paradigme « diviser pour régner ». </a:t>
            </a:r>
          </a:p>
          <a:p>
            <a:pPr marL="457200" lvl="0" indent="-457200" algn="just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fr-FR" sz="2400" dirty="0"/>
              <a:t>Estimer sa complexité en terme de comparaisons.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4FAF2C16-E68C-4608-9CF6-87DA692A42A5}"/>
              </a:ext>
            </a:extLst>
          </p:cNvPr>
          <p:cNvSpPr txBox="1"/>
          <p:nvPr/>
        </p:nvSpPr>
        <p:spPr>
          <a:xfrm>
            <a:off x="501112" y="5385231"/>
            <a:ext cx="573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tab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xmlns="" id="{707EA708-83F7-4418-908B-B10BBF84BD8A}"/>
              </a:ext>
            </a:extLst>
          </p:cNvPr>
          <p:cNvCxnSpPr>
            <a:cxnSpLocks/>
          </p:cNvCxnSpPr>
          <p:nvPr/>
        </p:nvCxnSpPr>
        <p:spPr>
          <a:xfrm flipH="1">
            <a:off x="1146873" y="2867186"/>
            <a:ext cx="99189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lipse 47">
            <a:extLst>
              <a:ext uri="{FF2B5EF4-FFF2-40B4-BE49-F238E27FC236}">
                <a16:creationId xmlns:a16="http://schemas.microsoft.com/office/drawing/2014/main" xmlns="" id="{1AD68AD1-5035-4C93-87D8-A1342BD35269}"/>
              </a:ext>
            </a:extLst>
          </p:cNvPr>
          <p:cNvSpPr/>
          <p:nvPr/>
        </p:nvSpPr>
        <p:spPr>
          <a:xfrm>
            <a:off x="1805549" y="5220301"/>
            <a:ext cx="1064216" cy="6479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xmlns="" id="{99A09A03-B474-431C-9D83-A848972017C0}"/>
              </a:ext>
            </a:extLst>
          </p:cNvPr>
          <p:cNvSpPr txBox="1"/>
          <p:nvPr/>
        </p:nvSpPr>
        <p:spPr>
          <a:xfrm>
            <a:off x="382285" y="2681386"/>
            <a:ext cx="76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FF0000"/>
                </a:solidFill>
              </a:rPr>
              <a:t>max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xmlns="" id="{EA432EC5-D6D7-4301-9AD5-79B086EB1DDD}"/>
              </a:ext>
            </a:extLst>
          </p:cNvPr>
          <p:cNvSpPr txBox="1"/>
          <p:nvPr/>
        </p:nvSpPr>
        <p:spPr>
          <a:xfrm>
            <a:off x="2058807" y="5911807"/>
            <a:ext cx="76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FF0000"/>
                </a:solidFill>
              </a:rPr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247924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17320219-8CDC-444A-A1C5-9723C09AFFD9}"/>
              </a:ext>
            </a:extLst>
          </p:cNvPr>
          <p:cNvSpPr/>
          <p:nvPr/>
        </p:nvSpPr>
        <p:spPr>
          <a:xfrm>
            <a:off x="6493790" y="4150182"/>
            <a:ext cx="3280474" cy="96883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/>
          </a:p>
          <a:p>
            <a:pPr algn="ctr"/>
            <a:r>
              <a:rPr lang="fr-FR" sz="2000" b="1" dirty="0"/>
              <a:t>Condition d’arrêt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xmlns="" id="{2E126411-658B-4B59-BF91-C507AEDC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2.2. Ex3-TD3 : Recherche du maximum d’une fonction unimodale</a:t>
            </a:r>
            <a:endParaRPr lang="fr-FR" dirty="0"/>
          </a:p>
        </p:txBody>
      </p:sp>
      <p:graphicFrame>
        <p:nvGraphicFramePr>
          <p:cNvPr id="15" name="Tableau 15">
            <a:extLst>
              <a:ext uri="{FF2B5EF4-FFF2-40B4-BE49-F238E27FC236}">
                <a16:creationId xmlns:a16="http://schemas.microsoft.com/office/drawing/2014/main" xmlns="" id="{1AC33D9C-6600-4DF3-AEFD-FB53612952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775544"/>
              </p:ext>
            </p:extLst>
          </p:nvPr>
        </p:nvGraphicFramePr>
        <p:xfrm>
          <a:off x="1087280" y="5407909"/>
          <a:ext cx="27076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xmlns="" val="170636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6534550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7962688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5761034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8849160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8551862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3951643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2977831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9099680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4219294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33772919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4604824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49536565"/>
                    </a:ext>
                  </a:extLst>
                </a:gridCol>
              </a:tblGrid>
              <a:tr h="36510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50144257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D0B4D5F3-07A9-4689-A6EC-212D95A4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6CB1089A-3192-4B4F-82CC-C088B259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8</a:t>
            </a:fld>
            <a:endParaRPr lang="fr-FR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xmlns="" id="{519627F3-837D-4671-A348-53832E6A4744}"/>
              </a:ext>
            </a:extLst>
          </p:cNvPr>
          <p:cNvCxnSpPr/>
          <p:nvPr/>
        </p:nvCxnSpPr>
        <p:spPr>
          <a:xfrm>
            <a:off x="1115878" y="4850970"/>
            <a:ext cx="3099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xmlns="" id="{92C9DF75-CDFF-425B-87E1-A063BE56C266}"/>
              </a:ext>
            </a:extLst>
          </p:cNvPr>
          <p:cNvCxnSpPr/>
          <p:nvPr/>
        </p:nvCxnSpPr>
        <p:spPr>
          <a:xfrm flipV="1">
            <a:off x="1131376" y="2526224"/>
            <a:ext cx="0" cy="2309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xmlns="" id="{EA82950B-E32C-404C-B30D-9CF77287BC32}"/>
              </a:ext>
            </a:extLst>
          </p:cNvPr>
          <p:cNvSpPr/>
          <p:nvPr/>
        </p:nvSpPr>
        <p:spPr>
          <a:xfrm>
            <a:off x="1146875" y="2861894"/>
            <a:ext cx="2495227" cy="1989075"/>
          </a:xfrm>
          <a:custGeom>
            <a:avLst/>
            <a:gdLst>
              <a:gd name="connsiteX0" fmla="*/ 0 w 2495227"/>
              <a:gd name="connsiteY0" fmla="*/ 1989075 h 1989075"/>
              <a:gd name="connsiteX1" fmla="*/ 991891 w 2495227"/>
              <a:gd name="connsiteY1" fmla="*/ 5292 h 1989075"/>
              <a:gd name="connsiteX2" fmla="*/ 2138766 w 2495227"/>
              <a:gd name="connsiteY2" fmla="*/ 1415638 h 1989075"/>
              <a:gd name="connsiteX3" fmla="*/ 2448732 w 2495227"/>
              <a:gd name="connsiteY3" fmla="*/ 1679109 h 1989075"/>
              <a:gd name="connsiteX4" fmla="*/ 2448732 w 2495227"/>
              <a:gd name="connsiteY4" fmla="*/ 1679109 h 1989075"/>
              <a:gd name="connsiteX5" fmla="*/ 2495227 w 2495227"/>
              <a:gd name="connsiteY5" fmla="*/ 1710106 h 198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5227" h="1989075">
                <a:moveTo>
                  <a:pt x="0" y="1989075"/>
                </a:moveTo>
                <a:cubicBezTo>
                  <a:pt x="317715" y="1044970"/>
                  <a:pt x="635430" y="100865"/>
                  <a:pt x="991891" y="5292"/>
                </a:cubicBezTo>
                <a:cubicBezTo>
                  <a:pt x="1348352" y="-90281"/>
                  <a:pt x="1895959" y="1136669"/>
                  <a:pt x="2138766" y="1415638"/>
                </a:cubicBezTo>
                <a:cubicBezTo>
                  <a:pt x="2381573" y="1694607"/>
                  <a:pt x="2448732" y="1679109"/>
                  <a:pt x="2448732" y="1679109"/>
                </a:cubicBezTo>
                <a:lnTo>
                  <a:pt x="2448732" y="1679109"/>
                </a:lnTo>
                <a:lnTo>
                  <a:pt x="2495227" y="171010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A19E812D-C1C0-41DF-9C1D-9CC31CC2550D}"/>
              </a:ext>
            </a:extLst>
          </p:cNvPr>
          <p:cNvSpPr txBox="1"/>
          <p:nvPr/>
        </p:nvSpPr>
        <p:spPr>
          <a:xfrm>
            <a:off x="4215539" y="4850969"/>
            <a:ext cx="35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6859CE83-3746-4700-B1D5-A27AB98ABCC5}"/>
              </a:ext>
            </a:extLst>
          </p:cNvPr>
          <p:cNvSpPr txBox="1"/>
          <p:nvPr/>
        </p:nvSpPr>
        <p:spPr>
          <a:xfrm>
            <a:off x="573438" y="2341558"/>
            <a:ext cx="573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f(x)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xmlns="" id="{B6B0B6BD-CF99-4100-ADEE-9892ACA1A075}"/>
              </a:ext>
            </a:extLst>
          </p:cNvPr>
          <p:cNvCxnSpPr>
            <a:cxnSpLocks/>
          </p:cNvCxnSpPr>
          <p:nvPr/>
        </p:nvCxnSpPr>
        <p:spPr>
          <a:xfrm flipV="1">
            <a:off x="1193367" y="4757981"/>
            <a:ext cx="2" cy="648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xmlns="" id="{4A541F21-3CEC-4D00-8989-CD35E9EEC5CA}"/>
              </a:ext>
            </a:extLst>
          </p:cNvPr>
          <p:cNvCxnSpPr>
            <a:cxnSpLocks/>
          </p:cNvCxnSpPr>
          <p:nvPr/>
        </p:nvCxnSpPr>
        <p:spPr>
          <a:xfrm flipV="1">
            <a:off x="1392262" y="4184543"/>
            <a:ext cx="0" cy="121885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xmlns="" id="{9AEF4A87-3AA3-4A4A-B3EE-277C197E0265}"/>
              </a:ext>
            </a:extLst>
          </p:cNvPr>
          <p:cNvCxnSpPr>
            <a:cxnSpLocks/>
          </p:cNvCxnSpPr>
          <p:nvPr/>
        </p:nvCxnSpPr>
        <p:spPr>
          <a:xfrm flipV="1">
            <a:off x="1606654" y="3595607"/>
            <a:ext cx="0" cy="1807794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xmlns="" id="{671B884C-BB11-449D-844C-3A5841718470}"/>
              </a:ext>
            </a:extLst>
          </p:cNvPr>
          <p:cNvCxnSpPr>
            <a:cxnSpLocks/>
          </p:cNvCxnSpPr>
          <p:nvPr/>
        </p:nvCxnSpPr>
        <p:spPr>
          <a:xfrm flipV="1">
            <a:off x="1805549" y="3280646"/>
            <a:ext cx="0" cy="212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xmlns="" id="{6CA4AF02-5DEB-4AE5-BCAF-5C4A7C315F0A}"/>
              </a:ext>
            </a:extLst>
          </p:cNvPr>
          <p:cNvCxnSpPr>
            <a:cxnSpLocks/>
          </p:cNvCxnSpPr>
          <p:nvPr/>
        </p:nvCxnSpPr>
        <p:spPr>
          <a:xfrm flipV="1">
            <a:off x="2004444" y="2937100"/>
            <a:ext cx="0" cy="248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xmlns="" id="{A73B76D1-C215-4A69-AE1F-888835B42B70}"/>
              </a:ext>
            </a:extLst>
          </p:cNvPr>
          <p:cNvCxnSpPr>
            <a:cxnSpLocks/>
          </p:cNvCxnSpPr>
          <p:nvPr/>
        </p:nvCxnSpPr>
        <p:spPr>
          <a:xfrm flipV="1">
            <a:off x="2218837" y="2861894"/>
            <a:ext cx="0" cy="2556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xmlns="" id="{990B2ADE-7FD0-4BC4-A1B0-32E3D3367C9F}"/>
              </a:ext>
            </a:extLst>
          </p:cNvPr>
          <p:cNvCxnSpPr>
            <a:cxnSpLocks/>
          </p:cNvCxnSpPr>
          <p:nvPr/>
        </p:nvCxnSpPr>
        <p:spPr>
          <a:xfrm flipV="1">
            <a:off x="2417733" y="2937100"/>
            <a:ext cx="0" cy="248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xmlns="" id="{2EE57534-BCFD-4FB3-A20B-8375518BCA9C}"/>
              </a:ext>
            </a:extLst>
          </p:cNvPr>
          <p:cNvCxnSpPr>
            <a:cxnSpLocks/>
          </p:cNvCxnSpPr>
          <p:nvPr/>
        </p:nvCxnSpPr>
        <p:spPr>
          <a:xfrm flipV="1">
            <a:off x="2632125" y="3244480"/>
            <a:ext cx="0" cy="2160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xmlns="" id="{2903D895-1BF9-453C-9082-F125FA04CCAB}"/>
              </a:ext>
            </a:extLst>
          </p:cNvPr>
          <p:cNvCxnSpPr>
            <a:cxnSpLocks/>
          </p:cNvCxnSpPr>
          <p:nvPr/>
        </p:nvCxnSpPr>
        <p:spPr>
          <a:xfrm flipV="1">
            <a:off x="2862015" y="3613852"/>
            <a:ext cx="0" cy="1800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xmlns="" id="{89A15437-52B3-4653-995B-4B3B9D756902}"/>
              </a:ext>
            </a:extLst>
          </p:cNvPr>
          <p:cNvCxnSpPr>
            <a:cxnSpLocks/>
          </p:cNvCxnSpPr>
          <p:nvPr/>
        </p:nvCxnSpPr>
        <p:spPr>
          <a:xfrm flipV="1">
            <a:off x="3076408" y="3973669"/>
            <a:ext cx="0" cy="1440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xmlns="" id="{AD9EC0F9-E00B-47B5-B8DC-5D6121CA662D}"/>
              </a:ext>
            </a:extLst>
          </p:cNvPr>
          <p:cNvCxnSpPr>
            <a:cxnSpLocks/>
          </p:cNvCxnSpPr>
          <p:nvPr/>
        </p:nvCxnSpPr>
        <p:spPr>
          <a:xfrm flipV="1">
            <a:off x="3259804" y="4216431"/>
            <a:ext cx="0" cy="122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xmlns="" id="{1884AECF-8A6A-4673-B493-DAC2DD6D63F8}"/>
              </a:ext>
            </a:extLst>
          </p:cNvPr>
          <p:cNvCxnSpPr>
            <a:cxnSpLocks/>
          </p:cNvCxnSpPr>
          <p:nvPr/>
        </p:nvCxnSpPr>
        <p:spPr>
          <a:xfrm flipV="1">
            <a:off x="3443201" y="4430825"/>
            <a:ext cx="0" cy="1008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xmlns="" id="{B048ECF7-AE44-4F62-B4B0-70DC599B4D23}"/>
              </a:ext>
            </a:extLst>
          </p:cNvPr>
          <p:cNvCxnSpPr>
            <a:cxnSpLocks/>
          </p:cNvCxnSpPr>
          <p:nvPr/>
        </p:nvCxnSpPr>
        <p:spPr>
          <a:xfrm flipV="1">
            <a:off x="3642102" y="4521231"/>
            <a:ext cx="0" cy="86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xmlns="" id="{97DCF458-AAD6-42CD-804D-FD9CF5C98FC0}"/>
              </a:ext>
            </a:extLst>
          </p:cNvPr>
          <p:cNvSpPr txBox="1"/>
          <p:nvPr/>
        </p:nvSpPr>
        <p:spPr>
          <a:xfrm>
            <a:off x="6095999" y="2150164"/>
            <a:ext cx="38771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Partie ascendante</a:t>
            </a:r>
          </a:p>
          <a:p>
            <a:r>
              <a:rPr lang="fr-FR" sz="2400" i="1" dirty="0">
                <a:solidFill>
                  <a:srgbClr val="FF0000"/>
                </a:solidFill>
              </a:rPr>
              <a:t>      f(x)&gt;f(x-1) et f(x)&lt;f(x+1)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xmlns="" id="{03FBEDF5-4B0C-4CB2-851E-16D930EBE871}"/>
              </a:ext>
            </a:extLst>
          </p:cNvPr>
          <p:cNvSpPr txBox="1"/>
          <p:nvPr/>
        </p:nvSpPr>
        <p:spPr>
          <a:xfrm>
            <a:off x="6096000" y="2972212"/>
            <a:ext cx="3678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Partie descendante</a:t>
            </a:r>
          </a:p>
          <a:p>
            <a:r>
              <a:rPr lang="fr-FR" sz="2400" i="1" dirty="0">
                <a:solidFill>
                  <a:srgbClr val="FF0000"/>
                </a:solidFill>
              </a:rPr>
              <a:t>     f(x)&lt;f(x-1) et f(x)&gt;f(x+1)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xmlns="" id="{AE8B4E30-D4AD-41A4-B50D-640F2CAD51E0}"/>
              </a:ext>
            </a:extLst>
          </p:cNvPr>
          <p:cNvSpPr txBox="1"/>
          <p:nvPr/>
        </p:nvSpPr>
        <p:spPr>
          <a:xfrm>
            <a:off x="6096000" y="3856431"/>
            <a:ext cx="3678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Au maximum</a:t>
            </a:r>
          </a:p>
          <a:p>
            <a:r>
              <a:rPr lang="fr-FR" sz="2400" i="1" dirty="0">
                <a:solidFill>
                  <a:srgbClr val="FF0000"/>
                </a:solidFill>
              </a:rPr>
              <a:t>     max&gt;f(x-1) et max&gt;f(x+1)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xmlns="" id="{7B6C24C4-236A-4245-94DF-94D4338ECC3B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146873" y="2867186"/>
            <a:ext cx="99189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llipse 41">
            <a:extLst>
              <a:ext uri="{FF2B5EF4-FFF2-40B4-BE49-F238E27FC236}">
                <a16:creationId xmlns:a16="http://schemas.microsoft.com/office/drawing/2014/main" xmlns="" id="{4E7C533D-940E-4129-9287-96B61547700B}"/>
              </a:ext>
            </a:extLst>
          </p:cNvPr>
          <p:cNvSpPr/>
          <p:nvPr/>
        </p:nvSpPr>
        <p:spPr>
          <a:xfrm>
            <a:off x="1805549" y="5220301"/>
            <a:ext cx="1064216" cy="6479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xmlns="" id="{1CE959C2-D840-4B34-86CE-84221752828F}"/>
              </a:ext>
            </a:extLst>
          </p:cNvPr>
          <p:cNvSpPr txBox="1"/>
          <p:nvPr/>
        </p:nvSpPr>
        <p:spPr>
          <a:xfrm>
            <a:off x="382285" y="2681386"/>
            <a:ext cx="76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FF0000"/>
                </a:solidFill>
              </a:rPr>
              <a:t>max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xmlns="" id="{53228F89-2822-49F2-8D21-18C9B63A409C}"/>
              </a:ext>
            </a:extLst>
          </p:cNvPr>
          <p:cNvSpPr txBox="1"/>
          <p:nvPr/>
        </p:nvSpPr>
        <p:spPr>
          <a:xfrm>
            <a:off x="2058807" y="5911807"/>
            <a:ext cx="76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FF0000"/>
                </a:solidFill>
              </a:rPr>
              <a:t>max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xmlns="" id="{3988F2C7-B496-4BB9-B270-A50334F5E006}"/>
              </a:ext>
            </a:extLst>
          </p:cNvPr>
          <p:cNvSpPr/>
          <p:nvPr/>
        </p:nvSpPr>
        <p:spPr>
          <a:xfrm>
            <a:off x="1575658" y="3595607"/>
            <a:ext cx="45719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xmlns="" id="{8130AAF9-016E-4422-BFD1-BF98DDA9661C}"/>
              </a:ext>
            </a:extLst>
          </p:cNvPr>
          <p:cNvSpPr/>
          <p:nvPr/>
        </p:nvSpPr>
        <p:spPr>
          <a:xfrm flipV="1">
            <a:off x="1774552" y="3237343"/>
            <a:ext cx="61982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xmlns="" id="{FFCC2811-09B6-487F-846E-045F824A0508}"/>
              </a:ext>
            </a:extLst>
          </p:cNvPr>
          <p:cNvSpPr/>
          <p:nvPr/>
        </p:nvSpPr>
        <p:spPr>
          <a:xfrm>
            <a:off x="1371593" y="4104463"/>
            <a:ext cx="45719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xmlns="" id="{05476605-CCA6-4CE4-87BF-6F44A211B234}"/>
              </a:ext>
            </a:extLst>
          </p:cNvPr>
          <p:cNvSpPr txBox="1"/>
          <p:nvPr/>
        </p:nvSpPr>
        <p:spPr>
          <a:xfrm>
            <a:off x="688809" y="2959241"/>
            <a:ext cx="1276888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i="1" dirty="0"/>
              <a:t>       f(x+1)</a:t>
            </a:r>
          </a:p>
          <a:p>
            <a:pPr>
              <a:lnSpc>
                <a:spcPct val="150000"/>
              </a:lnSpc>
            </a:pPr>
            <a:r>
              <a:rPr lang="fr-FR" i="1" dirty="0"/>
              <a:t>      f(x)</a:t>
            </a:r>
          </a:p>
          <a:p>
            <a:pPr>
              <a:lnSpc>
                <a:spcPct val="150000"/>
              </a:lnSpc>
            </a:pPr>
            <a:r>
              <a:rPr lang="fr-FR" i="1" dirty="0"/>
              <a:t>f(x-1)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xmlns="" id="{4553D321-9FDE-4DAA-A7A8-558D626247AD}"/>
              </a:ext>
            </a:extLst>
          </p:cNvPr>
          <p:cNvSpPr/>
          <p:nvPr/>
        </p:nvSpPr>
        <p:spPr>
          <a:xfrm flipV="1">
            <a:off x="2190425" y="2847305"/>
            <a:ext cx="61982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xmlns="" id="{B1ED6383-088F-434F-9284-ADF1EA108042}"/>
              </a:ext>
            </a:extLst>
          </p:cNvPr>
          <p:cNvSpPr/>
          <p:nvPr/>
        </p:nvSpPr>
        <p:spPr>
          <a:xfrm flipV="1">
            <a:off x="1973446" y="2955793"/>
            <a:ext cx="61982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xmlns="" id="{83B47C6A-00BF-4361-B3A7-2E515416602C}"/>
              </a:ext>
            </a:extLst>
          </p:cNvPr>
          <p:cNvSpPr/>
          <p:nvPr/>
        </p:nvSpPr>
        <p:spPr>
          <a:xfrm flipV="1">
            <a:off x="2391898" y="2940288"/>
            <a:ext cx="61982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xmlns="" id="{D71D460F-79F9-42F5-AB9F-B4DCCD3D057B}"/>
              </a:ext>
            </a:extLst>
          </p:cNvPr>
          <p:cNvSpPr/>
          <p:nvPr/>
        </p:nvSpPr>
        <p:spPr>
          <a:xfrm>
            <a:off x="2841247" y="3575731"/>
            <a:ext cx="45719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xmlns="" id="{BFBEB959-91B8-441B-ACCF-F97ABB467E22}"/>
              </a:ext>
            </a:extLst>
          </p:cNvPr>
          <p:cNvSpPr/>
          <p:nvPr/>
        </p:nvSpPr>
        <p:spPr>
          <a:xfrm flipV="1">
            <a:off x="2616068" y="3217467"/>
            <a:ext cx="61982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xmlns="" id="{7FC3ABE2-FC8F-4913-A48C-80BD26B77714}"/>
              </a:ext>
            </a:extLst>
          </p:cNvPr>
          <p:cNvSpPr/>
          <p:nvPr/>
        </p:nvSpPr>
        <p:spPr>
          <a:xfrm>
            <a:off x="3047997" y="3978571"/>
            <a:ext cx="45719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xmlns="" id="{B8EC91F4-301E-4FB7-9136-36630E4609AC}"/>
              </a:ext>
            </a:extLst>
          </p:cNvPr>
          <p:cNvSpPr txBox="1"/>
          <p:nvPr/>
        </p:nvSpPr>
        <p:spPr>
          <a:xfrm>
            <a:off x="2626940" y="2874401"/>
            <a:ext cx="1474941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i="1" dirty="0"/>
              <a:t>f(x-1)</a:t>
            </a:r>
          </a:p>
          <a:p>
            <a:pPr>
              <a:lnSpc>
                <a:spcPct val="150000"/>
              </a:lnSpc>
            </a:pPr>
            <a:r>
              <a:rPr lang="fr-FR" i="1" dirty="0"/>
              <a:t>      f(x)</a:t>
            </a:r>
          </a:p>
          <a:p>
            <a:pPr>
              <a:lnSpc>
                <a:spcPct val="150000"/>
              </a:lnSpc>
            </a:pPr>
            <a:r>
              <a:rPr lang="fr-FR" i="1" dirty="0"/>
              <a:t>           f(x+1)</a:t>
            </a:r>
          </a:p>
        </p:txBody>
      </p:sp>
    </p:spTree>
    <p:extLst>
      <p:ext uri="{BB962C8B-B14F-4D97-AF65-F5344CB8AC3E}">
        <p14:creationId xmlns:p14="http://schemas.microsoft.com/office/powerpoint/2010/main" val="1972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34" grpId="0"/>
      <p:bldP spid="36" grpId="0"/>
      <p:bldP spid="38" grpId="0"/>
      <p:bldP spid="42" grpId="0" animBg="1"/>
      <p:bldP spid="44" grpId="0"/>
      <p:bldP spid="46" grpId="0"/>
      <p:bldP spid="47" grpId="0" animBg="1"/>
      <p:bldP spid="47" grpId="1" animBg="1"/>
      <p:bldP spid="49" grpId="0" animBg="1"/>
      <p:bldP spid="49" grpId="1" animBg="1"/>
      <p:bldP spid="51" grpId="0" animBg="1"/>
      <p:bldP spid="51" grpId="1" animBg="1"/>
      <p:bldP spid="52" grpId="0"/>
      <p:bldP spid="52" grpId="1"/>
      <p:bldP spid="53" grpId="0" animBg="1"/>
      <p:bldP spid="54" grpId="0" animBg="1"/>
      <p:bldP spid="55" grpId="0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/>
      <p:bldP spid="5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E126411-658B-4B59-BF91-C507AEDC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2.2. Ex3-TD3 : Recherche du maximum d’une fonction unimodale</a:t>
            </a:r>
            <a:endParaRPr lang="fr-FR" dirty="0"/>
          </a:p>
        </p:txBody>
      </p:sp>
      <p:graphicFrame>
        <p:nvGraphicFramePr>
          <p:cNvPr id="15" name="Tableau 15">
            <a:extLst>
              <a:ext uri="{FF2B5EF4-FFF2-40B4-BE49-F238E27FC236}">
                <a16:creationId xmlns:a16="http://schemas.microsoft.com/office/drawing/2014/main" xmlns="" id="{1AC33D9C-6600-4DF3-AEFD-FB53612952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87280" y="5407909"/>
          <a:ext cx="27076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xmlns="" val="170636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6534550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7962688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5761034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8849160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8551862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3951643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2977831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9099680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4219294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33772919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14604824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49536565"/>
                    </a:ext>
                  </a:extLst>
                </a:gridCol>
              </a:tblGrid>
              <a:tr h="36510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50144257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D0B4D5F3-07A9-4689-A6EC-212D95A4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6CB1089A-3192-4B4F-82CC-C088B259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9</a:t>
            </a:fld>
            <a:endParaRPr lang="fr-FR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xmlns="" id="{519627F3-837D-4671-A348-53832E6A4744}"/>
              </a:ext>
            </a:extLst>
          </p:cNvPr>
          <p:cNvCxnSpPr/>
          <p:nvPr/>
        </p:nvCxnSpPr>
        <p:spPr>
          <a:xfrm>
            <a:off x="1115878" y="4850970"/>
            <a:ext cx="3099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xmlns="" id="{92C9DF75-CDFF-425B-87E1-A063BE56C266}"/>
              </a:ext>
            </a:extLst>
          </p:cNvPr>
          <p:cNvCxnSpPr/>
          <p:nvPr/>
        </p:nvCxnSpPr>
        <p:spPr>
          <a:xfrm flipV="1">
            <a:off x="1131376" y="2526224"/>
            <a:ext cx="0" cy="2309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xmlns="" id="{EA82950B-E32C-404C-B30D-9CF77287BC32}"/>
              </a:ext>
            </a:extLst>
          </p:cNvPr>
          <p:cNvSpPr/>
          <p:nvPr/>
        </p:nvSpPr>
        <p:spPr>
          <a:xfrm>
            <a:off x="1146875" y="2861894"/>
            <a:ext cx="2495227" cy="1989075"/>
          </a:xfrm>
          <a:custGeom>
            <a:avLst/>
            <a:gdLst>
              <a:gd name="connsiteX0" fmla="*/ 0 w 2495227"/>
              <a:gd name="connsiteY0" fmla="*/ 1989075 h 1989075"/>
              <a:gd name="connsiteX1" fmla="*/ 991891 w 2495227"/>
              <a:gd name="connsiteY1" fmla="*/ 5292 h 1989075"/>
              <a:gd name="connsiteX2" fmla="*/ 2138766 w 2495227"/>
              <a:gd name="connsiteY2" fmla="*/ 1415638 h 1989075"/>
              <a:gd name="connsiteX3" fmla="*/ 2448732 w 2495227"/>
              <a:gd name="connsiteY3" fmla="*/ 1679109 h 1989075"/>
              <a:gd name="connsiteX4" fmla="*/ 2448732 w 2495227"/>
              <a:gd name="connsiteY4" fmla="*/ 1679109 h 1989075"/>
              <a:gd name="connsiteX5" fmla="*/ 2495227 w 2495227"/>
              <a:gd name="connsiteY5" fmla="*/ 1710106 h 198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5227" h="1989075">
                <a:moveTo>
                  <a:pt x="0" y="1989075"/>
                </a:moveTo>
                <a:cubicBezTo>
                  <a:pt x="317715" y="1044970"/>
                  <a:pt x="635430" y="100865"/>
                  <a:pt x="991891" y="5292"/>
                </a:cubicBezTo>
                <a:cubicBezTo>
                  <a:pt x="1348352" y="-90281"/>
                  <a:pt x="1895959" y="1136669"/>
                  <a:pt x="2138766" y="1415638"/>
                </a:cubicBezTo>
                <a:cubicBezTo>
                  <a:pt x="2381573" y="1694607"/>
                  <a:pt x="2448732" y="1679109"/>
                  <a:pt x="2448732" y="1679109"/>
                </a:cubicBezTo>
                <a:lnTo>
                  <a:pt x="2448732" y="1679109"/>
                </a:lnTo>
                <a:lnTo>
                  <a:pt x="2495227" y="171010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A19E812D-C1C0-41DF-9C1D-9CC31CC2550D}"/>
              </a:ext>
            </a:extLst>
          </p:cNvPr>
          <p:cNvSpPr txBox="1"/>
          <p:nvPr/>
        </p:nvSpPr>
        <p:spPr>
          <a:xfrm>
            <a:off x="4215539" y="4850969"/>
            <a:ext cx="35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6859CE83-3746-4700-B1D5-A27AB98ABCC5}"/>
              </a:ext>
            </a:extLst>
          </p:cNvPr>
          <p:cNvSpPr txBox="1"/>
          <p:nvPr/>
        </p:nvSpPr>
        <p:spPr>
          <a:xfrm>
            <a:off x="573438" y="2341558"/>
            <a:ext cx="573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f(x)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xmlns="" id="{B6B0B6BD-CF99-4100-ADEE-9892ACA1A075}"/>
              </a:ext>
            </a:extLst>
          </p:cNvPr>
          <p:cNvCxnSpPr>
            <a:cxnSpLocks/>
          </p:cNvCxnSpPr>
          <p:nvPr/>
        </p:nvCxnSpPr>
        <p:spPr>
          <a:xfrm flipV="1">
            <a:off x="1193367" y="4757981"/>
            <a:ext cx="2" cy="648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xmlns="" id="{4A541F21-3CEC-4D00-8989-CD35E9EEC5CA}"/>
              </a:ext>
            </a:extLst>
          </p:cNvPr>
          <p:cNvCxnSpPr>
            <a:cxnSpLocks/>
          </p:cNvCxnSpPr>
          <p:nvPr/>
        </p:nvCxnSpPr>
        <p:spPr>
          <a:xfrm flipV="1">
            <a:off x="1392262" y="4184543"/>
            <a:ext cx="0" cy="121885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xmlns="" id="{9AEF4A87-3AA3-4A4A-B3EE-277C197E0265}"/>
              </a:ext>
            </a:extLst>
          </p:cNvPr>
          <p:cNvCxnSpPr>
            <a:cxnSpLocks/>
          </p:cNvCxnSpPr>
          <p:nvPr/>
        </p:nvCxnSpPr>
        <p:spPr>
          <a:xfrm flipV="1">
            <a:off x="1606654" y="3595607"/>
            <a:ext cx="0" cy="1807794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xmlns="" id="{671B884C-BB11-449D-844C-3A5841718470}"/>
              </a:ext>
            </a:extLst>
          </p:cNvPr>
          <p:cNvCxnSpPr>
            <a:cxnSpLocks/>
          </p:cNvCxnSpPr>
          <p:nvPr/>
        </p:nvCxnSpPr>
        <p:spPr>
          <a:xfrm flipV="1">
            <a:off x="1805549" y="3280646"/>
            <a:ext cx="0" cy="212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xmlns="" id="{6CA4AF02-5DEB-4AE5-BCAF-5C4A7C315F0A}"/>
              </a:ext>
            </a:extLst>
          </p:cNvPr>
          <p:cNvCxnSpPr>
            <a:cxnSpLocks/>
          </p:cNvCxnSpPr>
          <p:nvPr/>
        </p:nvCxnSpPr>
        <p:spPr>
          <a:xfrm flipV="1">
            <a:off x="2004444" y="2937100"/>
            <a:ext cx="0" cy="248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xmlns="" id="{A73B76D1-C215-4A69-AE1F-888835B42B70}"/>
              </a:ext>
            </a:extLst>
          </p:cNvPr>
          <p:cNvCxnSpPr>
            <a:cxnSpLocks/>
          </p:cNvCxnSpPr>
          <p:nvPr/>
        </p:nvCxnSpPr>
        <p:spPr>
          <a:xfrm flipV="1">
            <a:off x="2218837" y="2861894"/>
            <a:ext cx="0" cy="2556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xmlns="" id="{990B2ADE-7FD0-4BC4-A1B0-32E3D3367C9F}"/>
              </a:ext>
            </a:extLst>
          </p:cNvPr>
          <p:cNvCxnSpPr>
            <a:cxnSpLocks/>
          </p:cNvCxnSpPr>
          <p:nvPr/>
        </p:nvCxnSpPr>
        <p:spPr>
          <a:xfrm flipV="1">
            <a:off x="2417733" y="2937100"/>
            <a:ext cx="0" cy="248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xmlns="" id="{2EE57534-BCFD-4FB3-A20B-8375518BCA9C}"/>
              </a:ext>
            </a:extLst>
          </p:cNvPr>
          <p:cNvCxnSpPr>
            <a:cxnSpLocks/>
          </p:cNvCxnSpPr>
          <p:nvPr/>
        </p:nvCxnSpPr>
        <p:spPr>
          <a:xfrm flipV="1">
            <a:off x="2632125" y="3244480"/>
            <a:ext cx="0" cy="2160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xmlns="" id="{2903D895-1BF9-453C-9082-F125FA04CCAB}"/>
              </a:ext>
            </a:extLst>
          </p:cNvPr>
          <p:cNvCxnSpPr>
            <a:cxnSpLocks/>
          </p:cNvCxnSpPr>
          <p:nvPr/>
        </p:nvCxnSpPr>
        <p:spPr>
          <a:xfrm flipV="1">
            <a:off x="2862015" y="3613852"/>
            <a:ext cx="0" cy="1800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xmlns="" id="{89A15437-52B3-4653-995B-4B3B9D756902}"/>
              </a:ext>
            </a:extLst>
          </p:cNvPr>
          <p:cNvCxnSpPr>
            <a:cxnSpLocks/>
          </p:cNvCxnSpPr>
          <p:nvPr/>
        </p:nvCxnSpPr>
        <p:spPr>
          <a:xfrm flipV="1">
            <a:off x="3076408" y="3973669"/>
            <a:ext cx="0" cy="1440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xmlns="" id="{AD9EC0F9-E00B-47B5-B8DC-5D6121CA662D}"/>
              </a:ext>
            </a:extLst>
          </p:cNvPr>
          <p:cNvCxnSpPr>
            <a:cxnSpLocks/>
          </p:cNvCxnSpPr>
          <p:nvPr/>
        </p:nvCxnSpPr>
        <p:spPr>
          <a:xfrm flipV="1">
            <a:off x="3259804" y="4216431"/>
            <a:ext cx="0" cy="122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xmlns="" id="{1884AECF-8A6A-4673-B493-DAC2DD6D63F8}"/>
              </a:ext>
            </a:extLst>
          </p:cNvPr>
          <p:cNvCxnSpPr>
            <a:cxnSpLocks/>
          </p:cNvCxnSpPr>
          <p:nvPr/>
        </p:nvCxnSpPr>
        <p:spPr>
          <a:xfrm flipV="1">
            <a:off x="3443201" y="4430825"/>
            <a:ext cx="0" cy="1008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xmlns="" id="{B048ECF7-AE44-4F62-B4B0-70DC599B4D23}"/>
              </a:ext>
            </a:extLst>
          </p:cNvPr>
          <p:cNvCxnSpPr>
            <a:cxnSpLocks/>
          </p:cNvCxnSpPr>
          <p:nvPr/>
        </p:nvCxnSpPr>
        <p:spPr>
          <a:xfrm flipV="1">
            <a:off x="3642102" y="4521231"/>
            <a:ext cx="0" cy="864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xmlns="" id="{7B6C24C4-236A-4245-94DF-94D4338ECC3B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146873" y="2867186"/>
            <a:ext cx="99189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llipse 41">
            <a:extLst>
              <a:ext uri="{FF2B5EF4-FFF2-40B4-BE49-F238E27FC236}">
                <a16:creationId xmlns:a16="http://schemas.microsoft.com/office/drawing/2014/main" xmlns="" id="{4E7C533D-940E-4129-9287-96B61547700B}"/>
              </a:ext>
            </a:extLst>
          </p:cNvPr>
          <p:cNvSpPr/>
          <p:nvPr/>
        </p:nvSpPr>
        <p:spPr>
          <a:xfrm>
            <a:off x="1805549" y="5220301"/>
            <a:ext cx="1064216" cy="6479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xmlns="" id="{1CE959C2-D840-4B34-86CE-84221752828F}"/>
              </a:ext>
            </a:extLst>
          </p:cNvPr>
          <p:cNvSpPr txBox="1"/>
          <p:nvPr/>
        </p:nvSpPr>
        <p:spPr>
          <a:xfrm>
            <a:off x="382285" y="2681386"/>
            <a:ext cx="76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FF0000"/>
                </a:solidFill>
              </a:rPr>
              <a:t>max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xmlns="" id="{53228F89-2822-49F2-8D21-18C9B63A409C}"/>
              </a:ext>
            </a:extLst>
          </p:cNvPr>
          <p:cNvSpPr txBox="1"/>
          <p:nvPr/>
        </p:nvSpPr>
        <p:spPr>
          <a:xfrm>
            <a:off x="2058807" y="5911807"/>
            <a:ext cx="76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FF0000"/>
                </a:solidFill>
              </a:rPr>
              <a:t>max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xmlns="" id="{3988F2C7-B496-4BB9-B270-A50334F5E006}"/>
              </a:ext>
            </a:extLst>
          </p:cNvPr>
          <p:cNvSpPr/>
          <p:nvPr/>
        </p:nvSpPr>
        <p:spPr>
          <a:xfrm>
            <a:off x="1575658" y="3595607"/>
            <a:ext cx="45719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xmlns="" id="{8130AAF9-016E-4422-BFD1-BF98DDA9661C}"/>
              </a:ext>
            </a:extLst>
          </p:cNvPr>
          <p:cNvSpPr/>
          <p:nvPr/>
        </p:nvSpPr>
        <p:spPr>
          <a:xfrm flipV="1">
            <a:off x="1774552" y="3237343"/>
            <a:ext cx="61982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xmlns="" id="{FFCC2811-09B6-487F-846E-045F824A0508}"/>
              </a:ext>
            </a:extLst>
          </p:cNvPr>
          <p:cNvSpPr/>
          <p:nvPr/>
        </p:nvSpPr>
        <p:spPr>
          <a:xfrm>
            <a:off x="1371593" y="4104463"/>
            <a:ext cx="45719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xmlns="" id="{05476605-CCA6-4CE4-87BF-6F44A211B234}"/>
              </a:ext>
            </a:extLst>
          </p:cNvPr>
          <p:cNvSpPr txBox="1"/>
          <p:nvPr/>
        </p:nvSpPr>
        <p:spPr>
          <a:xfrm>
            <a:off x="688809" y="2959241"/>
            <a:ext cx="1276888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i="1" dirty="0"/>
              <a:t>       f(x+1)</a:t>
            </a:r>
          </a:p>
          <a:p>
            <a:pPr>
              <a:lnSpc>
                <a:spcPct val="150000"/>
              </a:lnSpc>
            </a:pPr>
            <a:r>
              <a:rPr lang="fr-FR" i="1" dirty="0"/>
              <a:t>      f(x)</a:t>
            </a:r>
          </a:p>
          <a:p>
            <a:pPr>
              <a:lnSpc>
                <a:spcPct val="150000"/>
              </a:lnSpc>
            </a:pPr>
            <a:r>
              <a:rPr lang="fr-FR" i="1" dirty="0"/>
              <a:t>f(x-1)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xmlns="" id="{4553D321-9FDE-4DAA-A7A8-558D626247AD}"/>
              </a:ext>
            </a:extLst>
          </p:cNvPr>
          <p:cNvSpPr/>
          <p:nvPr/>
        </p:nvSpPr>
        <p:spPr>
          <a:xfrm flipV="1">
            <a:off x="2190425" y="2847305"/>
            <a:ext cx="61982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xmlns="" id="{B1ED6383-088F-434F-9284-ADF1EA108042}"/>
              </a:ext>
            </a:extLst>
          </p:cNvPr>
          <p:cNvSpPr/>
          <p:nvPr/>
        </p:nvSpPr>
        <p:spPr>
          <a:xfrm flipV="1">
            <a:off x="1973446" y="2955793"/>
            <a:ext cx="61982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xmlns="" id="{83B47C6A-00BF-4361-B3A7-2E515416602C}"/>
              </a:ext>
            </a:extLst>
          </p:cNvPr>
          <p:cNvSpPr/>
          <p:nvPr/>
        </p:nvSpPr>
        <p:spPr>
          <a:xfrm flipV="1">
            <a:off x="2391898" y="2940288"/>
            <a:ext cx="61982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xmlns="" id="{D71D460F-79F9-42F5-AB9F-B4DCCD3D057B}"/>
              </a:ext>
            </a:extLst>
          </p:cNvPr>
          <p:cNvSpPr/>
          <p:nvPr/>
        </p:nvSpPr>
        <p:spPr>
          <a:xfrm>
            <a:off x="2841247" y="3575731"/>
            <a:ext cx="45719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xmlns="" id="{BFBEB959-91B8-441B-ACCF-F97ABB467E22}"/>
              </a:ext>
            </a:extLst>
          </p:cNvPr>
          <p:cNvSpPr/>
          <p:nvPr/>
        </p:nvSpPr>
        <p:spPr>
          <a:xfrm flipV="1">
            <a:off x="2616068" y="3217467"/>
            <a:ext cx="61982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xmlns="" id="{7FC3ABE2-FC8F-4913-A48C-80BD26B77714}"/>
              </a:ext>
            </a:extLst>
          </p:cNvPr>
          <p:cNvSpPr/>
          <p:nvPr/>
        </p:nvSpPr>
        <p:spPr>
          <a:xfrm>
            <a:off x="3047997" y="3978571"/>
            <a:ext cx="45719" cy="4571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xmlns="" id="{B8EC91F4-301E-4FB7-9136-36630E4609AC}"/>
              </a:ext>
            </a:extLst>
          </p:cNvPr>
          <p:cNvSpPr txBox="1"/>
          <p:nvPr/>
        </p:nvSpPr>
        <p:spPr>
          <a:xfrm>
            <a:off x="2626940" y="2874401"/>
            <a:ext cx="1358578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i="1" dirty="0"/>
              <a:t>f(x-1)</a:t>
            </a:r>
          </a:p>
          <a:p>
            <a:pPr>
              <a:lnSpc>
                <a:spcPct val="150000"/>
              </a:lnSpc>
            </a:pPr>
            <a:r>
              <a:rPr lang="fr-FR" i="1" dirty="0"/>
              <a:t>      f(x)</a:t>
            </a:r>
          </a:p>
          <a:p>
            <a:pPr>
              <a:lnSpc>
                <a:spcPct val="150000"/>
              </a:lnSpc>
            </a:pPr>
            <a:r>
              <a:rPr lang="fr-FR" i="1" dirty="0"/>
              <a:t>           f(x+1)</a:t>
            </a:r>
          </a:p>
        </p:txBody>
      </p:sp>
      <p:sp>
        <p:nvSpPr>
          <p:cNvPr id="43" name="Espace réservé du contenu 2">
            <a:extLst>
              <a:ext uri="{FF2B5EF4-FFF2-40B4-BE49-F238E27FC236}">
                <a16:creationId xmlns:a16="http://schemas.microsoft.com/office/drawing/2014/main" xmlns="" id="{84324EA1-6D56-41E9-A07A-78DEBD018BAE}"/>
              </a:ext>
            </a:extLst>
          </p:cNvPr>
          <p:cNvSpPr txBox="1">
            <a:spLocks/>
          </p:cNvSpPr>
          <p:nvPr/>
        </p:nvSpPr>
        <p:spPr>
          <a:xfrm>
            <a:off x="4453943" y="1825625"/>
            <a:ext cx="77115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 </a:t>
            </a:r>
            <a:r>
              <a:rPr lang="fr-FR" dirty="0" err="1"/>
              <a:t>int</a:t>
            </a:r>
            <a:r>
              <a:rPr lang="fr-FR" dirty="0"/>
              <a:t> </a:t>
            </a:r>
            <a:r>
              <a:rPr lang="fr-FR" dirty="0" err="1"/>
              <a:t>maxf</a:t>
            </a:r>
            <a:r>
              <a:rPr lang="fr-FR" dirty="0"/>
              <a:t>(</a:t>
            </a:r>
            <a:r>
              <a:rPr lang="fr-FR" dirty="0" err="1"/>
              <a:t>int</a:t>
            </a:r>
            <a:r>
              <a:rPr lang="fr-FR" dirty="0"/>
              <a:t> tab [], </a:t>
            </a:r>
            <a:r>
              <a:rPr lang="fr-FR" dirty="0" err="1"/>
              <a:t>int</a:t>
            </a:r>
            <a:r>
              <a:rPr lang="fr-FR" dirty="0"/>
              <a:t> </a:t>
            </a:r>
            <a:r>
              <a:rPr lang="fr-FR" dirty="0" err="1"/>
              <a:t>left</a:t>
            </a:r>
            <a:r>
              <a:rPr lang="fr-FR" dirty="0"/>
              <a:t>, </a:t>
            </a:r>
            <a:r>
              <a:rPr lang="fr-FR" dirty="0" err="1"/>
              <a:t>int</a:t>
            </a:r>
            <a:r>
              <a:rPr lang="fr-FR" dirty="0"/>
              <a:t> right)</a:t>
            </a:r>
          </a:p>
          <a:p>
            <a:pPr marL="0" indent="0">
              <a:buNone/>
            </a:pPr>
            <a:r>
              <a:rPr lang="fr-FR" dirty="0"/>
              <a:t>{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/>
              <a:t>int</a:t>
            </a:r>
            <a:r>
              <a:rPr lang="fr-FR" dirty="0"/>
              <a:t> m=(</a:t>
            </a:r>
            <a:r>
              <a:rPr lang="fr-FR" dirty="0" err="1"/>
              <a:t>right+left</a:t>
            </a:r>
            <a:r>
              <a:rPr lang="fr-FR" dirty="0"/>
              <a:t>)/2;</a:t>
            </a:r>
          </a:p>
          <a:p>
            <a:pPr marL="0" indent="0">
              <a:buNone/>
            </a:pPr>
            <a:r>
              <a:rPr lang="fr-FR" dirty="0"/>
              <a:t>	if(tab[m]&gt;tab[m+1] &amp;&amp; tab[m]&gt;tab[m-1])</a:t>
            </a:r>
          </a:p>
          <a:p>
            <a:pPr marL="0" indent="0">
              <a:buNone/>
            </a:pPr>
            <a:r>
              <a:rPr lang="fr-FR" dirty="0"/>
              <a:t>		return tab[m];</a:t>
            </a:r>
          </a:p>
          <a:p>
            <a:pPr marL="0" indent="0">
              <a:buNone/>
            </a:pPr>
            <a:r>
              <a:rPr lang="fr-FR" dirty="0"/>
              <a:t>	if (tab[m]&gt;tab[m+1]) </a:t>
            </a:r>
            <a:r>
              <a:rPr lang="fr-FR" dirty="0">
                <a:solidFill>
                  <a:srgbClr val="00B0F0"/>
                </a:solidFill>
              </a:rPr>
              <a:t>// partie descendante</a:t>
            </a:r>
          </a:p>
          <a:p>
            <a:pPr marL="0" indent="0">
              <a:buNone/>
            </a:pPr>
            <a:r>
              <a:rPr lang="fr-FR" dirty="0"/>
              <a:t>		return </a:t>
            </a:r>
            <a:r>
              <a:rPr lang="fr-FR" dirty="0" err="1"/>
              <a:t>maxf</a:t>
            </a:r>
            <a:r>
              <a:rPr lang="fr-FR" dirty="0"/>
              <a:t>(</a:t>
            </a:r>
            <a:r>
              <a:rPr lang="fr-FR" dirty="0" err="1"/>
              <a:t>tab,left,m</a:t>
            </a:r>
            <a:r>
              <a:rPr lang="fr-FR" dirty="0"/>
              <a:t>);</a:t>
            </a:r>
          </a:p>
          <a:p>
            <a:pPr marL="0" indent="0">
              <a:buNone/>
            </a:pPr>
            <a:r>
              <a:rPr lang="fr-FR" dirty="0"/>
              <a:t>	return </a:t>
            </a:r>
            <a:r>
              <a:rPr lang="fr-FR" dirty="0" err="1"/>
              <a:t>maxf</a:t>
            </a:r>
            <a:r>
              <a:rPr lang="fr-FR" dirty="0"/>
              <a:t>(tab,m+1,right); </a:t>
            </a:r>
            <a:r>
              <a:rPr lang="fr-FR" dirty="0">
                <a:solidFill>
                  <a:srgbClr val="00B0F0"/>
                </a:solidFill>
              </a:rPr>
              <a:t>// partie ascendante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E386D7C-8FC9-4583-8EAA-5C4063DACF29}"/>
              </a:ext>
            </a:extLst>
          </p:cNvPr>
          <p:cNvSpPr/>
          <p:nvPr/>
        </p:nvSpPr>
        <p:spPr>
          <a:xfrm>
            <a:off x="6943241" y="5773669"/>
            <a:ext cx="2357029" cy="5774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/>
              <a:t>C(n)=c(n/2)+3</a:t>
            </a:r>
          </a:p>
        </p:txBody>
      </p:sp>
    </p:spTree>
    <p:extLst>
      <p:ext uri="{BB962C8B-B14F-4D97-AF65-F5344CB8AC3E}">
        <p14:creationId xmlns:p14="http://schemas.microsoft.com/office/powerpoint/2010/main" val="148463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3. Résolution des récurrences « diviser pour régner »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>
                <a:solidFill>
                  <a:srgbClr val="0070C0"/>
                </a:solidFill>
              </a:rPr>
              <a:t>Théorème 1 (Résolution des récurrences « diviser pour régner »)</a:t>
            </a:r>
          </a:p>
          <a:p>
            <a:r>
              <a:rPr lang="fr-FR" i="1" dirty="0"/>
              <a:t>Soient a </a:t>
            </a:r>
            <a:r>
              <a:rPr lang="fr-FR" dirty="0"/>
              <a:t>&gt;=1 </a:t>
            </a:r>
            <a:r>
              <a:rPr lang="fr-FR" i="1" dirty="0"/>
              <a:t>et b </a:t>
            </a:r>
            <a:r>
              <a:rPr lang="fr-FR" dirty="0"/>
              <a:t>&gt; 1 </a:t>
            </a:r>
            <a:r>
              <a:rPr lang="fr-FR" i="1" dirty="0"/>
              <a:t>deux constantes, </a:t>
            </a:r>
          </a:p>
          <a:p>
            <a:pPr>
              <a:buNone/>
            </a:pPr>
            <a:r>
              <a:rPr lang="fr-FR" i="1" dirty="0"/>
              <a:t>	soit f </a:t>
            </a:r>
            <a:r>
              <a:rPr lang="fr-FR" dirty="0"/>
              <a:t>(</a:t>
            </a:r>
            <a:r>
              <a:rPr lang="fr-FR" i="1" dirty="0"/>
              <a:t>n</a:t>
            </a:r>
            <a:r>
              <a:rPr lang="fr-FR" dirty="0"/>
              <a:t>) </a:t>
            </a:r>
            <a:r>
              <a:rPr lang="fr-FR" i="1" dirty="0"/>
              <a:t>une fonction et soit T</a:t>
            </a:r>
            <a:r>
              <a:rPr lang="fr-FR" dirty="0"/>
              <a:t>(</a:t>
            </a:r>
            <a:r>
              <a:rPr lang="fr-FR" i="1" dirty="0"/>
              <a:t>n</a:t>
            </a:r>
            <a:r>
              <a:rPr lang="fr-FR" dirty="0"/>
              <a:t>) </a:t>
            </a:r>
            <a:r>
              <a:rPr lang="fr-FR" i="1" dirty="0"/>
              <a:t>une fonction définie pour les entiers positifs par la récurrence :</a:t>
            </a:r>
          </a:p>
          <a:p>
            <a:endParaRPr lang="fr-FR" i="1" dirty="0"/>
          </a:p>
          <a:p>
            <a:r>
              <a:rPr lang="fr-FR" i="1" dirty="0"/>
              <a:t>T</a:t>
            </a:r>
            <a:r>
              <a:rPr lang="fr-FR" dirty="0"/>
              <a:t>(</a:t>
            </a:r>
            <a:r>
              <a:rPr lang="fr-FR" i="1" dirty="0"/>
              <a:t>n</a:t>
            </a:r>
            <a:r>
              <a:rPr lang="fr-FR" dirty="0"/>
              <a:t>) </a:t>
            </a:r>
            <a:r>
              <a:rPr lang="fr-FR" i="1" dirty="0"/>
              <a:t>peut alors être bornée asymptotiquement comme suit : 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98314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470" y="4773767"/>
            <a:ext cx="7370021" cy="2084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5406693" y="3421795"/>
          <a:ext cx="4105798" cy="571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1" name="Equation" r:id="rId4" imgW="1460160" imgH="203040" progId="">
                  <p:embed/>
                </p:oleObj>
              </mc:Choice>
              <mc:Fallback>
                <p:oleObj name="Equation" r:id="rId4" imgW="1460160" imgH="203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6693" y="3421795"/>
                        <a:ext cx="4105798" cy="571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009525"/>
              </p:ext>
            </p:extLst>
          </p:nvPr>
        </p:nvGraphicFramePr>
        <p:xfrm>
          <a:off x="9477915" y="1153339"/>
          <a:ext cx="2602653" cy="1005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2" name="Equation" r:id="rId6" imgW="1117600" imgH="431800" progId="">
                  <p:embed/>
                </p:oleObj>
              </mc:Choice>
              <mc:Fallback>
                <p:oleObj name="Equation" r:id="rId6" imgW="1117600" imgH="431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915" y="1153339"/>
                        <a:ext cx="2602653" cy="100557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326338"/>
              </p:ext>
            </p:extLst>
          </p:nvPr>
        </p:nvGraphicFramePr>
        <p:xfrm>
          <a:off x="9477915" y="2464689"/>
          <a:ext cx="2187787" cy="858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3" name="Equation" r:id="rId8" imgW="1091726" imgH="431613" progId="">
                  <p:embed/>
                </p:oleObj>
              </mc:Choice>
              <mc:Fallback>
                <p:oleObj name="Equation" r:id="rId8" imgW="1091726" imgH="43161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915" y="2464689"/>
                        <a:ext cx="2187787" cy="858909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897054"/>
              </p:ext>
            </p:extLst>
          </p:nvPr>
        </p:nvGraphicFramePr>
        <p:xfrm>
          <a:off x="9477915" y="3629378"/>
          <a:ext cx="2714085" cy="811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4" name="Equation" r:id="rId10" imgW="1435100" imgH="431800" progId="">
                  <p:embed/>
                </p:oleObj>
              </mc:Choice>
              <mc:Fallback>
                <p:oleObj name="Equation" r:id="rId10" imgW="1435100" imgH="431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915" y="3629378"/>
                        <a:ext cx="2714085" cy="811106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3. Résolution des récurrences « diviser pour régner »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dirty="0">
                <a:solidFill>
                  <a:srgbClr val="0070C0"/>
                </a:solidFill>
              </a:rPr>
              <a:t>Version-2 du théorème</a:t>
            </a:r>
          </a:p>
          <a:p>
            <a:pPr>
              <a:buNone/>
            </a:pPr>
            <a:r>
              <a:rPr lang="fr-FR" dirty="0"/>
              <a:t>                                              OU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b="1" i="1" dirty="0"/>
          </a:p>
          <a:p>
            <a:endParaRPr lang="fr-FR" b="1" i="1" dirty="0"/>
          </a:p>
          <a:p>
            <a:pPr>
              <a:buNone/>
            </a:pPr>
            <a:r>
              <a:rPr lang="fr-FR" b="1" i="1" dirty="0">
                <a:solidFill>
                  <a:srgbClr val="00B050"/>
                </a:solidFill>
              </a:rPr>
              <a:t>Signification intuitive du théorème </a:t>
            </a:r>
            <a:endParaRPr lang="fr-FR" dirty="0">
              <a:solidFill>
                <a:srgbClr val="00B050"/>
              </a:solidFill>
            </a:endParaRPr>
          </a:p>
          <a:p>
            <a:r>
              <a:rPr lang="fr-FR" dirty="0"/>
              <a:t>Dans chaque cas, on compare                                          . La solution de la récurrence est déterminée par la plus grande des deux.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97281" name="Object 1"/>
          <p:cNvGraphicFramePr>
            <a:graphicFrameLocks noChangeAspect="1"/>
          </p:cNvGraphicFramePr>
          <p:nvPr/>
        </p:nvGraphicFramePr>
        <p:xfrm>
          <a:off x="1151467" y="2260600"/>
          <a:ext cx="286802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3" name="Equation" r:id="rId3" imgW="1459866" imgH="203112" progId="">
                  <p:embed/>
                </p:oleObj>
              </mc:Choice>
              <mc:Fallback>
                <p:oleObj name="Equation" r:id="rId3" imgW="1459866" imgH="203112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467" y="2260600"/>
                        <a:ext cx="2868023" cy="406400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5026634" y="2240281"/>
          <a:ext cx="2933938" cy="433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4" name="Equation" r:id="rId5" imgW="1397000" imgH="228600" progId="">
                  <p:embed/>
                </p:oleObj>
              </mc:Choice>
              <mc:Fallback>
                <p:oleObj name="Equation" r:id="rId5" imgW="1397000" imgH="2286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634" y="2240281"/>
                        <a:ext cx="2933938" cy="433282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7291" name="Picture 1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927915" y="2941320"/>
            <a:ext cx="7093319" cy="1399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7293" name="Rectangle 1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97292" name="Object 12"/>
          <p:cNvGraphicFramePr>
            <a:graphicFrameLocks noChangeAspect="1"/>
          </p:cNvGraphicFramePr>
          <p:nvPr/>
        </p:nvGraphicFramePr>
        <p:xfrm>
          <a:off x="5503332" y="5334000"/>
          <a:ext cx="2473287" cy="430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5" name="Equation" r:id="rId8" imgW="1308100" imgH="228600" progId="">
                  <p:embed/>
                </p:oleObj>
              </mc:Choice>
              <mc:Fallback>
                <p:oleObj name="Equation" r:id="rId8" imgW="1308100" imgH="2286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3332" y="5334000"/>
                        <a:ext cx="2473287" cy="430741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3.1. Eexemple1 : multiplication naïve de matrices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08668"/>
            <a:ext cx="7152861" cy="479213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1800" dirty="0"/>
              <a:t>Nous nous intéressons ici à la multiplication de matrices carrées de taille </a:t>
            </a:r>
            <a:r>
              <a:rPr lang="fr-FR" sz="1800" i="1" dirty="0"/>
              <a:t>n</a:t>
            </a:r>
            <a:r>
              <a:rPr lang="fr-FR" sz="1800" dirty="0"/>
              <a:t>.</a:t>
            </a:r>
          </a:p>
          <a:p>
            <a:pPr>
              <a:buNone/>
            </a:pPr>
            <a:r>
              <a:rPr lang="fr-FR" sz="2400" b="1" dirty="0">
                <a:solidFill>
                  <a:srgbClr val="002060"/>
                </a:solidFill>
              </a:rPr>
              <a:t>Algorithme naïf</a:t>
            </a:r>
          </a:p>
          <a:p>
            <a:pPr>
              <a:buNone/>
            </a:pPr>
            <a:r>
              <a:rPr lang="fr-FR" sz="1800" dirty="0"/>
              <a:t>- L’algorithme classique est le suivant :</a:t>
            </a:r>
          </a:p>
          <a:p>
            <a:pPr>
              <a:buFont typeface="Wingdings" pitchFamily="2" charset="2"/>
              <a:buChar char="Ø"/>
            </a:pPr>
            <a:r>
              <a:rPr lang="fr-FR" sz="1800" dirty="0"/>
              <a:t>Soit </a:t>
            </a:r>
            <a:r>
              <a:rPr lang="fr-FR" sz="1800" i="1" dirty="0"/>
              <a:t>n </a:t>
            </a:r>
            <a:r>
              <a:rPr lang="fr-FR" sz="1800" dirty="0"/>
              <a:t>la taille des matrices carrés </a:t>
            </a:r>
            <a:r>
              <a:rPr lang="fr-FR" sz="1800" i="1" dirty="0"/>
              <a:t>A </a:t>
            </a:r>
            <a:r>
              <a:rPr lang="fr-FR" sz="1800" dirty="0"/>
              <a:t>et </a:t>
            </a:r>
            <a:r>
              <a:rPr lang="fr-FR" sz="1800" i="1" dirty="0"/>
              <a:t>B</a:t>
            </a:r>
            <a:endParaRPr lang="fr-FR" sz="1800" dirty="0"/>
          </a:p>
          <a:p>
            <a:pPr>
              <a:buFont typeface="Wingdings" pitchFamily="2" charset="2"/>
              <a:buChar char="Ø"/>
            </a:pPr>
            <a:r>
              <a:rPr lang="fr-FR" sz="1800" dirty="0"/>
              <a:t>Soit </a:t>
            </a:r>
            <a:r>
              <a:rPr lang="fr-FR" sz="1800" i="1" dirty="0"/>
              <a:t>C </a:t>
            </a:r>
            <a:r>
              <a:rPr lang="fr-FR" sz="1800" dirty="0"/>
              <a:t>une matrice carrée de taille </a:t>
            </a:r>
            <a:r>
              <a:rPr lang="fr-FR" sz="1800" i="1" dirty="0"/>
              <a:t>n</a:t>
            </a:r>
            <a:endParaRPr lang="fr-FR" sz="1800" dirty="0"/>
          </a:p>
          <a:p>
            <a:pPr lvl="2">
              <a:buNone/>
            </a:pPr>
            <a:r>
              <a:rPr lang="en-GB" sz="1800" b="1" dirty="0"/>
              <a:t>Multiplier</a:t>
            </a:r>
            <a:r>
              <a:rPr lang="en-GB" sz="1800" dirty="0"/>
              <a:t> (</a:t>
            </a:r>
            <a:r>
              <a:rPr lang="en-GB" sz="1800" i="1" dirty="0"/>
              <a:t>A</a:t>
            </a:r>
            <a:r>
              <a:rPr lang="en-GB" sz="1800" dirty="0"/>
              <a:t>, </a:t>
            </a:r>
            <a:r>
              <a:rPr lang="en-GB" sz="1800" i="1" dirty="0"/>
              <a:t>B,C</a:t>
            </a:r>
            <a:r>
              <a:rPr lang="en-GB" sz="1800" dirty="0"/>
              <a:t>)</a:t>
            </a:r>
            <a:endParaRPr lang="fr-FR" sz="1800" dirty="0"/>
          </a:p>
          <a:p>
            <a:pPr lvl="2">
              <a:buNone/>
            </a:pPr>
            <a:r>
              <a:rPr lang="en-GB" sz="1800" dirty="0"/>
              <a:t>For </a:t>
            </a:r>
            <a:r>
              <a:rPr lang="en-GB" sz="1800" dirty="0" err="1"/>
              <a:t>i</a:t>
            </a:r>
            <a:r>
              <a:rPr lang="en-GB" sz="1800" dirty="0"/>
              <a:t> = 1 to n do</a:t>
            </a:r>
            <a:endParaRPr lang="fr-FR" sz="1800" dirty="0"/>
          </a:p>
          <a:p>
            <a:pPr lvl="2">
              <a:buNone/>
            </a:pPr>
            <a:r>
              <a:rPr lang="en-GB" sz="1800" dirty="0"/>
              <a:t>	For j=1 to n do</a:t>
            </a:r>
            <a:endParaRPr lang="fr-FR" sz="1800" dirty="0"/>
          </a:p>
          <a:p>
            <a:pPr lvl="2">
              <a:buNone/>
            </a:pPr>
            <a:r>
              <a:rPr lang="en-GB" sz="1800" dirty="0"/>
              <a:t>		C(</a:t>
            </a:r>
            <a:r>
              <a:rPr lang="en-GB" sz="1800" dirty="0" err="1"/>
              <a:t>i,j</a:t>
            </a:r>
            <a:r>
              <a:rPr lang="en-GB" sz="1800" dirty="0"/>
              <a:t>)=0</a:t>
            </a:r>
            <a:endParaRPr lang="fr-FR" sz="1800" dirty="0"/>
          </a:p>
          <a:p>
            <a:pPr lvl="2">
              <a:buNone/>
            </a:pPr>
            <a:r>
              <a:rPr lang="en-GB" sz="1800" dirty="0"/>
              <a:t>		For k=1 to n do</a:t>
            </a:r>
            <a:endParaRPr lang="fr-FR" sz="1800" dirty="0"/>
          </a:p>
          <a:p>
            <a:pPr lvl="2">
              <a:buNone/>
            </a:pPr>
            <a:r>
              <a:rPr lang="en-GB" sz="1800" dirty="0"/>
              <a:t>			C(</a:t>
            </a:r>
            <a:r>
              <a:rPr lang="en-GB" sz="1800" dirty="0" err="1"/>
              <a:t>i,j</a:t>
            </a:r>
            <a:r>
              <a:rPr lang="en-GB" sz="1800" dirty="0"/>
              <a:t>)= C(</a:t>
            </a:r>
            <a:r>
              <a:rPr lang="en-GB" sz="1800" dirty="0" err="1"/>
              <a:t>i,j</a:t>
            </a:r>
            <a:r>
              <a:rPr lang="en-GB" sz="1800" dirty="0"/>
              <a:t>) +A(</a:t>
            </a:r>
            <a:r>
              <a:rPr lang="en-GB" sz="1800" dirty="0" err="1"/>
              <a:t>i,k</a:t>
            </a:r>
            <a:r>
              <a:rPr lang="en-GB" sz="1800" dirty="0"/>
              <a:t>)*B(</a:t>
            </a:r>
            <a:r>
              <a:rPr lang="en-GB" sz="1800" dirty="0" err="1"/>
              <a:t>k,j</a:t>
            </a:r>
            <a:r>
              <a:rPr lang="en-GB" sz="1800" dirty="0"/>
              <a:t>)</a:t>
            </a:r>
          </a:p>
          <a:p>
            <a:pPr lvl="2">
              <a:buNone/>
            </a:pPr>
            <a:r>
              <a:rPr lang="en-GB" sz="1800" dirty="0"/>
              <a:t>		End for</a:t>
            </a:r>
          </a:p>
          <a:p>
            <a:pPr lvl="2">
              <a:buNone/>
            </a:pPr>
            <a:r>
              <a:rPr lang="en-GB" sz="1800" dirty="0"/>
              <a:t>	End for</a:t>
            </a:r>
          </a:p>
          <a:p>
            <a:pPr lvl="2">
              <a:buNone/>
            </a:pPr>
            <a:r>
              <a:rPr lang="en-GB" sz="1800" dirty="0"/>
              <a:t>End for</a:t>
            </a:r>
            <a:endParaRPr lang="fr-FR" sz="1800" dirty="0"/>
          </a:p>
          <a:p>
            <a:pPr lvl="2">
              <a:buNone/>
            </a:pPr>
            <a:r>
              <a:rPr lang="fr-FR" sz="1800" b="1" dirty="0" err="1"/>
              <a:t>End_Multiplier</a:t>
            </a:r>
            <a:endParaRPr lang="fr-FR" sz="1800" b="1" dirty="0"/>
          </a:p>
          <a:p>
            <a:pPr>
              <a:buNone/>
            </a:pPr>
            <a:r>
              <a:rPr lang="fr-FR" sz="1800" dirty="0"/>
              <a:t> 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F4E9ADB1-C291-49FE-8A21-2E9ABE0CD035}"/>
              </a:ext>
            </a:extLst>
          </p:cNvPr>
          <p:cNvSpPr txBox="1"/>
          <p:nvPr/>
        </p:nvSpPr>
        <p:spPr>
          <a:xfrm>
            <a:off x="7198532" y="4447617"/>
            <a:ext cx="4556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70C0"/>
                </a:solidFill>
              </a:rPr>
              <a:t>Cet algorithme effectue </a:t>
            </a:r>
            <a:r>
              <a:rPr lang="fr-FR" sz="1800" b="1" dirty="0">
                <a:solidFill>
                  <a:srgbClr val="0070C0"/>
                </a:solidFill>
              </a:rPr>
              <a:t>O(</a:t>
            </a:r>
            <a:r>
              <a:rPr lang="fr-FR" sz="1800" b="1" i="1" dirty="0">
                <a:solidFill>
                  <a:srgbClr val="0070C0"/>
                </a:solidFill>
              </a:rPr>
              <a:t>n</a:t>
            </a:r>
            <a:r>
              <a:rPr lang="fr-FR" sz="1800" b="1" baseline="30000" dirty="0">
                <a:solidFill>
                  <a:srgbClr val="0070C0"/>
                </a:solidFill>
              </a:rPr>
              <a:t>3</a:t>
            </a:r>
            <a:r>
              <a:rPr lang="fr-FR" sz="1800" b="1" dirty="0">
                <a:solidFill>
                  <a:srgbClr val="0070C0"/>
                </a:solidFill>
              </a:rPr>
              <a:t>) </a:t>
            </a:r>
            <a:r>
              <a:rPr lang="fr-FR" sz="1800" dirty="0">
                <a:solidFill>
                  <a:srgbClr val="0070C0"/>
                </a:solidFill>
              </a:rPr>
              <a:t>multiplications </a:t>
            </a:r>
          </a:p>
          <a:p>
            <a:r>
              <a:rPr lang="fr-FR" sz="1800" dirty="0">
                <a:solidFill>
                  <a:srgbClr val="0070C0"/>
                </a:solidFill>
              </a:rPr>
              <a:t>et autant d’additions.</a:t>
            </a:r>
            <a:endParaRPr lang="fr-FR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3.1. Eexemple1 : multiplication naïve de matrices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507067"/>
            <a:ext cx="10515600" cy="48768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fr-FR" sz="3400" b="1" dirty="0">
                <a:solidFill>
                  <a:srgbClr val="002060"/>
                </a:solidFill>
              </a:rPr>
              <a:t>Algorithme « diviser pour régner » naïf</a:t>
            </a:r>
            <a:endParaRPr lang="fr-FR" sz="3400" dirty="0"/>
          </a:p>
          <a:p>
            <a:r>
              <a:rPr lang="fr-FR" dirty="0"/>
              <a:t>Dans la suite nous supposerons que </a:t>
            </a:r>
            <a:r>
              <a:rPr lang="fr-FR" i="1" dirty="0"/>
              <a:t>n </a:t>
            </a:r>
            <a:r>
              <a:rPr lang="fr-FR" dirty="0"/>
              <a:t>est une puissance de 2. Décomposons les matrices </a:t>
            </a:r>
            <a:r>
              <a:rPr lang="fr-FR" i="1" dirty="0"/>
              <a:t>A</a:t>
            </a:r>
            <a:r>
              <a:rPr lang="fr-FR" dirty="0"/>
              <a:t>, </a:t>
            </a:r>
            <a:r>
              <a:rPr lang="fr-FR" i="1" dirty="0"/>
              <a:t>B </a:t>
            </a:r>
            <a:r>
              <a:rPr lang="fr-FR" dirty="0"/>
              <a:t>et </a:t>
            </a:r>
            <a:r>
              <a:rPr lang="fr-FR" i="1" dirty="0"/>
              <a:t>C </a:t>
            </a:r>
            <a:r>
              <a:rPr lang="fr-FR" dirty="0"/>
              <a:t>en sous-matrices de taille </a:t>
            </a:r>
            <a:r>
              <a:rPr lang="fr-FR" i="1" dirty="0"/>
              <a:t>n</a:t>
            </a:r>
            <a:r>
              <a:rPr lang="fr-FR" dirty="0"/>
              <a:t>/2 x </a:t>
            </a:r>
            <a:r>
              <a:rPr lang="fr-FR" i="1" dirty="0"/>
              <a:t>n</a:t>
            </a:r>
            <a:r>
              <a:rPr lang="fr-FR" dirty="0"/>
              <a:t>/2. L’équation </a:t>
            </a:r>
            <a:r>
              <a:rPr lang="fr-FR" i="1" dirty="0"/>
              <a:t>C </a:t>
            </a:r>
            <a:r>
              <a:rPr lang="fr-FR" dirty="0"/>
              <a:t>= </a:t>
            </a:r>
            <a:r>
              <a:rPr lang="fr-FR" i="1" dirty="0"/>
              <a:t>AB </a:t>
            </a:r>
            <a:r>
              <a:rPr lang="fr-FR" dirty="0"/>
              <a:t>peut alors se récrire :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En développant cette équation, nous obtenons :</a:t>
            </a:r>
          </a:p>
          <a:p>
            <a:pPr>
              <a:buNone/>
            </a:pPr>
            <a:r>
              <a:rPr lang="fr-FR" i="1" dirty="0"/>
              <a:t>	r </a:t>
            </a:r>
            <a:r>
              <a:rPr lang="fr-FR" dirty="0"/>
              <a:t>= </a:t>
            </a:r>
            <a:r>
              <a:rPr lang="fr-FR" i="1" dirty="0" err="1"/>
              <a:t>ae</a:t>
            </a:r>
            <a:r>
              <a:rPr lang="fr-FR" dirty="0"/>
              <a:t>+</a:t>
            </a:r>
            <a:r>
              <a:rPr lang="fr-FR" i="1" dirty="0" err="1"/>
              <a:t>bf</a:t>
            </a:r>
            <a:r>
              <a:rPr lang="fr-FR" i="1" dirty="0"/>
              <a:t> </a:t>
            </a:r>
            <a:r>
              <a:rPr lang="fr-FR" dirty="0"/>
              <a:t>; 		</a:t>
            </a:r>
            <a:r>
              <a:rPr lang="fr-FR" i="1" dirty="0"/>
              <a:t>s </a:t>
            </a:r>
            <a:r>
              <a:rPr lang="fr-FR" dirty="0"/>
              <a:t>= </a:t>
            </a:r>
            <a:r>
              <a:rPr lang="fr-FR" i="1" dirty="0"/>
              <a:t>ag</a:t>
            </a:r>
            <a:r>
              <a:rPr lang="fr-FR" dirty="0"/>
              <a:t>+</a:t>
            </a:r>
            <a:r>
              <a:rPr lang="fr-FR" i="1" dirty="0" err="1"/>
              <a:t>bh</a:t>
            </a:r>
            <a:r>
              <a:rPr lang="fr-FR" dirty="0"/>
              <a:t>; 		</a:t>
            </a:r>
            <a:r>
              <a:rPr lang="fr-FR" i="1" dirty="0"/>
              <a:t>t </a:t>
            </a:r>
            <a:r>
              <a:rPr lang="fr-FR" dirty="0"/>
              <a:t>= </a:t>
            </a:r>
            <a:r>
              <a:rPr lang="fr-FR" i="1" dirty="0"/>
              <a:t>ce</a:t>
            </a:r>
            <a:r>
              <a:rPr lang="fr-FR" dirty="0"/>
              <a:t>+</a:t>
            </a:r>
            <a:r>
              <a:rPr lang="fr-FR" i="1" dirty="0" err="1"/>
              <a:t>df</a:t>
            </a:r>
            <a:r>
              <a:rPr lang="fr-FR" i="1" dirty="0"/>
              <a:t> 	</a:t>
            </a:r>
            <a:r>
              <a:rPr lang="fr-FR" dirty="0"/>
              <a:t>et 	</a:t>
            </a:r>
            <a:r>
              <a:rPr lang="fr-FR" i="1" dirty="0"/>
              <a:t>u </a:t>
            </a:r>
            <a:r>
              <a:rPr lang="fr-FR" dirty="0"/>
              <a:t>= </a:t>
            </a:r>
            <a:r>
              <a:rPr lang="fr-FR" i="1" dirty="0"/>
              <a:t>cg</a:t>
            </a:r>
            <a:r>
              <a:rPr lang="fr-FR" dirty="0"/>
              <a:t>+</a:t>
            </a:r>
            <a:r>
              <a:rPr lang="fr-FR" i="1" dirty="0" err="1"/>
              <a:t>dh</a:t>
            </a:r>
            <a:r>
              <a:rPr lang="fr-FR" dirty="0"/>
              <a:t>:</a:t>
            </a:r>
          </a:p>
          <a:p>
            <a:pPr>
              <a:buNone/>
            </a:pPr>
            <a:r>
              <a:rPr lang="fr-FR" dirty="0"/>
              <a:t> </a:t>
            </a:r>
          </a:p>
          <a:p>
            <a:r>
              <a:rPr lang="fr-FR" dirty="0"/>
              <a:t>Chacune de ces quatre opérations correspond à :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deux multiplications de matrices carrées de taille </a:t>
            </a:r>
            <a:r>
              <a:rPr lang="fr-FR" i="1" dirty="0"/>
              <a:t>n</a:t>
            </a:r>
            <a:r>
              <a:rPr lang="fr-FR" dirty="0"/>
              <a:t>/2 </a:t>
            </a:r>
            <a:r>
              <a:rPr lang="fr-FR" dirty="0">
                <a:sym typeface="Wingdings"/>
              </a:rPr>
              <a:t></a:t>
            </a:r>
            <a:r>
              <a:rPr lang="fr-FR" dirty="0"/>
              <a:t> 2T(n/2) 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et une addition de telles matrices  </a:t>
            </a:r>
            <a:r>
              <a:rPr lang="fr-FR" dirty="0">
                <a:sym typeface="Wingdings"/>
              </a:rPr>
              <a:t></a:t>
            </a:r>
            <a:r>
              <a:rPr lang="fr-FR" dirty="0"/>
              <a:t> O(n</a:t>
            </a:r>
            <a:r>
              <a:rPr lang="fr-FR" baseline="30000" dirty="0"/>
              <a:t>2</a:t>
            </a:r>
            <a:r>
              <a:rPr lang="fr-FR" dirty="0"/>
              <a:t>) </a:t>
            </a:r>
          </a:p>
          <a:p>
            <a:r>
              <a:rPr lang="fr-FR" dirty="0"/>
              <a:t>A partir de ces équations on peut aisément dériver un algorithme « diviser pour régner » dont la complexité est donnée par la récurrence :</a:t>
            </a:r>
          </a:p>
          <a:p>
            <a:pPr algn="ctr">
              <a:buNone/>
            </a:pPr>
            <a:r>
              <a:rPr lang="fr-FR" b="1" i="1" dirty="0"/>
              <a:t>	</a:t>
            </a:r>
            <a:r>
              <a:rPr lang="fr-FR" sz="3600" b="1" i="1" dirty="0"/>
              <a:t>T</a:t>
            </a:r>
            <a:r>
              <a:rPr lang="fr-FR" sz="3600" b="1" dirty="0"/>
              <a:t>(</a:t>
            </a:r>
            <a:r>
              <a:rPr lang="fr-FR" sz="3600" b="1" i="1" dirty="0"/>
              <a:t>n</a:t>
            </a:r>
            <a:r>
              <a:rPr lang="fr-FR" sz="3600" b="1" dirty="0"/>
              <a:t>) = 8</a:t>
            </a:r>
            <a:r>
              <a:rPr lang="fr-FR" sz="3600" b="1" i="1" dirty="0"/>
              <a:t>T</a:t>
            </a:r>
            <a:r>
              <a:rPr lang="fr-FR" sz="3600" b="1" dirty="0"/>
              <a:t>(</a:t>
            </a:r>
            <a:r>
              <a:rPr lang="fr-FR" sz="3600" b="1" i="1" dirty="0"/>
              <a:t>n</a:t>
            </a:r>
            <a:r>
              <a:rPr lang="fr-FR" sz="3600" b="1" dirty="0"/>
              <a:t>/2)+O(</a:t>
            </a:r>
            <a:r>
              <a:rPr lang="fr-FR" sz="3600" b="1" i="1" dirty="0"/>
              <a:t>n</a:t>
            </a:r>
            <a:r>
              <a:rPr lang="fr-FR" sz="3600" b="1" baseline="30000" dirty="0"/>
              <a:t>2</a:t>
            </a:r>
            <a:r>
              <a:rPr lang="fr-FR" sz="3600" b="1" dirty="0"/>
              <a:t>) 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84993" name="Object 1"/>
          <p:cNvGraphicFramePr>
            <a:graphicFrameLocks noChangeAspect="1"/>
          </p:cNvGraphicFramePr>
          <p:nvPr/>
        </p:nvGraphicFramePr>
        <p:xfrm>
          <a:off x="6383841" y="2506129"/>
          <a:ext cx="21907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91" name="Equation" r:id="rId3" imgW="1689100" imgH="457200" progId="">
                  <p:embed/>
                </p:oleObj>
              </mc:Choice>
              <mc:Fallback>
                <p:oleObj name="Equation" r:id="rId3" imgW="1689100" imgH="457200" progId="">
                  <p:embed/>
                  <p:pic>
                    <p:nvPicPr>
                      <p:cNvPr id="8499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841" y="2506129"/>
                        <a:ext cx="2190750" cy="6000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3.1. Eexemple1 : multiplication naïve de matrices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  <a:p>
            <a:r>
              <a:rPr lang="fr-FR" dirty="0"/>
              <a:t>La relation de récurrence est : </a:t>
            </a:r>
            <a:r>
              <a:rPr lang="fr-FR" i="1" dirty="0"/>
              <a:t>T</a:t>
            </a:r>
            <a:r>
              <a:rPr lang="fr-FR" dirty="0"/>
              <a:t>(</a:t>
            </a:r>
            <a:r>
              <a:rPr lang="fr-FR" i="1" dirty="0"/>
              <a:t>n</a:t>
            </a:r>
            <a:r>
              <a:rPr lang="fr-FR" dirty="0"/>
              <a:t>) = 8</a:t>
            </a:r>
            <a:r>
              <a:rPr lang="fr-FR" i="1" dirty="0"/>
              <a:t>T</a:t>
            </a:r>
            <a:r>
              <a:rPr lang="fr-FR" dirty="0"/>
              <a:t>(</a:t>
            </a:r>
            <a:r>
              <a:rPr lang="fr-FR" i="1" dirty="0"/>
              <a:t>n</a:t>
            </a:r>
            <a:r>
              <a:rPr lang="fr-FR" dirty="0"/>
              <a:t>/2)+O(</a:t>
            </a:r>
            <a:r>
              <a:rPr lang="fr-FR" i="1" dirty="0"/>
              <a:t>n</a:t>
            </a:r>
            <a:r>
              <a:rPr lang="fr-FR" baseline="30000" dirty="0"/>
              <a:t>2</a:t>
            </a:r>
            <a:r>
              <a:rPr lang="fr-FR" dirty="0"/>
              <a:t>) </a:t>
            </a:r>
          </a:p>
          <a:p>
            <a:endParaRPr lang="fr-FR" dirty="0"/>
          </a:p>
          <a:p>
            <a:r>
              <a:rPr lang="fr-FR" dirty="0"/>
              <a:t>Donc :  	</a:t>
            </a:r>
            <a:r>
              <a:rPr lang="fr-FR" i="1" dirty="0"/>
              <a:t>a </a:t>
            </a:r>
            <a:r>
              <a:rPr lang="fr-FR" dirty="0"/>
              <a:t>= 8, </a:t>
            </a:r>
          </a:p>
          <a:p>
            <a:r>
              <a:rPr lang="fr-FR" i="1" dirty="0"/>
              <a:t>b </a:t>
            </a:r>
            <a:r>
              <a:rPr lang="fr-FR" dirty="0"/>
              <a:t>= 2  </a:t>
            </a:r>
            <a:r>
              <a:rPr lang="fr-FR" dirty="0">
                <a:sym typeface="Wingdings"/>
              </a:rPr>
              <a:t></a:t>
            </a:r>
            <a:r>
              <a:rPr lang="fr-FR" dirty="0"/>
              <a:t>   </a:t>
            </a:r>
            <a:r>
              <a:rPr lang="fr-FR" dirty="0" err="1"/>
              <a:t>log</a:t>
            </a:r>
            <a:r>
              <a:rPr lang="fr-FR" sz="1400" i="1" dirty="0" err="1"/>
              <a:t>b</a:t>
            </a:r>
            <a:r>
              <a:rPr lang="fr-FR" i="1" dirty="0"/>
              <a:t> a </a:t>
            </a:r>
            <a:r>
              <a:rPr lang="fr-FR" dirty="0"/>
              <a:t>= 3</a:t>
            </a:r>
          </a:p>
          <a:p>
            <a:r>
              <a:rPr lang="fr-FR" i="1" dirty="0"/>
              <a:t>f </a:t>
            </a:r>
            <a:r>
              <a:rPr lang="fr-FR" dirty="0"/>
              <a:t>(</a:t>
            </a:r>
            <a:r>
              <a:rPr lang="fr-FR" i="1" dirty="0"/>
              <a:t>n</a:t>
            </a:r>
            <a:r>
              <a:rPr lang="fr-FR" dirty="0"/>
              <a:t>) =    (</a:t>
            </a:r>
            <a:r>
              <a:rPr lang="fr-FR" i="1" dirty="0"/>
              <a:t>n</a:t>
            </a:r>
            <a:r>
              <a:rPr lang="fr-FR" baseline="30000" dirty="0"/>
              <a:t>2</a:t>
            </a:r>
            <a:r>
              <a:rPr lang="fr-FR" dirty="0"/>
              <a:t>)  =     (</a:t>
            </a:r>
            <a:r>
              <a:rPr lang="fr-FR" i="1" dirty="0"/>
              <a:t>n</a:t>
            </a:r>
            <a:r>
              <a:rPr lang="fr-FR" dirty="0"/>
              <a:t> </a:t>
            </a:r>
            <a:r>
              <a:rPr lang="fr-FR" baseline="30000" dirty="0" err="1"/>
              <a:t>log</a:t>
            </a:r>
            <a:r>
              <a:rPr lang="fr-FR" sz="1800" i="1" baseline="30000" dirty="0" err="1"/>
              <a:t>b</a:t>
            </a:r>
            <a:r>
              <a:rPr lang="fr-FR" i="1" baseline="30000" dirty="0"/>
              <a:t> a-1</a:t>
            </a:r>
            <a:r>
              <a:rPr lang="fr-FR" dirty="0"/>
              <a:t>)  </a:t>
            </a:r>
          </a:p>
          <a:p>
            <a:pPr algn="just"/>
            <a:r>
              <a:rPr lang="fr-FR" dirty="0"/>
              <a:t>On est donc dans le cas 1 du théorème (avec             ), l’algorithme a donc une complexité en     (</a:t>
            </a:r>
            <a:r>
              <a:rPr lang="fr-FR" i="1" dirty="0"/>
              <a:t>n</a:t>
            </a:r>
            <a:r>
              <a:rPr lang="fr-FR" baseline="30000" dirty="0"/>
              <a:t>3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14</a:t>
            </a:fld>
            <a:endParaRPr lang="fr-FR" dirty="0"/>
          </a:p>
        </p:txBody>
      </p:sp>
      <p:graphicFrame>
        <p:nvGraphicFramePr>
          <p:cNvPr id="130049" name="Object 1"/>
          <p:cNvGraphicFramePr>
            <a:graphicFrameLocks noChangeAspect="1"/>
          </p:cNvGraphicFramePr>
          <p:nvPr/>
        </p:nvGraphicFramePr>
        <p:xfrm>
          <a:off x="1965960" y="4359592"/>
          <a:ext cx="417830" cy="449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77" name="Equation" r:id="rId3" imgW="164880" imgH="177480" progId="">
                  <p:embed/>
                </p:oleObj>
              </mc:Choice>
              <mc:Fallback>
                <p:oleObj name="Equation" r:id="rId3" imgW="164880" imgH="17748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960" y="4359592"/>
                        <a:ext cx="417830" cy="449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0" name="Object 2"/>
          <p:cNvGraphicFramePr>
            <a:graphicFrameLocks noChangeAspect="1"/>
          </p:cNvGraphicFramePr>
          <p:nvPr/>
        </p:nvGraphicFramePr>
        <p:xfrm>
          <a:off x="3169920" y="4390072"/>
          <a:ext cx="370082" cy="456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78" name="Equation" r:id="rId5" imgW="164880" imgH="177480" progId="">
                  <p:embed/>
                </p:oleObj>
              </mc:Choice>
              <mc:Fallback>
                <p:oleObj name="Equation" r:id="rId5" imgW="164880" imgH="177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9920" y="4390072"/>
                        <a:ext cx="370082" cy="4562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1" name="Object 3"/>
          <p:cNvGraphicFramePr>
            <a:graphicFrameLocks noChangeAspect="1"/>
          </p:cNvGraphicFramePr>
          <p:nvPr/>
        </p:nvGraphicFramePr>
        <p:xfrm>
          <a:off x="4635818" y="5291138"/>
          <a:ext cx="369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79" name="Equation" r:id="rId7" imgW="164880" imgH="177480" progId="">
                  <p:embed/>
                </p:oleObj>
              </mc:Choice>
              <mc:Fallback>
                <p:oleObj name="Equation" r:id="rId7" imgW="164880" imgH="177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818" y="5291138"/>
                        <a:ext cx="3698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2" name="Object 4"/>
          <p:cNvGraphicFramePr>
            <a:graphicFrameLocks noChangeAspect="1"/>
          </p:cNvGraphicFramePr>
          <p:nvPr/>
        </p:nvGraphicFramePr>
        <p:xfrm>
          <a:off x="7855235" y="4844954"/>
          <a:ext cx="1099509" cy="586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80" name="Equation" r:id="rId8" imgW="330120" imgH="177480" progId="">
                  <p:embed/>
                </p:oleObj>
              </mc:Choice>
              <mc:Fallback>
                <p:oleObj name="Equation" r:id="rId8" imgW="330120" imgH="17748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5235" y="4844954"/>
                        <a:ext cx="1099509" cy="586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3.2. Autres exemples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>
                <a:solidFill>
                  <a:srgbClr val="0070C0"/>
                </a:solidFill>
              </a:rPr>
              <a:t>Exemples</a:t>
            </a:r>
            <a:endParaRPr lang="fr-FR" b="1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2401" name="Object 1"/>
          <p:cNvGraphicFramePr>
            <a:graphicFrameLocks noChangeAspect="1"/>
          </p:cNvGraphicFramePr>
          <p:nvPr/>
        </p:nvGraphicFramePr>
        <p:xfrm>
          <a:off x="3660986" y="2165773"/>
          <a:ext cx="2602653" cy="1005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97" name="Equation" r:id="rId3" imgW="1117600" imgH="431800" progId="">
                  <p:embed/>
                </p:oleObj>
              </mc:Choice>
              <mc:Fallback>
                <p:oleObj name="Equation" r:id="rId3" imgW="1117600" imgH="431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986" y="2165773"/>
                        <a:ext cx="2602653" cy="100557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2" name="Rectangle 1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2414" name="Rectangle 1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2416" name="Rectangle 1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4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369939"/>
              </p:ext>
            </p:extLst>
          </p:nvPr>
        </p:nvGraphicFramePr>
        <p:xfrm>
          <a:off x="3660986" y="3477123"/>
          <a:ext cx="2187787" cy="858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98" name="Equation" r:id="rId5" imgW="1091726" imgH="431613" progId="">
                  <p:embed/>
                </p:oleObj>
              </mc:Choice>
              <mc:Fallback>
                <p:oleObj name="Equation" r:id="rId5" imgW="1091726" imgH="43161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986" y="3477123"/>
                        <a:ext cx="2187787" cy="858909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81274"/>
              </p:ext>
            </p:extLst>
          </p:nvPr>
        </p:nvGraphicFramePr>
        <p:xfrm>
          <a:off x="3660986" y="4641812"/>
          <a:ext cx="2714085" cy="811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99" name="Equation" r:id="rId7" imgW="1435100" imgH="431800" progId="">
                  <p:embed/>
                </p:oleObj>
              </mc:Choice>
              <mc:Fallback>
                <p:oleObj name="Equation" r:id="rId7" imgW="1435100" imgH="431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986" y="4641812"/>
                        <a:ext cx="2714085" cy="811106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377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3.2. Autres exemples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>
                <a:solidFill>
                  <a:srgbClr val="0070C0"/>
                </a:solidFill>
              </a:rPr>
              <a:t>Exemple-2</a:t>
            </a:r>
          </a:p>
          <a:p>
            <a:endParaRPr lang="fr-FR" b="1" dirty="0"/>
          </a:p>
          <a:p>
            <a:endParaRPr lang="fr-FR" dirty="0"/>
          </a:p>
          <a:p>
            <a:r>
              <a:rPr lang="fr-FR" dirty="0"/>
              <a:t>On est dans le cas : a=9 , b=3 et f(n)=n</a:t>
            </a:r>
          </a:p>
          <a:p>
            <a:pPr>
              <a:buNone/>
            </a:pPr>
            <a:r>
              <a:rPr lang="fr-FR" dirty="0">
                <a:sym typeface="Wingdings" pitchFamily="2" charset="2"/>
              </a:rPr>
              <a:t>	                                                    </a:t>
            </a:r>
          </a:p>
          <a:p>
            <a:pPr>
              <a:buNone/>
            </a:pPr>
            <a:r>
              <a:rPr lang="fr-FR" dirty="0">
                <a:sym typeface="Wingdings" pitchFamily="2" charset="2"/>
              </a:rPr>
              <a:t>	  </a:t>
            </a:r>
            <a:r>
              <a:rPr lang="fr-FR" dirty="0"/>
              <a:t>On applique le cas 1 : 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2401" name="Object 1"/>
          <p:cNvGraphicFramePr>
            <a:graphicFrameLocks noChangeAspect="1"/>
          </p:cNvGraphicFramePr>
          <p:nvPr/>
        </p:nvGraphicFramePr>
        <p:xfrm>
          <a:off x="3660986" y="2165773"/>
          <a:ext cx="2602653" cy="1005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6" name="Equation" r:id="rId3" imgW="1117600" imgH="431800" progId="">
                  <p:embed/>
                </p:oleObj>
              </mc:Choice>
              <mc:Fallback>
                <p:oleObj name="Equation" r:id="rId3" imgW="1117600" imgH="4318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986" y="2165773"/>
                        <a:ext cx="2602653" cy="100557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2" name="Rectangle 1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2411" name="Object 11"/>
          <p:cNvGraphicFramePr>
            <a:graphicFrameLocks noChangeAspect="1"/>
          </p:cNvGraphicFramePr>
          <p:nvPr/>
        </p:nvGraphicFramePr>
        <p:xfrm>
          <a:off x="1656079" y="3787986"/>
          <a:ext cx="3804502" cy="509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7" name="Equation" r:id="rId5" imgW="1689100" imgH="228600" progId="">
                  <p:embed/>
                </p:oleObj>
              </mc:Choice>
              <mc:Fallback>
                <p:oleObj name="Equation" r:id="rId5" imgW="1689100" imgH="2286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6079" y="3787986"/>
                        <a:ext cx="3804502" cy="509694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4" name="Rectangle 1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2413" name="Object 13"/>
          <p:cNvGraphicFramePr>
            <a:graphicFrameLocks noChangeAspect="1"/>
          </p:cNvGraphicFramePr>
          <p:nvPr/>
        </p:nvGraphicFramePr>
        <p:xfrm>
          <a:off x="6243326" y="3779520"/>
          <a:ext cx="5364469" cy="487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8" name="Equation" r:id="rId7" imgW="2476500" imgH="228600" progId="">
                  <p:embed/>
                </p:oleObj>
              </mc:Choice>
              <mc:Fallback>
                <p:oleObj name="Equation" r:id="rId7" imgW="2476500" imgH="2286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326" y="3779520"/>
                        <a:ext cx="5364469" cy="487679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6" name="Rectangle 1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2415" name="Object 15"/>
          <p:cNvGraphicFramePr>
            <a:graphicFrameLocks noChangeAspect="1"/>
          </p:cNvGraphicFramePr>
          <p:nvPr/>
        </p:nvGraphicFramePr>
        <p:xfrm>
          <a:off x="4721013" y="5046133"/>
          <a:ext cx="2774732" cy="745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9" name="Equation" r:id="rId9" imgW="850900" imgH="228600" progId="">
                  <p:embed/>
                </p:oleObj>
              </mc:Choice>
              <mc:Fallback>
                <p:oleObj name="Equation" r:id="rId9" imgW="850900" imgH="2286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013" y="5046133"/>
                        <a:ext cx="2774732" cy="74506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>
                <a:solidFill>
                  <a:srgbClr val="0070C0"/>
                </a:solidFill>
              </a:rPr>
              <a:t>Exemple-3 </a:t>
            </a:r>
          </a:p>
          <a:p>
            <a:endParaRPr lang="fr-FR" b="1" dirty="0"/>
          </a:p>
          <a:p>
            <a:endParaRPr lang="fr-FR" dirty="0"/>
          </a:p>
          <a:p>
            <a:r>
              <a:rPr lang="fr-FR" dirty="0"/>
              <a:t>On est dans le cas : a=1  ,  b=3/2   et  f(n)=1</a:t>
            </a:r>
          </a:p>
          <a:p>
            <a:pPr>
              <a:buNone/>
            </a:pPr>
            <a:endParaRPr lang="fr-FR" dirty="0">
              <a:sym typeface="Wingdings" pitchFamily="2" charset="2"/>
            </a:endParaRPr>
          </a:p>
          <a:p>
            <a:pPr>
              <a:buNone/>
            </a:pPr>
            <a:r>
              <a:rPr lang="fr-FR" dirty="0">
                <a:sym typeface="Wingdings" pitchFamily="2" charset="2"/>
              </a:rPr>
              <a:t>                                                          </a:t>
            </a:r>
          </a:p>
          <a:p>
            <a:endParaRPr lang="fr-FR" dirty="0">
              <a:sym typeface="Wingdings" pitchFamily="2" charset="2"/>
            </a:endParaRPr>
          </a:p>
          <a:p>
            <a:r>
              <a:rPr lang="fr-FR" dirty="0"/>
              <a:t>On applique donc le cas 2 :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1377" name="Object 1"/>
          <p:cNvGraphicFramePr>
            <a:graphicFrameLocks noChangeAspect="1"/>
          </p:cNvGraphicFramePr>
          <p:nvPr/>
        </p:nvGraphicFramePr>
        <p:xfrm>
          <a:off x="3268133" y="1845733"/>
          <a:ext cx="2187787" cy="858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4" name="Equation" r:id="rId3" imgW="1091726" imgH="431613" progId="">
                  <p:embed/>
                </p:oleObj>
              </mc:Choice>
              <mc:Fallback>
                <p:oleObj name="Equation" r:id="rId3" imgW="1091726" imgH="431613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8133" y="1845733"/>
                        <a:ext cx="2187787" cy="858909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1379" name="Object 3"/>
          <p:cNvGraphicFramePr>
            <a:graphicFrameLocks noChangeAspect="1"/>
          </p:cNvGraphicFramePr>
          <p:nvPr/>
        </p:nvGraphicFramePr>
        <p:xfrm>
          <a:off x="1706880" y="4190999"/>
          <a:ext cx="2865120" cy="829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5" name="Equation" r:id="rId5" imgW="1054100" imgH="304800" progId="">
                  <p:embed/>
                </p:oleObj>
              </mc:Choice>
              <mc:Fallback>
                <p:oleObj name="Equation" r:id="rId5" imgW="1054100" imgH="3048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880" y="4190999"/>
                        <a:ext cx="2865120" cy="82989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2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1381" name="Object 5"/>
          <p:cNvGraphicFramePr>
            <a:graphicFrameLocks noChangeAspect="1"/>
          </p:cNvGraphicFramePr>
          <p:nvPr/>
        </p:nvGraphicFramePr>
        <p:xfrm>
          <a:off x="7162800" y="4197773"/>
          <a:ext cx="3684361" cy="80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6" name="Equation" r:id="rId7" imgW="1040948" imgH="228501" progId="">
                  <p:embed/>
                </p:oleObj>
              </mc:Choice>
              <mc:Fallback>
                <p:oleObj name="Equation" r:id="rId7" imgW="1040948" imgH="228501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4197773"/>
                        <a:ext cx="3684361" cy="800948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4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1383" name="Object 7"/>
          <p:cNvGraphicFramePr>
            <a:graphicFrameLocks noChangeAspect="1"/>
          </p:cNvGraphicFramePr>
          <p:nvPr/>
        </p:nvGraphicFramePr>
        <p:xfrm>
          <a:off x="3579972" y="5989320"/>
          <a:ext cx="4627404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7" name="Equation" r:id="rId9" imgW="2006600" imgH="228600" progId="">
                  <p:embed/>
                </p:oleObj>
              </mc:Choice>
              <mc:Fallback>
                <p:oleObj name="Equation" r:id="rId9" imgW="2006600" imgH="2286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972" y="5989320"/>
                        <a:ext cx="4627404" cy="52324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re 1">
            <a:extLst>
              <a:ext uri="{FF2B5EF4-FFF2-40B4-BE49-F238E27FC236}">
                <a16:creationId xmlns:a16="http://schemas.microsoft.com/office/drawing/2014/main" xmlns="" id="{7CA881E6-E717-44EB-A375-A4D169519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425" y="325438"/>
            <a:ext cx="10112375" cy="1325562"/>
          </a:xfrm>
        </p:spPr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3.2. Autres exemples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3.2. Autres exemples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b="1" dirty="0"/>
              <a:t>	</a:t>
            </a:r>
            <a:r>
              <a:rPr lang="fr-FR" b="1" dirty="0">
                <a:solidFill>
                  <a:srgbClr val="0070C0"/>
                </a:solidFill>
              </a:rPr>
              <a:t>Exemple-4 </a:t>
            </a:r>
          </a:p>
          <a:p>
            <a:endParaRPr lang="fr-FR" dirty="0"/>
          </a:p>
          <a:p>
            <a:r>
              <a:rPr lang="fr-FR" dirty="0"/>
              <a:t>On est dans le cas : a=3  ,  b=4   et  f(n)=</a:t>
            </a:r>
            <a:r>
              <a:rPr lang="fr-FR" dirty="0" err="1"/>
              <a:t>nlogn</a:t>
            </a:r>
            <a:endParaRPr lang="fr-FR" dirty="0"/>
          </a:p>
          <a:p>
            <a:pPr>
              <a:buNone/>
            </a:pPr>
            <a:endParaRPr lang="fr-FR" dirty="0">
              <a:sym typeface="Wingdings" pitchFamily="2" charset="2"/>
            </a:endParaRPr>
          </a:p>
          <a:p>
            <a:pPr>
              <a:buNone/>
            </a:pPr>
            <a:r>
              <a:rPr lang="fr-FR" dirty="0">
                <a:sym typeface="Wingdings" pitchFamily="2" charset="2"/>
              </a:rPr>
              <a:t>	                                              </a:t>
            </a:r>
          </a:p>
          <a:p>
            <a:endParaRPr lang="fr-FR" dirty="0"/>
          </a:p>
          <a:p>
            <a:r>
              <a:rPr lang="fr-FR" dirty="0"/>
              <a:t>Pour n suffisamment grand on a :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On applique donc le cas 3 :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0353" name="Object 1"/>
          <p:cNvGraphicFramePr>
            <a:graphicFrameLocks noChangeAspect="1"/>
          </p:cNvGraphicFramePr>
          <p:nvPr/>
        </p:nvGraphicFramePr>
        <p:xfrm>
          <a:off x="4082626" y="1642534"/>
          <a:ext cx="2714085" cy="811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12" name="Equation" r:id="rId3" imgW="1435100" imgH="431800" progId="">
                  <p:embed/>
                </p:oleObj>
              </mc:Choice>
              <mc:Fallback>
                <p:oleObj name="Equation" r:id="rId3" imgW="1435100" imgH="4318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2626" y="1642534"/>
                        <a:ext cx="2714085" cy="811106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0355" name="Object 3"/>
          <p:cNvGraphicFramePr>
            <a:graphicFrameLocks noChangeAspect="1"/>
          </p:cNvGraphicFramePr>
          <p:nvPr/>
        </p:nvGraphicFramePr>
        <p:xfrm>
          <a:off x="1564116" y="3368041"/>
          <a:ext cx="3262411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13" name="Equation" r:id="rId5" imgW="1549400" imgH="228600" progId="">
                  <p:embed/>
                </p:oleObj>
              </mc:Choice>
              <mc:Fallback>
                <p:oleObj name="Equation" r:id="rId5" imgW="1549400" imgH="2286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4116" y="3368041"/>
                        <a:ext cx="3262411" cy="48768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5545667" y="3405292"/>
          <a:ext cx="4890592" cy="496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14" name="Equation" r:id="rId7" imgW="2222500" imgH="228600" progId="">
                  <p:embed/>
                </p:oleObj>
              </mc:Choice>
              <mc:Fallback>
                <p:oleObj name="Equation" r:id="rId7" imgW="2222500" imgH="2286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667" y="3405292"/>
                        <a:ext cx="4890592" cy="49614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0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0359" name="Object 7"/>
          <p:cNvGraphicFramePr>
            <a:graphicFrameLocks noChangeAspect="1"/>
          </p:cNvGraphicFramePr>
          <p:nvPr/>
        </p:nvGraphicFramePr>
        <p:xfrm>
          <a:off x="2562012" y="4621106"/>
          <a:ext cx="4825463" cy="606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15" name="Equation" r:id="rId9" imgW="3429000" imgH="431800" progId="">
                  <p:embed/>
                </p:oleObj>
              </mc:Choice>
              <mc:Fallback>
                <p:oleObj name="Equation" r:id="rId9" imgW="3429000" imgH="4318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012" y="4621106"/>
                        <a:ext cx="4825463" cy="606214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2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0361" name="Object 9"/>
          <p:cNvGraphicFramePr>
            <a:graphicFrameLocks noChangeAspect="1"/>
          </p:cNvGraphicFramePr>
          <p:nvPr/>
        </p:nvGraphicFramePr>
        <p:xfrm>
          <a:off x="4111413" y="5882640"/>
          <a:ext cx="3234267" cy="594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16" name="Equation" r:id="rId11" imgW="1091726" imgH="203112" progId="">
                  <p:embed/>
                </p:oleObj>
              </mc:Choice>
              <mc:Fallback>
                <p:oleObj name="Equation" r:id="rId11" imgW="1091726" imgH="203112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413" y="5882640"/>
                        <a:ext cx="3234267" cy="594049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4. Autres récurrences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/>
              <a:t>D’autres récurrences peuvent ne pas trouver de solution avec les techniques présentées. Dans ce cas, on peut procéder par itération :</a:t>
            </a:r>
          </a:p>
          <a:p>
            <a:pPr algn="just"/>
            <a:endParaRPr lang="fr-FR" dirty="0"/>
          </a:p>
          <a:p>
            <a:pPr lvl="2" algn="just">
              <a:buFont typeface="Wingdings" pitchFamily="2" charset="2"/>
              <a:buChar char="Ø"/>
            </a:pPr>
            <a:r>
              <a:rPr lang="fr-FR" sz="2800" dirty="0"/>
              <a:t>calculer les quelques premières valeurs de la suite</a:t>
            </a:r>
          </a:p>
          <a:p>
            <a:pPr lvl="2" algn="just">
              <a:buFont typeface="Wingdings" pitchFamily="2" charset="2"/>
              <a:buChar char="Ø"/>
            </a:pPr>
            <a:r>
              <a:rPr lang="fr-FR" sz="2800" dirty="0"/>
              <a:t>chercher une régularité</a:t>
            </a:r>
          </a:p>
          <a:p>
            <a:pPr lvl="2" algn="just">
              <a:buFont typeface="Wingdings" pitchFamily="2" charset="2"/>
              <a:buChar char="Ø"/>
            </a:pPr>
            <a:r>
              <a:rPr lang="fr-FR" sz="2800" dirty="0"/>
              <a:t>poser une solution générale en hypothèse</a:t>
            </a:r>
          </a:p>
          <a:p>
            <a:pPr lvl="2" algn="just">
              <a:buFont typeface="Wingdings" pitchFamily="2" charset="2"/>
              <a:buChar char="Ø"/>
            </a:pPr>
            <a:r>
              <a:rPr lang="fr-FR" sz="2800" dirty="0"/>
              <a:t>la prouver par induction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33520</TotalTime>
  <Words>769</Words>
  <Application>Microsoft Office PowerPoint</Application>
  <PresentationFormat>Grand écran</PresentationFormat>
  <Paragraphs>239</Paragraphs>
  <Slides>19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8" baseType="lpstr">
      <vt:lpstr>Microsoft YaHei</vt:lpstr>
      <vt:lpstr>Aparajita</vt:lpstr>
      <vt:lpstr>Arial</vt:lpstr>
      <vt:lpstr>Calibri</vt:lpstr>
      <vt:lpstr>Calibri Light</vt:lpstr>
      <vt:lpstr>Cambria Math</vt:lpstr>
      <vt:lpstr>Wingdings</vt:lpstr>
      <vt:lpstr>Office Theme</vt:lpstr>
      <vt:lpstr>Equation</vt:lpstr>
      <vt:lpstr>Chapitre 4. Diviser pour régner</vt:lpstr>
      <vt:lpstr>1. Diviser pour régner : Principe</vt:lpstr>
      <vt:lpstr>2. Analyse des algorithmes «diviser pour régner»</vt:lpstr>
      <vt:lpstr>2. Analyse des algorithmes «diviser pour régner» </vt:lpstr>
      <vt:lpstr>2.1. Exemple1 : Recherche du maximum d’un tableau</vt:lpstr>
      <vt:lpstr>2.1. Exemple1 : Recherche du maximum d’un tableau</vt:lpstr>
      <vt:lpstr>2.2. Ex3-TD3 : Recherche du maximum d’une fonction unimodale</vt:lpstr>
      <vt:lpstr>2.2. Ex3-TD3 : Recherche du maximum d’une fonction unimodale</vt:lpstr>
      <vt:lpstr>2.2. Ex3-TD3 : Recherche du maximum d’une fonction unimodale</vt:lpstr>
      <vt:lpstr>3. Résolution des récurrences « diviser pour régner »</vt:lpstr>
      <vt:lpstr>3. Résolution des récurrences « diviser pour régner »</vt:lpstr>
      <vt:lpstr>3.1. Eexemple1 : multiplication naïve de matrices</vt:lpstr>
      <vt:lpstr>3.1. Eexemple1 : multiplication naïve de matrices</vt:lpstr>
      <vt:lpstr>3.1. Eexemple1 : multiplication naïve de matrices</vt:lpstr>
      <vt:lpstr>3.2. Autres exemples</vt:lpstr>
      <vt:lpstr>3.2. Autres exemples</vt:lpstr>
      <vt:lpstr>3.2. Autres exemples</vt:lpstr>
      <vt:lpstr>3.2. Autres exemples</vt:lpstr>
      <vt:lpstr>4. Autres récurrences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Oussama Jebali</dc:creator>
  <cp:lastModifiedBy>Compte Microsoft</cp:lastModifiedBy>
  <cp:revision>651</cp:revision>
  <dcterms:created xsi:type="dcterms:W3CDTF">2015-03-06T15:17:24Z</dcterms:created>
  <dcterms:modified xsi:type="dcterms:W3CDTF">2023-11-30T09:10:40Z</dcterms:modified>
</cp:coreProperties>
</file>