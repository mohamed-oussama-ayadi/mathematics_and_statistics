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5" r:id="rId2"/>
    <p:sldId id="351" r:id="rId3"/>
    <p:sldId id="345" r:id="rId4"/>
    <p:sldId id="272" r:id="rId5"/>
    <p:sldId id="273" r:id="rId6"/>
    <p:sldId id="274" r:id="rId7"/>
    <p:sldId id="346" r:id="rId8"/>
    <p:sldId id="347" r:id="rId9"/>
    <p:sldId id="348" r:id="rId10"/>
    <p:sldId id="349" r:id="rId11"/>
    <p:sldId id="350" r:id="rId12"/>
    <p:sldId id="266" r:id="rId13"/>
    <p:sldId id="275" r:id="rId14"/>
    <p:sldId id="334" r:id="rId15"/>
    <p:sldId id="276" r:id="rId16"/>
    <p:sldId id="277" r:id="rId17"/>
    <p:sldId id="278" r:id="rId18"/>
    <p:sldId id="279" r:id="rId19"/>
    <p:sldId id="268" r:id="rId20"/>
    <p:sldId id="269" r:id="rId21"/>
    <p:sldId id="270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1EE07D4-F84E-4BBE-9AD3-719F4B2C30E8}">
          <p14:sldIdLst>
            <p14:sldId id="265"/>
            <p14:sldId id="351"/>
            <p14:sldId id="345"/>
            <p14:sldId id="272"/>
            <p14:sldId id="273"/>
            <p14:sldId id="274"/>
            <p14:sldId id="346"/>
            <p14:sldId id="347"/>
            <p14:sldId id="348"/>
            <p14:sldId id="349"/>
            <p14:sldId id="350"/>
            <p14:sldId id="266"/>
            <p14:sldId id="275"/>
            <p14:sldId id="334"/>
            <p14:sldId id="276"/>
            <p14:sldId id="277"/>
            <p14:sldId id="278"/>
            <p14:sldId id="279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9F46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Style moyen 4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24" autoAdjust="0"/>
    <p:restoredTop sz="86918" autoAdjust="0"/>
  </p:normalViewPr>
  <p:slideViewPr>
    <p:cSldViewPr snapToGrid="0">
      <p:cViewPr varScale="1">
        <p:scale>
          <a:sx n="60" d="100"/>
          <a:sy n="60" d="100"/>
        </p:scale>
        <p:origin x="108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C1933-18F5-4246-B1F0-35A4DD3AC935}" type="datetimeFigureOut">
              <a:rPr lang="fr-FR" smtClean="0"/>
              <a:pPr/>
              <a:t>02/10/2023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7279F-DFAE-4657-A800-A8C38FC41E9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4503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5 15</a:t>
            </a:r>
          </a:p>
          <a:p>
            <a:r>
              <a:rPr lang="fr-FR" dirty="0"/>
              <a:t>15 5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7279F-DFAE-4657-A800-A8C38FC41E97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2564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7279F-DFAE-4657-A800-A8C38FC41E97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2856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  <a:pPr/>
              <a:t>02/10/2023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10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02266" y="365125"/>
            <a:ext cx="10151533" cy="1325563"/>
          </a:xfrm>
        </p:spPr>
        <p:txBody>
          <a:bodyPr/>
          <a:lstStyle>
            <a:lvl1pPr>
              <a:defRPr b="1">
                <a:solidFill>
                  <a:srgbClr val="CC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  <a:pPr/>
              <a:t>02/10/2023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752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  <a:pPr/>
              <a:t>02/10/2023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5466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  <a:pPr/>
              <a:t>02/10/2023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5504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  <a:pPr/>
              <a:t>02/10/2023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28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  <a:pPr/>
              <a:t>02/10/2023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4867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  <a:pPr/>
              <a:t>02/10/2023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7630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  <a:pPr/>
              <a:t>02/10/2023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6515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  <a:pPr/>
              <a:t>02/10/2023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251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  <a:pPr/>
              <a:t>02/10/2023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431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  <a:pPr/>
              <a:t>02/10/2023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575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  <a:pPr/>
              <a:t>02/10/2023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6445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esprit\Downloads\logo-esprit--new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6492" y="0"/>
            <a:ext cx="1726510" cy="1220040"/>
          </a:xfrm>
          <a:prstGeom prst="rect">
            <a:avLst/>
          </a:prstGeom>
          <a:noFill/>
        </p:spPr>
      </p:pic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0" name="Titre 9"/>
          <p:cNvSpPr>
            <a:spLocks noGrp="1"/>
          </p:cNvSpPr>
          <p:nvPr>
            <p:ph type="title"/>
          </p:nvPr>
        </p:nvSpPr>
        <p:spPr>
          <a:xfrm>
            <a:off x="1021080" y="2255520"/>
            <a:ext cx="10515600" cy="227075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/>
              <a:t>Chapitre</a:t>
            </a:r>
            <a:r>
              <a:rPr lang="fr-FR" sz="4000" dirty="0"/>
              <a:t> 2</a:t>
            </a:r>
            <a:r>
              <a:rPr lang="fr-FR" sz="4000" b="1" dirty="0"/>
              <a:t> </a:t>
            </a:r>
            <a:br>
              <a:rPr lang="fr-FR" sz="4000" b="1" dirty="0"/>
            </a:br>
            <a:r>
              <a:rPr lang="fr-FR" sz="6000" b="1" dirty="0"/>
              <a:t/>
            </a:r>
            <a:br>
              <a:rPr lang="fr-FR" sz="6000" b="1" dirty="0"/>
            </a:br>
            <a:r>
              <a:rPr lang="fr-FR" sz="6000" b="1" dirty="0"/>
              <a:t> Complexité des algorithmes récursifs</a:t>
            </a:r>
          </a:p>
        </p:txBody>
      </p:sp>
      <p:sp>
        <p:nvSpPr>
          <p:cNvPr id="14" name="TextBox 2"/>
          <p:cNvSpPr txBox="1">
            <a:spLocks noGrp="1"/>
          </p:cNvSpPr>
          <p:nvPr>
            <p:ph type="sldNum" sz="quarter" idx="12"/>
          </p:nvPr>
        </p:nvSpPr>
        <p:spPr>
          <a:xfrm>
            <a:off x="7443216" y="6118606"/>
            <a:ext cx="4224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solidFill>
                  <a:schemeClr val="tx1"/>
                </a:solidFill>
              </a:rPr>
              <a:t>Année universitaire </a:t>
            </a:r>
            <a:r>
              <a:rPr lang="fr-FR" sz="1800" b="1">
                <a:solidFill>
                  <a:schemeClr val="tx1"/>
                </a:solidFill>
              </a:rPr>
              <a:t>:</a:t>
            </a:r>
            <a:r>
              <a:rPr lang="fr-FR" sz="1800" b="1" smtClean="0">
                <a:solidFill>
                  <a:schemeClr val="tx1"/>
                </a:solidFill>
              </a:rPr>
              <a:t>2023/2024</a:t>
            </a:r>
            <a:endParaRPr lang="fr-FR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048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FBC3EAAC-DCCE-4E81-81BB-64CC21C1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 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F59F3E8D-DE18-491A-B1A0-A346C859D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4160" y="1825625"/>
            <a:ext cx="854964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Définition et principe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L’ordre des appels récursifs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Récursivité simple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Récursivité multiple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Récursivité mutuelle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Récursivité imbriquée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="" xmlns:a16="http://schemas.microsoft.com/office/drawing/2014/main" id="{1F67D4DC-BD80-4219-8E1C-55C1709EC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="" xmlns:a16="http://schemas.microsoft.com/office/drawing/2014/main" id="{2AF45117-14FD-4339-A47D-5BC1A34BC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6096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z="2000" b="1" smtClean="0">
                <a:solidFill>
                  <a:schemeClr val="tx1"/>
                </a:solidFill>
              </a:rPr>
              <a:pPr/>
              <a:t>3</a:t>
            </a:fld>
            <a:endParaRPr lang="fr-FR" sz="2000" b="1" dirty="0">
              <a:solidFill>
                <a:schemeClr val="tx1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164772" y="365125"/>
            <a:ext cx="10189028" cy="1325563"/>
          </a:xfrm>
        </p:spPr>
        <p:txBody>
          <a:bodyPr/>
          <a:lstStyle/>
          <a:p>
            <a:r>
              <a:rPr lang="fr-FR" b="1" i="1" dirty="0">
                <a:solidFill>
                  <a:srgbClr val="C00000"/>
                </a:solidFill>
              </a:rPr>
              <a:t>1. Définition et principe</a:t>
            </a:r>
            <a:endParaRPr lang="fr-FR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164772" y="1531711"/>
            <a:ext cx="10515600" cy="463202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fr-FR" sz="3200" dirty="0"/>
              <a:t> Un algorithme est dit récursif lorsqu’il est défini en fonction de lui-même. (qui fait appel à lui-même)</a:t>
            </a:r>
          </a:p>
          <a:p>
            <a:pPr algn="just"/>
            <a:r>
              <a:rPr lang="fr-FR" sz="3200" dirty="0"/>
              <a:t>La récursivité permet d’écrire des algorithmes concis et élégants.</a:t>
            </a:r>
          </a:p>
          <a:p>
            <a:pPr algn="just"/>
            <a:r>
              <a:rPr lang="fr-FR" dirty="0"/>
              <a:t>On doit avoir :</a:t>
            </a:r>
          </a:p>
          <a:p>
            <a:pPr lvl="1" algn="just"/>
            <a:r>
              <a:rPr lang="fr-FR" dirty="0"/>
              <a:t>un certain nombre de cas dont la résolution est connue, ces «cas simples» formeront </a:t>
            </a:r>
            <a:r>
              <a:rPr lang="fr-FR" b="1" dirty="0"/>
              <a:t>les cas d’arrêt de la récursivité</a:t>
            </a:r>
          </a:p>
          <a:p>
            <a:pPr lvl="1" algn="just"/>
            <a:r>
              <a:rPr lang="fr-FR" dirty="0"/>
              <a:t>un moyen de se ramener d’un cas « compliqué » à un cas «plus simple».</a:t>
            </a:r>
          </a:p>
          <a:p>
            <a:pPr algn="just"/>
            <a:r>
              <a:rPr lang="fr-FR" sz="2800" dirty="0"/>
              <a:t>Plus couteux en termes de complexité par rapport à un </a:t>
            </a:r>
            <a:r>
              <a:rPr lang="fr-FR" sz="2800"/>
              <a:t>algorithme </a:t>
            </a:r>
            <a:r>
              <a:rPr lang="fr-FR" sz="2800" smtClean="0"/>
              <a:t>itératif.</a:t>
            </a:r>
            <a:endParaRPr lang="fr-FR" dirty="0"/>
          </a:p>
          <a:p>
            <a:pPr algn="just"/>
            <a:endParaRPr lang="fr-FR" sz="3200" dirty="0"/>
          </a:p>
          <a:p>
            <a:pPr algn="just">
              <a:buNone/>
            </a:pPr>
            <a:r>
              <a:rPr lang="fr-FR" sz="3200" dirty="0"/>
              <a:t>	</a:t>
            </a:r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F3009D85-61A1-4CA5-A6F3-0BC19D15DD46}"/>
              </a:ext>
            </a:extLst>
          </p:cNvPr>
          <p:cNvSpPr/>
          <p:nvPr/>
        </p:nvSpPr>
        <p:spPr>
          <a:xfrm>
            <a:off x="1190898" y="1461014"/>
            <a:ext cx="10463348" cy="1051560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2" descr="Strategic Planning Insights: Advantages and Disadvantages of Strategic  Planning">
            <a:extLst>
              <a:ext uri="{FF2B5EF4-FFF2-40B4-BE49-F238E27FC236}">
                <a16:creationId xmlns="" xmlns:a16="http://schemas.microsoft.com/office/drawing/2014/main" id="{C80ADC98-4F86-45B4-96C1-B60388481E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22" t="6571" b="28858"/>
          <a:stretch/>
        </p:blipFill>
        <p:spPr bwMode="auto">
          <a:xfrm>
            <a:off x="858954" y="5163582"/>
            <a:ext cx="331944" cy="325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Strategic Planning Insights: Advantages and Disadvantages of Strategic  Planning">
            <a:extLst>
              <a:ext uri="{FF2B5EF4-FFF2-40B4-BE49-F238E27FC236}">
                <a16:creationId xmlns="" xmlns:a16="http://schemas.microsoft.com/office/drawing/2014/main" id="{7DEE8F13-86D8-4351-8AD8-7DDA345B8B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6571" r="48111" b="28858"/>
          <a:stretch/>
        </p:blipFill>
        <p:spPr bwMode="auto">
          <a:xfrm>
            <a:off x="826058" y="2653781"/>
            <a:ext cx="347422" cy="325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993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i="1" dirty="0">
                <a:solidFill>
                  <a:srgbClr val="C00000"/>
                </a:solidFill>
              </a:rPr>
              <a:t>1. Définition et principe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pPr>
              <a:buNone/>
            </a:pPr>
            <a:endParaRPr lang="fr-FR" dirty="0"/>
          </a:p>
          <a:p>
            <a:pPr algn="just"/>
            <a:r>
              <a:rPr lang="fr-FR" dirty="0"/>
              <a:t>Il faut être sûr qu’on retombera toujours sur un cas connu (</a:t>
            </a:r>
            <a:r>
              <a:rPr lang="fr-FR" b="1" dirty="0"/>
              <a:t>cas d’arrêt</a:t>
            </a:r>
            <a:r>
              <a:rPr lang="fr-FR" dirty="0"/>
              <a:t>)</a:t>
            </a:r>
          </a:p>
          <a:p>
            <a:pPr algn="just"/>
            <a:r>
              <a:rPr lang="fr-FR" dirty="0"/>
              <a:t>Il nous faut nous assurer que la fonction est complètement définie, c’est-à-dire, qu’elle est définie sur tout </a:t>
            </a:r>
            <a:r>
              <a:rPr lang="fr-FR" b="1" dirty="0"/>
              <a:t>son domaine d’applications.</a:t>
            </a:r>
          </a:p>
          <a:p>
            <a:pPr algn="just"/>
            <a:r>
              <a:rPr lang="fr-FR" dirty="0"/>
              <a:t>la suite des valeurs successives des arguments invoqués par la définition soit </a:t>
            </a:r>
            <a:r>
              <a:rPr lang="fr-FR" b="1" dirty="0"/>
              <a:t>strictement monotone </a:t>
            </a:r>
            <a:r>
              <a:rPr lang="fr-FR" dirty="0"/>
              <a:t>et finit toujours par atteindre une valeur pour laquelle la solution est explicitement définie.</a:t>
            </a:r>
          </a:p>
          <a:p>
            <a:pPr lvl="1" algn="just"/>
            <a:endParaRPr lang="fr-FR" b="1" dirty="0"/>
          </a:p>
          <a:p>
            <a:pPr>
              <a:buNone/>
            </a:pPr>
            <a:endParaRPr lang="fr-FR" dirty="0"/>
          </a:p>
          <a:p>
            <a:pPr algn="just"/>
            <a:endParaRPr lang="fr-FR" b="1" dirty="0"/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4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fr-FR" sz="3600" b="1" dirty="0">
                <a:solidFill>
                  <a:srgbClr val="FF0000"/>
                </a:solidFill>
              </a:rPr>
              <a:t>	</a:t>
            </a:r>
            <a:r>
              <a:rPr lang="en-GB" sz="3600" dirty="0"/>
              <a:t>Int </a:t>
            </a:r>
            <a:r>
              <a:rPr lang="en-GB" sz="3600" b="1" dirty="0"/>
              <a:t>Algo</a:t>
            </a:r>
            <a:r>
              <a:rPr lang="en-GB" sz="3600" dirty="0"/>
              <a:t> (int </a:t>
            </a:r>
            <a:r>
              <a:rPr lang="en-GB" sz="3600" i="1" dirty="0"/>
              <a:t>a</a:t>
            </a:r>
            <a:r>
              <a:rPr lang="en-GB" sz="3600" dirty="0"/>
              <a:t>, int </a:t>
            </a:r>
            <a:r>
              <a:rPr lang="en-GB" sz="3600" i="1" dirty="0"/>
              <a:t>b</a:t>
            </a:r>
            <a:r>
              <a:rPr lang="en-GB" sz="3600" dirty="0"/>
              <a:t>)</a:t>
            </a:r>
            <a:endParaRPr lang="fr-FR" sz="3600" dirty="0"/>
          </a:p>
          <a:p>
            <a:pPr lvl="2">
              <a:buNone/>
            </a:pPr>
            <a:r>
              <a:rPr lang="en-GB" sz="2800" dirty="0"/>
              <a:t>	If (</a:t>
            </a:r>
            <a:r>
              <a:rPr lang="en-GB" sz="2800" i="1" dirty="0"/>
              <a:t>a </a:t>
            </a:r>
            <a:r>
              <a:rPr lang="en-GB" sz="2800" dirty="0"/>
              <a:t> &lt;=0) then </a:t>
            </a:r>
            <a:r>
              <a:rPr lang="en-GB" sz="2800" dirty="0" err="1"/>
              <a:t>Erreur</a:t>
            </a:r>
            <a:endParaRPr lang="fr-FR" sz="2800" dirty="0"/>
          </a:p>
          <a:p>
            <a:pPr lvl="2">
              <a:buNone/>
            </a:pPr>
            <a:r>
              <a:rPr lang="en-GB" sz="2800" dirty="0"/>
              <a:t>		Else </a:t>
            </a:r>
            <a:endParaRPr lang="fr-FR" sz="2800" dirty="0"/>
          </a:p>
          <a:p>
            <a:pPr lvl="2">
              <a:buNone/>
            </a:pPr>
            <a:r>
              <a:rPr lang="en-GB" sz="2800" dirty="0"/>
              <a:t>		If (a&gt;=b) return (a==b)</a:t>
            </a:r>
            <a:endParaRPr lang="fr-FR" sz="2800" dirty="0"/>
          </a:p>
          <a:p>
            <a:pPr lvl="2">
              <a:buNone/>
            </a:pPr>
            <a:r>
              <a:rPr lang="en-GB" sz="2800" dirty="0"/>
              <a:t>			Else </a:t>
            </a:r>
            <a:endParaRPr lang="fr-FR" sz="2800" dirty="0"/>
          </a:p>
          <a:p>
            <a:pPr lvl="2">
              <a:buNone/>
            </a:pPr>
            <a:r>
              <a:rPr lang="en-GB" sz="2800" dirty="0"/>
              <a:t>			Return (</a:t>
            </a:r>
            <a:r>
              <a:rPr lang="en-GB" sz="2800" b="1" dirty="0" err="1"/>
              <a:t>Algo</a:t>
            </a:r>
            <a:r>
              <a:rPr lang="en-GB" sz="2800" dirty="0"/>
              <a:t> (</a:t>
            </a:r>
            <a:r>
              <a:rPr lang="en-GB" sz="2800" i="1" dirty="0" err="1"/>
              <a:t>a</a:t>
            </a:r>
            <a:r>
              <a:rPr lang="en-GB" sz="2800" dirty="0" err="1"/>
              <a:t>,</a:t>
            </a:r>
            <a:r>
              <a:rPr lang="en-GB" sz="2800" i="1" dirty="0" err="1"/>
              <a:t>b</a:t>
            </a:r>
            <a:r>
              <a:rPr lang="en-GB" sz="2800" dirty="0"/>
              <a:t>-</a:t>
            </a:r>
            <a:r>
              <a:rPr lang="en-GB" sz="2800" i="1" dirty="0"/>
              <a:t>a</a:t>
            </a:r>
            <a:r>
              <a:rPr lang="en-GB" sz="2800" dirty="0"/>
              <a:t>) )</a:t>
            </a:r>
            <a:endParaRPr lang="fr-FR" sz="2800" dirty="0"/>
          </a:p>
          <a:p>
            <a:pPr lvl="2">
              <a:buNone/>
            </a:pPr>
            <a:r>
              <a:rPr lang="fr-FR" sz="2800" dirty="0"/>
              <a:t>End</a:t>
            </a:r>
          </a:p>
          <a:p>
            <a:pPr>
              <a:buNone/>
            </a:pPr>
            <a:r>
              <a:rPr lang="fr-FR" sz="3600" dirty="0"/>
              <a:t> 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="" xmlns:a16="http://schemas.microsoft.com/office/drawing/2014/main" id="{6D13EE9D-DCB1-42B7-81F5-FBA9BE83C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738" y="365125"/>
            <a:ext cx="10152062" cy="1325563"/>
          </a:xfrm>
        </p:spPr>
        <p:txBody>
          <a:bodyPr/>
          <a:lstStyle/>
          <a:p>
            <a:r>
              <a:rPr lang="fr-FR" b="1" i="1" dirty="0">
                <a:solidFill>
                  <a:srgbClr val="C00000"/>
                </a:solidFill>
              </a:rPr>
              <a:t>1. Définition et principe</a:t>
            </a:r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986C25B-2A9C-4F2C-BC13-FFAF7E2CEA84}"/>
              </a:ext>
            </a:extLst>
          </p:cNvPr>
          <p:cNvSpPr/>
          <p:nvPr/>
        </p:nvSpPr>
        <p:spPr>
          <a:xfrm>
            <a:off x="2651760" y="3337877"/>
            <a:ext cx="3383280" cy="365760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Bulle narrative : rectangle 7">
            <a:extLst>
              <a:ext uri="{FF2B5EF4-FFF2-40B4-BE49-F238E27FC236}">
                <a16:creationId xmlns="" xmlns:a16="http://schemas.microsoft.com/office/drawing/2014/main" id="{A26CB3A4-D200-45D9-AC96-11B3E4E7183D}"/>
              </a:ext>
            </a:extLst>
          </p:cNvPr>
          <p:cNvSpPr/>
          <p:nvPr/>
        </p:nvSpPr>
        <p:spPr>
          <a:xfrm>
            <a:off x="7985760" y="1825625"/>
            <a:ext cx="3383280" cy="1617345"/>
          </a:xfrm>
          <a:prstGeom prst="wedgeRectCallout">
            <a:avLst>
              <a:gd name="adj1" fmla="val -105908"/>
              <a:gd name="adj2" fmla="val 48378"/>
            </a:avLst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dk1"/>
                </a:solidFill>
              </a:rPr>
              <a:t>Cas d’arrêt: </a:t>
            </a:r>
            <a:r>
              <a:rPr lang="fr-FR" dirty="0"/>
              <a:t>on finit toujours par aboutir à un couple d’arguments (</a:t>
            </a:r>
            <a:r>
              <a:rPr lang="fr-FR" i="1" dirty="0" err="1"/>
              <a:t>a</a:t>
            </a:r>
            <a:r>
              <a:rPr lang="fr-FR" dirty="0" err="1"/>
              <a:t>,</a:t>
            </a:r>
            <a:r>
              <a:rPr lang="fr-FR" i="1" dirty="0" err="1"/>
              <a:t>b</a:t>
            </a:r>
            <a:r>
              <a:rPr lang="fr-FR" dirty="0"/>
              <a:t>) tel que </a:t>
            </a:r>
            <a:r>
              <a:rPr lang="fr-FR" i="1" dirty="0"/>
              <a:t>b</a:t>
            </a:r>
            <a:r>
              <a:rPr lang="fr-FR" dirty="0"/>
              <a:t>-</a:t>
            </a:r>
            <a:r>
              <a:rPr lang="fr-FR" i="1" dirty="0"/>
              <a:t>a </a:t>
            </a:r>
            <a:r>
              <a:rPr lang="fr-FR" dirty="0"/>
              <a:t>est négatif</a:t>
            </a:r>
            <a:endParaRPr lang="fr-FR" dirty="0">
              <a:solidFill>
                <a:schemeClr val="dk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5E35CB-D9F9-4B09-826F-D570A6D07098}"/>
              </a:ext>
            </a:extLst>
          </p:cNvPr>
          <p:cNvSpPr/>
          <p:nvPr/>
        </p:nvSpPr>
        <p:spPr>
          <a:xfrm>
            <a:off x="2598420" y="3257867"/>
            <a:ext cx="1440180" cy="539274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Bulle narrative : rectangle 11">
            <a:extLst>
              <a:ext uri="{FF2B5EF4-FFF2-40B4-BE49-F238E27FC236}">
                <a16:creationId xmlns="" xmlns:a16="http://schemas.microsoft.com/office/drawing/2014/main" id="{7F7FDBF7-D909-41CC-9670-3432194CEF0C}"/>
              </a:ext>
            </a:extLst>
          </p:cNvPr>
          <p:cNvSpPr/>
          <p:nvPr/>
        </p:nvSpPr>
        <p:spPr>
          <a:xfrm>
            <a:off x="7833364" y="3486940"/>
            <a:ext cx="3093720" cy="682309"/>
          </a:xfrm>
          <a:prstGeom prst="wedgeRectCallout">
            <a:avLst>
              <a:gd name="adj1" fmla="val -160594"/>
              <a:gd name="adj2" fmla="val 13451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dk1"/>
                </a:solidFill>
              </a:rPr>
              <a:t>Pour tout a et b: il couvre tout le </a:t>
            </a:r>
            <a:r>
              <a:rPr lang="fr-FR" b="1" dirty="0">
                <a:solidFill>
                  <a:schemeClr val="dk1"/>
                </a:solidFill>
              </a:rPr>
              <a:t>domaine d’application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1819AD47-C3A7-4DB6-B14D-90DCD864949A}"/>
              </a:ext>
            </a:extLst>
          </p:cNvPr>
          <p:cNvSpPr/>
          <p:nvPr/>
        </p:nvSpPr>
        <p:spPr>
          <a:xfrm>
            <a:off x="3535680" y="3742054"/>
            <a:ext cx="815340" cy="468947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6F2D50C6-A3C8-4317-A348-60F49BE503DA}"/>
              </a:ext>
            </a:extLst>
          </p:cNvPr>
          <p:cNvSpPr/>
          <p:nvPr/>
        </p:nvSpPr>
        <p:spPr>
          <a:xfrm>
            <a:off x="2042160" y="2375218"/>
            <a:ext cx="1493520" cy="431800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784E9E6F-2439-4B17-A197-B18251323127}"/>
              </a:ext>
            </a:extLst>
          </p:cNvPr>
          <p:cNvSpPr/>
          <p:nvPr/>
        </p:nvSpPr>
        <p:spPr>
          <a:xfrm>
            <a:off x="5972968" y="4246876"/>
            <a:ext cx="549751" cy="36575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Bulle narrative : rectangle 19">
            <a:extLst>
              <a:ext uri="{FF2B5EF4-FFF2-40B4-BE49-F238E27FC236}">
                <a16:creationId xmlns="" xmlns:a16="http://schemas.microsoft.com/office/drawing/2014/main" id="{CEE15A1B-A041-474E-AC82-5464DDB2527C}"/>
              </a:ext>
            </a:extLst>
          </p:cNvPr>
          <p:cNvSpPr/>
          <p:nvPr/>
        </p:nvSpPr>
        <p:spPr>
          <a:xfrm>
            <a:off x="7421882" y="4236718"/>
            <a:ext cx="3649978" cy="1910876"/>
          </a:xfrm>
          <a:prstGeom prst="wedgeRectCallout">
            <a:avLst>
              <a:gd name="adj1" fmla="val -75028"/>
              <a:gd name="adj2" fmla="val -29891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fr-FR" dirty="0"/>
              <a:t>La suite des valeurs </a:t>
            </a:r>
            <a:r>
              <a:rPr lang="fr-FR" i="1" dirty="0"/>
              <a:t>b</a:t>
            </a:r>
            <a:r>
              <a:rPr lang="fr-FR" dirty="0"/>
              <a:t>, </a:t>
            </a:r>
            <a:r>
              <a:rPr lang="fr-FR" i="1" dirty="0"/>
              <a:t>b</a:t>
            </a:r>
            <a:r>
              <a:rPr lang="fr-FR" dirty="0"/>
              <a:t>-</a:t>
            </a:r>
            <a:r>
              <a:rPr lang="fr-FR" i="1" dirty="0"/>
              <a:t>a</a:t>
            </a:r>
            <a:r>
              <a:rPr lang="fr-FR" dirty="0"/>
              <a:t>, </a:t>
            </a:r>
            <a:r>
              <a:rPr lang="fr-FR" i="1" dirty="0"/>
              <a:t>b</a:t>
            </a:r>
            <a:r>
              <a:rPr lang="fr-FR" dirty="0"/>
              <a:t>-2</a:t>
            </a:r>
            <a:r>
              <a:rPr lang="fr-FR" i="1" dirty="0"/>
              <a:t>a</a:t>
            </a:r>
            <a:r>
              <a:rPr lang="fr-FR" dirty="0"/>
              <a:t>, etc. est </a:t>
            </a:r>
            <a:r>
              <a:rPr lang="fr-FR" b="1" dirty="0"/>
              <a:t>strictement décroissante</a:t>
            </a:r>
            <a:r>
              <a:rPr lang="fr-FR" dirty="0"/>
              <a:t>, car </a:t>
            </a:r>
            <a:r>
              <a:rPr lang="fr-FR" i="1" dirty="0"/>
              <a:t>a </a:t>
            </a:r>
            <a:r>
              <a:rPr lang="fr-FR" dirty="0"/>
              <a:t>est strictement positif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i="1" dirty="0">
                <a:solidFill>
                  <a:srgbClr val="C00000"/>
                </a:solidFill>
              </a:rPr>
              <a:t>2. L’ordre des appels récursifs: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6</a:t>
            </a:fld>
            <a:endParaRPr lang="fr-FR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166565"/>
              </p:ext>
            </p:extLst>
          </p:nvPr>
        </p:nvGraphicFramePr>
        <p:xfrm>
          <a:off x="1936113" y="2677159"/>
          <a:ext cx="7004686" cy="2457029"/>
        </p:xfrm>
        <a:graphic>
          <a:graphicData uri="http://schemas.openxmlformats.org/drawingml/2006/table">
            <a:tbl>
              <a:tblPr/>
              <a:tblGrid>
                <a:gridCol w="35023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50234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7752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Arial"/>
                          <a:ea typeface="Times New Roman"/>
                          <a:cs typeface="Times New Roman"/>
                        </a:rPr>
                        <a:t>Récursivité terminale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dirty="0">
                          <a:latin typeface="Arial"/>
                          <a:ea typeface="Times New Roman"/>
                          <a:cs typeface="Times New Roman"/>
                        </a:rPr>
                        <a:t>Récursivité non terminale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220823025"/>
                  </a:ext>
                </a:extLst>
              </a:tr>
              <a:tr h="197950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fr-FR" sz="1400">
                        <a:highlight>
                          <a:srgbClr val="00FFFF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400">
                          <a:highlight>
                            <a:srgbClr val="00FFFF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Algo1 (</a:t>
                      </a:r>
                      <a:r>
                        <a:rPr lang="fr-FR" sz="1400" i="1">
                          <a:highlight>
                            <a:srgbClr val="00FFFF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fr-FR" sz="1400">
                          <a:highlight>
                            <a:srgbClr val="00FFFF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)</a:t>
                      </a:r>
                      <a:endParaRPr lang="fr-FR" sz="140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indent="449580" algn="just">
                        <a:spcAft>
                          <a:spcPts val="0"/>
                        </a:spcAft>
                      </a:pPr>
                      <a:r>
                        <a:rPr lang="fr-FR" sz="1400">
                          <a:latin typeface="Arial"/>
                          <a:ea typeface="Times New Roman"/>
                          <a:cs typeface="Times New Roman"/>
                        </a:rPr>
                        <a:t>If (</a:t>
                      </a:r>
                      <a:r>
                        <a:rPr lang="fr-FR" sz="1400" i="1">
                          <a:latin typeface="Arial"/>
                          <a:ea typeface="Times New Roman"/>
                          <a:cs typeface="Times New Roman"/>
                        </a:rPr>
                        <a:t>n </a:t>
                      </a:r>
                      <a:r>
                        <a:rPr lang="fr-FR" sz="1400">
                          <a:latin typeface="CMR10"/>
                          <a:ea typeface="Times New Roman"/>
                          <a:cs typeface="CMR10"/>
                        </a:rPr>
                        <a:t>= </a:t>
                      </a:r>
                      <a:r>
                        <a:rPr lang="fr-FR" sz="1400">
                          <a:latin typeface="Arial"/>
                          <a:ea typeface="Times New Roman"/>
                          <a:cs typeface="Times New Roman"/>
                        </a:rPr>
                        <a:t>0 )Then  ne rien faire</a:t>
                      </a:r>
                    </a:p>
                    <a:p>
                      <a:pPr marL="449580" indent="449580" algn="just">
                        <a:spcAft>
                          <a:spcPts val="0"/>
                        </a:spcAft>
                      </a:pPr>
                      <a:r>
                        <a:rPr lang="fr-FR" sz="1400">
                          <a:latin typeface="Arial"/>
                          <a:ea typeface="Times New Roman"/>
                          <a:cs typeface="Times New Roman"/>
                        </a:rPr>
                        <a:t>Else </a:t>
                      </a:r>
                    </a:p>
                    <a:p>
                      <a:pPr marL="449580" indent="449580" algn="just">
                        <a:spcAft>
                          <a:spcPts val="0"/>
                        </a:spcAft>
                      </a:pPr>
                      <a:r>
                        <a:rPr lang="fr-FR" sz="1400">
                          <a:highlight>
                            <a:srgbClr val="FFFF00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afficher </a:t>
                      </a:r>
                      <a:r>
                        <a:rPr lang="fr-FR" sz="1400" i="1">
                          <a:highlight>
                            <a:srgbClr val="FFFF00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n</a:t>
                      </a:r>
                      <a:endParaRPr lang="fr-FR" sz="140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449580" indent="449580" algn="just">
                        <a:spcAft>
                          <a:spcPts val="0"/>
                        </a:spcAft>
                      </a:pPr>
                      <a:r>
                        <a:rPr lang="fr-FR" sz="1400">
                          <a:highlight>
                            <a:srgbClr val="00FFFF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Algo1 (</a:t>
                      </a:r>
                      <a:r>
                        <a:rPr lang="fr-FR" sz="1400" i="1">
                          <a:highlight>
                            <a:srgbClr val="00FFFF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n-</a:t>
                      </a:r>
                      <a:r>
                        <a:rPr lang="fr-FR" sz="1400">
                          <a:highlight>
                            <a:srgbClr val="00FFFF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1)</a:t>
                      </a:r>
                      <a:endParaRPr lang="fr-FR" sz="140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400">
                          <a:latin typeface="Arial"/>
                          <a:ea typeface="Times New Roman"/>
                          <a:cs typeface="Times New Roman"/>
                        </a:rPr>
                        <a:t>	End_if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400">
                          <a:latin typeface="Arial"/>
                          <a:ea typeface="Times New Roman"/>
                          <a:cs typeface="Times New Roman"/>
                        </a:rPr>
                        <a:t>End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fr-FR" sz="1400" dirty="0">
                        <a:highlight>
                          <a:srgbClr val="00FFFF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400" dirty="0">
                          <a:highlight>
                            <a:srgbClr val="00FFFF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Algo2 (</a:t>
                      </a:r>
                      <a:r>
                        <a:rPr lang="fr-FR" sz="1400" i="1" dirty="0">
                          <a:highlight>
                            <a:srgbClr val="00FFFF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fr-FR" sz="1400" dirty="0">
                          <a:highlight>
                            <a:srgbClr val="00FFFF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)</a:t>
                      </a:r>
                      <a:endParaRPr lang="fr-FR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indent="449580" algn="just">
                        <a:spcAft>
                          <a:spcPts val="0"/>
                        </a:spcAft>
                      </a:pPr>
                      <a:r>
                        <a:rPr lang="fr-FR" sz="1400" dirty="0">
                          <a:latin typeface="Arial"/>
                          <a:ea typeface="Times New Roman"/>
                          <a:cs typeface="Times New Roman"/>
                        </a:rPr>
                        <a:t>If ( </a:t>
                      </a:r>
                      <a:r>
                        <a:rPr lang="fr-FR" sz="1400" i="1" dirty="0">
                          <a:latin typeface="Arial"/>
                          <a:ea typeface="Times New Roman"/>
                          <a:cs typeface="Times New Roman"/>
                        </a:rPr>
                        <a:t>n </a:t>
                      </a:r>
                      <a:r>
                        <a:rPr lang="fr-FR" sz="1400" dirty="0">
                          <a:latin typeface="CMR10"/>
                          <a:ea typeface="Times New Roman"/>
                          <a:cs typeface="CMR10"/>
                        </a:rPr>
                        <a:t>= </a:t>
                      </a:r>
                      <a:r>
                        <a:rPr lang="fr-FR" sz="1400" dirty="0">
                          <a:latin typeface="Arial"/>
                          <a:ea typeface="Times New Roman"/>
                          <a:cs typeface="Times New Roman"/>
                        </a:rPr>
                        <a:t>0) </a:t>
                      </a:r>
                      <a:r>
                        <a:rPr lang="fr-FR" sz="1400" dirty="0" err="1">
                          <a:latin typeface="Arial"/>
                          <a:ea typeface="Times New Roman"/>
                          <a:cs typeface="Times New Roman"/>
                        </a:rPr>
                        <a:t>Then</a:t>
                      </a:r>
                      <a:r>
                        <a:rPr lang="fr-FR" sz="1400" dirty="0">
                          <a:latin typeface="Arial"/>
                          <a:ea typeface="Times New Roman"/>
                          <a:cs typeface="Times New Roman"/>
                        </a:rPr>
                        <a:t> ne rien faire</a:t>
                      </a:r>
                    </a:p>
                    <a:p>
                      <a:pPr marL="449580" indent="449580" algn="just">
                        <a:spcAft>
                          <a:spcPts val="0"/>
                        </a:spcAft>
                      </a:pPr>
                      <a:r>
                        <a:rPr lang="fr-FR" sz="1400" dirty="0" err="1">
                          <a:latin typeface="Arial"/>
                          <a:ea typeface="Times New Roman"/>
                          <a:cs typeface="Times New Roman"/>
                        </a:rPr>
                        <a:t>Else</a:t>
                      </a:r>
                      <a:r>
                        <a:rPr lang="fr-FR" sz="1400" b="1" dirty="0">
                          <a:latin typeface="Arial"/>
                          <a:ea typeface="Times New Roman"/>
                          <a:cs typeface="Times New Roman"/>
                        </a:rPr>
                        <a:t>  </a:t>
                      </a:r>
                      <a:endParaRPr lang="fr-FR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449580" indent="449580" algn="just">
                        <a:spcAft>
                          <a:spcPts val="0"/>
                        </a:spcAft>
                      </a:pPr>
                      <a:r>
                        <a:rPr lang="fr-FR" sz="1400" dirty="0">
                          <a:highlight>
                            <a:srgbClr val="00FFFF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Algo2 (</a:t>
                      </a:r>
                      <a:r>
                        <a:rPr lang="fr-FR" sz="1400" i="1" dirty="0">
                          <a:highlight>
                            <a:srgbClr val="00FFFF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fr-FR" sz="1400" dirty="0">
                          <a:highlight>
                            <a:srgbClr val="00FFFF"/>
                          </a:highlight>
                          <a:latin typeface="CMSY10"/>
                          <a:ea typeface="Times New Roman"/>
                          <a:cs typeface="CMSY10"/>
                        </a:rPr>
                        <a:t>-</a:t>
                      </a:r>
                      <a:r>
                        <a:rPr lang="fr-FR" sz="1400" dirty="0">
                          <a:highlight>
                            <a:srgbClr val="00FFFF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1)</a:t>
                      </a:r>
                      <a:endParaRPr lang="fr-FR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449580" indent="449580" algn="just">
                        <a:spcAft>
                          <a:spcPts val="0"/>
                        </a:spcAft>
                      </a:pPr>
                      <a:r>
                        <a:rPr lang="fr-FR" sz="1400" dirty="0">
                          <a:highlight>
                            <a:srgbClr val="FFFF00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afficher </a:t>
                      </a:r>
                      <a:r>
                        <a:rPr lang="fr-FR" sz="1400" i="1" dirty="0">
                          <a:highlight>
                            <a:srgbClr val="FFFF00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n</a:t>
                      </a:r>
                      <a:endParaRPr lang="fr-FR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400" i="1" dirty="0">
                          <a:latin typeface="Arial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fr-FR" sz="1400" i="1" dirty="0" err="1">
                          <a:latin typeface="Arial"/>
                          <a:ea typeface="Times New Roman"/>
                          <a:cs typeface="Times New Roman"/>
                        </a:rPr>
                        <a:t>Endif</a:t>
                      </a:r>
                      <a:endParaRPr lang="fr-FR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400" dirty="0">
                          <a:latin typeface="Arial"/>
                          <a:ea typeface="Times New Roman"/>
                          <a:cs typeface="Times New Roman"/>
                        </a:rPr>
                        <a:t>End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CDE08D1B-2DCC-4CBB-AB56-A73356791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000" y="365125"/>
            <a:ext cx="10033000" cy="1325563"/>
          </a:xfrm>
        </p:spPr>
        <p:txBody>
          <a:bodyPr>
            <a:normAutofit/>
          </a:bodyPr>
          <a:lstStyle/>
          <a:p>
            <a:r>
              <a:rPr lang="fr-FR" i="1" dirty="0">
                <a:solidFill>
                  <a:srgbClr val="C00000"/>
                </a:solidFill>
              </a:rPr>
              <a:t>2. L’ordre des appels récursifs: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="" xmlns:a16="http://schemas.microsoft.com/office/drawing/2014/main" id="{28629BD8-115B-4EB0-91EA-44683701C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7120" y="1822450"/>
            <a:ext cx="4617720" cy="5369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  20 40 1 10 30 60 70 50 80 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="" xmlns:a16="http://schemas.microsoft.com/office/drawing/2014/main" id="{5B21FB4B-3B86-4F48-8F08-0C45D862D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="" xmlns:a16="http://schemas.microsoft.com/office/drawing/2014/main" id="{79DB815A-4946-4BAC-9A06-7329C73EE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BFA8F21E-B1C2-4149-9762-18CC4426297F}"/>
              </a:ext>
            </a:extLst>
          </p:cNvPr>
          <p:cNvSpPr/>
          <p:nvPr/>
        </p:nvSpPr>
        <p:spPr>
          <a:xfrm>
            <a:off x="289560" y="1825624"/>
            <a:ext cx="3352800" cy="43513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="" xmlns:a16="http://schemas.microsoft.com/office/drawing/2014/main" id="{C2CA32E6-823C-4B8C-97A4-CEEA5791ABD9}"/>
              </a:ext>
            </a:extLst>
          </p:cNvPr>
          <p:cNvSpPr/>
          <p:nvPr/>
        </p:nvSpPr>
        <p:spPr>
          <a:xfrm>
            <a:off x="1737360" y="2072640"/>
            <a:ext cx="487680" cy="50292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fr-FR" dirty="0"/>
              <a:t>20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="" xmlns:a16="http://schemas.microsoft.com/office/drawing/2014/main" id="{8D05AE72-6C1B-4183-B1DE-41C678069AB9}"/>
              </a:ext>
            </a:extLst>
          </p:cNvPr>
          <p:cNvSpPr/>
          <p:nvPr/>
        </p:nvSpPr>
        <p:spPr>
          <a:xfrm>
            <a:off x="1005840" y="2771457"/>
            <a:ext cx="487680" cy="50292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fr-FR" dirty="0"/>
              <a:t>40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="" xmlns:a16="http://schemas.microsoft.com/office/drawing/2014/main" id="{722FFA66-4B14-4F1B-8168-A54AF9AFE50A}"/>
              </a:ext>
            </a:extLst>
          </p:cNvPr>
          <p:cNvSpPr/>
          <p:nvPr/>
        </p:nvSpPr>
        <p:spPr>
          <a:xfrm>
            <a:off x="2514600" y="2771457"/>
            <a:ext cx="487680" cy="50292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fr-FR" dirty="0"/>
              <a:t>60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="" xmlns:a16="http://schemas.microsoft.com/office/drawing/2014/main" id="{301256B7-2152-4B14-BBF7-3A36EF0903E4}"/>
              </a:ext>
            </a:extLst>
          </p:cNvPr>
          <p:cNvSpPr/>
          <p:nvPr/>
        </p:nvSpPr>
        <p:spPr>
          <a:xfrm>
            <a:off x="583920" y="3551714"/>
            <a:ext cx="487680" cy="50292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="" xmlns:a16="http://schemas.microsoft.com/office/drawing/2014/main" id="{BBBAC1DF-7996-4EB1-A10B-BDB58DC9AB8B}"/>
              </a:ext>
            </a:extLst>
          </p:cNvPr>
          <p:cNvSpPr/>
          <p:nvPr/>
        </p:nvSpPr>
        <p:spPr>
          <a:xfrm>
            <a:off x="1417320" y="3549332"/>
            <a:ext cx="487680" cy="50292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fr-FR" dirty="0"/>
              <a:t>10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="" xmlns:a16="http://schemas.microsoft.com/office/drawing/2014/main" id="{341C6D19-DED5-4FA0-B93F-EA702FE213D6}"/>
              </a:ext>
            </a:extLst>
          </p:cNvPr>
          <p:cNvSpPr/>
          <p:nvPr/>
        </p:nvSpPr>
        <p:spPr>
          <a:xfrm>
            <a:off x="1127760" y="4322443"/>
            <a:ext cx="487680" cy="50292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fr-FR" dirty="0"/>
              <a:t>30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="" xmlns:a16="http://schemas.microsoft.com/office/drawing/2014/main" id="{06C3B72B-FCBE-47DE-AC84-3290296BCB6A}"/>
              </a:ext>
            </a:extLst>
          </p:cNvPr>
          <p:cNvCxnSpPr>
            <a:stCxn id="11" idx="3"/>
            <a:endCxn id="13" idx="0"/>
          </p:cNvCxnSpPr>
          <p:nvPr/>
        </p:nvCxnSpPr>
        <p:spPr>
          <a:xfrm flipH="1">
            <a:off x="1249680" y="2501909"/>
            <a:ext cx="559099" cy="269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="" xmlns:a16="http://schemas.microsoft.com/office/drawing/2014/main" id="{346CADD3-06FC-40C7-925F-4CD9CBE456B9}"/>
              </a:ext>
            </a:extLst>
          </p:cNvPr>
          <p:cNvCxnSpPr>
            <a:stCxn id="11" idx="5"/>
            <a:endCxn id="15" idx="0"/>
          </p:cNvCxnSpPr>
          <p:nvPr/>
        </p:nvCxnSpPr>
        <p:spPr>
          <a:xfrm>
            <a:off x="2153621" y="2501909"/>
            <a:ext cx="604819" cy="269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="" xmlns:a16="http://schemas.microsoft.com/office/drawing/2014/main" id="{25BA6B20-3316-4568-9362-1E9A4CA04206}"/>
              </a:ext>
            </a:extLst>
          </p:cNvPr>
          <p:cNvCxnSpPr>
            <a:stCxn id="13" idx="3"/>
            <a:endCxn id="17" idx="0"/>
          </p:cNvCxnSpPr>
          <p:nvPr/>
        </p:nvCxnSpPr>
        <p:spPr>
          <a:xfrm flipH="1">
            <a:off x="827760" y="3200726"/>
            <a:ext cx="249499" cy="350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="" xmlns:a16="http://schemas.microsoft.com/office/drawing/2014/main" id="{B379473F-D040-4423-8708-3673515AA9CC}"/>
              </a:ext>
            </a:extLst>
          </p:cNvPr>
          <p:cNvCxnSpPr>
            <a:stCxn id="13" idx="5"/>
            <a:endCxn id="19" idx="0"/>
          </p:cNvCxnSpPr>
          <p:nvPr/>
        </p:nvCxnSpPr>
        <p:spPr>
          <a:xfrm>
            <a:off x="1422101" y="3200726"/>
            <a:ext cx="239059" cy="348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="" xmlns:a16="http://schemas.microsoft.com/office/drawing/2014/main" id="{B34CB29B-088C-4E28-B730-282DE21E3AD7}"/>
              </a:ext>
            </a:extLst>
          </p:cNvPr>
          <p:cNvCxnSpPr>
            <a:stCxn id="19" idx="3"/>
            <a:endCxn id="21" idx="0"/>
          </p:cNvCxnSpPr>
          <p:nvPr/>
        </p:nvCxnSpPr>
        <p:spPr>
          <a:xfrm flipH="1">
            <a:off x="1371600" y="3978601"/>
            <a:ext cx="117139" cy="3438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lipse 32">
            <a:extLst>
              <a:ext uri="{FF2B5EF4-FFF2-40B4-BE49-F238E27FC236}">
                <a16:creationId xmlns="" xmlns:a16="http://schemas.microsoft.com/office/drawing/2014/main" id="{89B36605-68E8-4070-B3D1-5909120FCCE4}"/>
              </a:ext>
            </a:extLst>
          </p:cNvPr>
          <p:cNvSpPr/>
          <p:nvPr/>
        </p:nvSpPr>
        <p:spPr>
          <a:xfrm>
            <a:off x="2186940" y="3505530"/>
            <a:ext cx="487680" cy="50292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fr-FR" dirty="0"/>
              <a:t>70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="" xmlns:a16="http://schemas.microsoft.com/office/drawing/2014/main" id="{8D96233F-A409-441B-867A-F6733B7BDAC4}"/>
              </a:ext>
            </a:extLst>
          </p:cNvPr>
          <p:cNvSpPr/>
          <p:nvPr/>
        </p:nvSpPr>
        <p:spPr>
          <a:xfrm>
            <a:off x="2956560" y="3501084"/>
            <a:ext cx="487680" cy="50292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fr-FR" dirty="0"/>
              <a:t>80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="" xmlns:a16="http://schemas.microsoft.com/office/drawing/2014/main" id="{DCC590B0-B9CF-42A8-804F-3350FB64686B}"/>
              </a:ext>
            </a:extLst>
          </p:cNvPr>
          <p:cNvSpPr/>
          <p:nvPr/>
        </p:nvSpPr>
        <p:spPr>
          <a:xfrm>
            <a:off x="2590800" y="4322443"/>
            <a:ext cx="487680" cy="50292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fr-FR" dirty="0"/>
              <a:t>50</a:t>
            </a:r>
          </a:p>
        </p:txBody>
      </p:sp>
      <p:cxnSp>
        <p:nvCxnSpPr>
          <p:cNvPr id="39" name="Connecteur droit 38">
            <a:extLst>
              <a:ext uri="{FF2B5EF4-FFF2-40B4-BE49-F238E27FC236}">
                <a16:creationId xmlns="" xmlns:a16="http://schemas.microsoft.com/office/drawing/2014/main" id="{077402A5-D882-495B-92B3-3DC2E92ACA57}"/>
              </a:ext>
            </a:extLst>
          </p:cNvPr>
          <p:cNvCxnSpPr>
            <a:stCxn id="15" idx="3"/>
            <a:endCxn id="33" idx="0"/>
          </p:cNvCxnSpPr>
          <p:nvPr/>
        </p:nvCxnSpPr>
        <p:spPr>
          <a:xfrm flipH="1">
            <a:off x="2430780" y="3200726"/>
            <a:ext cx="155239" cy="304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="" xmlns:a16="http://schemas.microsoft.com/office/drawing/2014/main" id="{C8D7489E-7364-4A92-95EB-2B7EE66CAC10}"/>
              </a:ext>
            </a:extLst>
          </p:cNvPr>
          <p:cNvCxnSpPr>
            <a:stCxn id="15" idx="5"/>
            <a:endCxn id="35" idx="0"/>
          </p:cNvCxnSpPr>
          <p:nvPr/>
        </p:nvCxnSpPr>
        <p:spPr>
          <a:xfrm>
            <a:off x="2930861" y="3200726"/>
            <a:ext cx="269539" cy="3003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="" xmlns:a16="http://schemas.microsoft.com/office/drawing/2014/main" id="{FC6F7035-975D-41B2-A6D9-BBB88BE08E30}"/>
              </a:ext>
            </a:extLst>
          </p:cNvPr>
          <p:cNvCxnSpPr>
            <a:stCxn id="33" idx="5"/>
            <a:endCxn id="37" idx="0"/>
          </p:cNvCxnSpPr>
          <p:nvPr/>
        </p:nvCxnSpPr>
        <p:spPr>
          <a:xfrm>
            <a:off x="2603201" y="3934799"/>
            <a:ext cx="231439" cy="387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="" xmlns:a16="http://schemas.microsoft.com/office/drawing/2014/main" id="{890BF1C4-36B5-4408-89D1-B3B2514254E1}"/>
              </a:ext>
            </a:extLst>
          </p:cNvPr>
          <p:cNvSpPr txBox="1"/>
          <p:nvPr/>
        </p:nvSpPr>
        <p:spPr>
          <a:xfrm>
            <a:off x="1848840" y="5015231"/>
            <a:ext cx="1747800" cy="1077218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 err="1">
                <a:latin typeface="Century" panose="02040604050505020304" pitchFamily="18" charset="0"/>
              </a:rPr>
              <a:t>struct</a:t>
            </a:r>
            <a:r>
              <a:rPr lang="fr-FR" sz="1600" dirty="0">
                <a:latin typeface="Century" panose="02040604050505020304" pitchFamily="18" charset="0"/>
              </a:rPr>
              <a:t> Nœud </a:t>
            </a:r>
          </a:p>
          <a:p>
            <a:r>
              <a:rPr lang="fr-FR" sz="1600" dirty="0">
                <a:latin typeface="Century" panose="02040604050505020304" pitchFamily="18" charset="0"/>
              </a:rPr>
              <a:t>     { </a:t>
            </a:r>
            <a:r>
              <a:rPr lang="fr-FR" sz="1600" dirty="0" err="1">
                <a:latin typeface="Century" panose="02040604050505020304" pitchFamily="18" charset="0"/>
              </a:rPr>
              <a:t>int</a:t>
            </a:r>
            <a:r>
              <a:rPr lang="fr-FR" sz="1600" dirty="0">
                <a:latin typeface="Century" panose="02040604050505020304" pitchFamily="18" charset="0"/>
              </a:rPr>
              <a:t> data;</a:t>
            </a:r>
          </a:p>
          <a:p>
            <a:r>
              <a:rPr lang="fr-FR" sz="1600" dirty="0">
                <a:latin typeface="Century" panose="02040604050505020304" pitchFamily="18" charset="0"/>
              </a:rPr>
              <a:t>       Nœud *FG;</a:t>
            </a:r>
          </a:p>
          <a:p>
            <a:r>
              <a:rPr lang="fr-FR" sz="1600" dirty="0">
                <a:latin typeface="Century" panose="02040604050505020304" pitchFamily="18" charset="0"/>
              </a:rPr>
              <a:t>       Nœud *FD;}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="" xmlns:a16="http://schemas.microsoft.com/office/drawing/2014/main" id="{5AE85AC6-7B7C-417B-B96C-EF1CE8C231D3}"/>
              </a:ext>
            </a:extLst>
          </p:cNvPr>
          <p:cNvSpPr txBox="1"/>
          <p:nvPr/>
        </p:nvSpPr>
        <p:spPr>
          <a:xfrm>
            <a:off x="3779520" y="1822449"/>
            <a:ext cx="3520440" cy="156966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 err="1">
                <a:latin typeface="Century" panose="02040604050505020304" pitchFamily="18" charset="0"/>
              </a:rPr>
              <a:t>void</a:t>
            </a:r>
            <a:r>
              <a:rPr lang="fr-FR" sz="1600" dirty="0">
                <a:latin typeface="Century" panose="02040604050505020304" pitchFamily="18" charset="0"/>
              </a:rPr>
              <a:t> afficher ( Nœud * A) </a:t>
            </a:r>
          </a:p>
          <a:p>
            <a:r>
              <a:rPr lang="fr-FR" sz="1600" dirty="0">
                <a:latin typeface="Century" panose="02040604050505020304" pitchFamily="18" charset="0"/>
              </a:rPr>
              <a:t>     { if (A!=NULL)</a:t>
            </a:r>
          </a:p>
          <a:p>
            <a:r>
              <a:rPr lang="fr-FR" sz="1600" dirty="0">
                <a:latin typeface="Century" panose="02040604050505020304" pitchFamily="18" charset="0"/>
              </a:rPr>
              <a:t>          printf("%d" ,A-&gt;data);</a:t>
            </a:r>
          </a:p>
          <a:p>
            <a:r>
              <a:rPr lang="fr-FR" sz="1600" dirty="0">
                <a:latin typeface="Century" panose="02040604050505020304" pitchFamily="18" charset="0"/>
              </a:rPr>
              <a:t>          afficher (A-&gt;FG);</a:t>
            </a:r>
          </a:p>
          <a:p>
            <a:r>
              <a:rPr lang="fr-FR" sz="1600" dirty="0">
                <a:latin typeface="Century" panose="02040604050505020304" pitchFamily="18" charset="0"/>
              </a:rPr>
              <a:t>          afficher (A-&gt;FD);</a:t>
            </a:r>
          </a:p>
          <a:p>
            <a:r>
              <a:rPr lang="fr-FR" sz="1600" dirty="0">
                <a:latin typeface="Century" panose="02040604050505020304" pitchFamily="18" charset="0"/>
              </a:rPr>
              <a:t>       }</a:t>
            </a:r>
          </a:p>
        </p:txBody>
      </p:sp>
      <p:sp>
        <p:nvSpPr>
          <p:cNvPr id="47" name="Parenthèse ouvrante 46">
            <a:extLst>
              <a:ext uri="{FF2B5EF4-FFF2-40B4-BE49-F238E27FC236}">
                <a16:creationId xmlns="" xmlns:a16="http://schemas.microsoft.com/office/drawing/2014/main" id="{62019BEE-7D30-458B-8452-84AC1C626455}"/>
              </a:ext>
            </a:extLst>
          </p:cNvPr>
          <p:cNvSpPr/>
          <p:nvPr/>
        </p:nvSpPr>
        <p:spPr>
          <a:xfrm rot="16200000">
            <a:off x="8848887" y="1533681"/>
            <a:ext cx="167638" cy="15198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Parenthèse ouvrante 48">
            <a:extLst>
              <a:ext uri="{FF2B5EF4-FFF2-40B4-BE49-F238E27FC236}">
                <a16:creationId xmlns="" xmlns:a16="http://schemas.microsoft.com/office/drawing/2014/main" id="{262494BB-0601-48FC-9340-EEC02C30CAC0}"/>
              </a:ext>
            </a:extLst>
          </p:cNvPr>
          <p:cNvSpPr/>
          <p:nvPr/>
        </p:nvSpPr>
        <p:spPr>
          <a:xfrm rot="16200000">
            <a:off x="10514985" y="1452540"/>
            <a:ext cx="167638" cy="1682156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ZoneTexte 49">
            <a:extLst>
              <a:ext uri="{FF2B5EF4-FFF2-40B4-BE49-F238E27FC236}">
                <a16:creationId xmlns="" xmlns:a16="http://schemas.microsoft.com/office/drawing/2014/main" id="{C3BB29EC-C016-443F-B96B-F58B4457CE7D}"/>
              </a:ext>
            </a:extLst>
          </p:cNvPr>
          <p:cNvSpPr txBox="1"/>
          <p:nvPr/>
        </p:nvSpPr>
        <p:spPr>
          <a:xfrm>
            <a:off x="8587427" y="2395455"/>
            <a:ext cx="964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Gauche 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="" xmlns:a16="http://schemas.microsoft.com/office/drawing/2014/main" id="{A134266A-C7D4-427B-B19D-83C26A2FA93F}"/>
              </a:ext>
            </a:extLst>
          </p:cNvPr>
          <p:cNvSpPr txBox="1"/>
          <p:nvPr/>
        </p:nvSpPr>
        <p:spPr>
          <a:xfrm>
            <a:off x="10130474" y="2395454"/>
            <a:ext cx="964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Droite 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="" xmlns:a16="http://schemas.microsoft.com/office/drawing/2014/main" id="{201F3104-00EB-49D1-AFED-E33B4AAD561E}"/>
              </a:ext>
            </a:extLst>
          </p:cNvPr>
          <p:cNvSpPr txBox="1"/>
          <p:nvPr/>
        </p:nvSpPr>
        <p:spPr>
          <a:xfrm>
            <a:off x="7437120" y="2377437"/>
            <a:ext cx="964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Racine  </a:t>
            </a:r>
          </a:p>
        </p:txBody>
      </p:sp>
      <p:sp>
        <p:nvSpPr>
          <p:cNvPr id="57" name="Espace réservé du contenu 8">
            <a:extLst>
              <a:ext uri="{FF2B5EF4-FFF2-40B4-BE49-F238E27FC236}">
                <a16:creationId xmlns="" xmlns:a16="http://schemas.microsoft.com/office/drawing/2014/main" id="{16F3CF82-B05A-4016-A32F-7D0AD9ACA1F9}"/>
              </a:ext>
            </a:extLst>
          </p:cNvPr>
          <p:cNvSpPr txBox="1">
            <a:spLocks/>
          </p:cNvSpPr>
          <p:nvPr/>
        </p:nvSpPr>
        <p:spPr>
          <a:xfrm>
            <a:off x="7437120" y="3468370"/>
            <a:ext cx="4617720" cy="536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  1 40 30 10 20 70 50 60 80 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="" xmlns:a16="http://schemas.microsoft.com/office/drawing/2014/main" id="{A3AE8946-DDDE-4C6B-9CCE-B01A3E666C94}"/>
              </a:ext>
            </a:extLst>
          </p:cNvPr>
          <p:cNvSpPr txBox="1"/>
          <p:nvPr/>
        </p:nvSpPr>
        <p:spPr>
          <a:xfrm>
            <a:off x="3779520" y="3468369"/>
            <a:ext cx="3520440" cy="156966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 err="1">
                <a:latin typeface="Century" panose="02040604050505020304" pitchFamily="18" charset="0"/>
              </a:rPr>
              <a:t>void</a:t>
            </a:r>
            <a:r>
              <a:rPr lang="fr-FR" sz="1600" dirty="0">
                <a:latin typeface="Century" panose="02040604050505020304" pitchFamily="18" charset="0"/>
              </a:rPr>
              <a:t> afficher ( Nœud * A) </a:t>
            </a:r>
          </a:p>
          <a:p>
            <a:r>
              <a:rPr lang="fr-FR" sz="1600" dirty="0">
                <a:latin typeface="Century" panose="02040604050505020304" pitchFamily="18" charset="0"/>
              </a:rPr>
              <a:t>     { if (A!=NULL)</a:t>
            </a:r>
          </a:p>
          <a:p>
            <a:r>
              <a:rPr lang="fr-FR" sz="1600" dirty="0">
                <a:latin typeface="Century" panose="02040604050505020304" pitchFamily="18" charset="0"/>
              </a:rPr>
              <a:t>          afficher (A-&gt;FG);</a:t>
            </a:r>
          </a:p>
          <a:p>
            <a:r>
              <a:rPr lang="fr-FR" sz="1600" dirty="0">
                <a:latin typeface="Century" panose="02040604050505020304" pitchFamily="18" charset="0"/>
              </a:rPr>
              <a:t>          printf("%d" ,A-&gt;data);</a:t>
            </a:r>
          </a:p>
          <a:p>
            <a:r>
              <a:rPr lang="fr-FR" sz="1600" dirty="0">
                <a:latin typeface="Century" panose="02040604050505020304" pitchFamily="18" charset="0"/>
              </a:rPr>
              <a:t>          afficher (A-&gt;FD);</a:t>
            </a:r>
          </a:p>
          <a:p>
            <a:r>
              <a:rPr lang="fr-FR" sz="1600" dirty="0">
                <a:latin typeface="Century" panose="02040604050505020304" pitchFamily="18" charset="0"/>
              </a:rPr>
              <a:t>       }</a:t>
            </a:r>
          </a:p>
        </p:txBody>
      </p:sp>
      <p:sp>
        <p:nvSpPr>
          <p:cNvPr id="59" name="Parenthèse ouvrante 58">
            <a:extLst>
              <a:ext uri="{FF2B5EF4-FFF2-40B4-BE49-F238E27FC236}">
                <a16:creationId xmlns="" xmlns:a16="http://schemas.microsoft.com/office/drawing/2014/main" id="{978CCC95-A00C-4CBE-8919-E60532156329}"/>
              </a:ext>
            </a:extLst>
          </p:cNvPr>
          <p:cNvSpPr/>
          <p:nvPr/>
        </p:nvSpPr>
        <p:spPr>
          <a:xfrm rot="16200000">
            <a:off x="8345967" y="3179601"/>
            <a:ext cx="167638" cy="15198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Parenthèse ouvrante 59">
            <a:extLst>
              <a:ext uri="{FF2B5EF4-FFF2-40B4-BE49-F238E27FC236}">
                <a16:creationId xmlns="" xmlns:a16="http://schemas.microsoft.com/office/drawing/2014/main" id="{D63A56D8-52CC-404E-BC40-788ABC8FA088}"/>
              </a:ext>
            </a:extLst>
          </p:cNvPr>
          <p:cNvSpPr/>
          <p:nvPr/>
        </p:nvSpPr>
        <p:spPr>
          <a:xfrm rot="16200000">
            <a:off x="10514985" y="3098460"/>
            <a:ext cx="167638" cy="1682156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ZoneTexte 60">
            <a:extLst>
              <a:ext uri="{FF2B5EF4-FFF2-40B4-BE49-F238E27FC236}">
                <a16:creationId xmlns="" xmlns:a16="http://schemas.microsoft.com/office/drawing/2014/main" id="{2EED4997-579C-4716-94AD-0F8E6D3DD6EC}"/>
              </a:ext>
            </a:extLst>
          </p:cNvPr>
          <p:cNvSpPr txBox="1"/>
          <p:nvPr/>
        </p:nvSpPr>
        <p:spPr>
          <a:xfrm>
            <a:off x="8175947" y="4041375"/>
            <a:ext cx="964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Gauche 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="" xmlns:a16="http://schemas.microsoft.com/office/drawing/2014/main" id="{67EFE761-CE54-4D95-A596-360E90852636}"/>
              </a:ext>
            </a:extLst>
          </p:cNvPr>
          <p:cNvSpPr txBox="1"/>
          <p:nvPr/>
        </p:nvSpPr>
        <p:spPr>
          <a:xfrm>
            <a:off x="10130474" y="4041374"/>
            <a:ext cx="964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Droite 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="" xmlns:a16="http://schemas.microsoft.com/office/drawing/2014/main" id="{D81228F6-000B-41CB-AB55-88B4CF9321B2}"/>
              </a:ext>
            </a:extLst>
          </p:cNvPr>
          <p:cNvSpPr txBox="1"/>
          <p:nvPr/>
        </p:nvSpPr>
        <p:spPr>
          <a:xfrm>
            <a:off x="9166228" y="4068533"/>
            <a:ext cx="964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Racine  </a:t>
            </a:r>
          </a:p>
        </p:txBody>
      </p:sp>
      <p:sp>
        <p:nvSpPr>
          <p:cNvPr id="64" name="Espace réservé du contenu 8">
            <a:extLst>
              <a:ext uri="{FF2B5EF4-FFF2-40B4-BE49-F238E27FC236}">
                <a16:creationId xmlns="" xmlns:a16="http://schemas.microsoft.com/office/drawing/2014/main" id="{C7F1131D-8E6E-4E30-BA6C-1057F0E661BD}"/>
              </a:ext>
            </a:extLst>
          </p:cNvPr>
          <p:cNvSpPr txBox="1">
            <a:spLocks/>
          </p:cNvSpPr>
          <p:nvPr/>
        </p:nvSpPr>
        <p:spPr>
          <a:xfrm>
            <a:off x="7437120" y="5099050"/>
            <a:ext cx="4617720" cy="536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  1 30 10 40 50 70 80 60 20 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="" xmlns:a16="http://schemas.microsoft.com/office/drawing/2014/main" id="{DDB67A24-4D68-4F78-B812-B8015FCB7937}"/>
              </a:ext>
            </a:extLst>
          </p:cNvPr>
          <p:cNvSpPr txBox="1"/>
          <p:nvPr/>
        </p:nvSpPr>
        <p:spPr>
          <a:xfrm>
            <a:off x="3779520" y="5099049"/>
            <a:ext cx="3520440" cy="156966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 err="1">
                <a:latin typeface="Century" panose="02040604050505020304" pitchFamily="18" charset="0"/>
              </a:rPr>
              <a:t>void</a:t>
            </a:r>
            <a:r>
              <a:rPr lang="fr-FR" sz="1600" dirty="0">
                <a:latin typeface="Century" panose="02040604050505020304" pitchFamily="18" charset="0"/>
              </a:rPr>
              <a:t> afficher ( Nœud * A) </a:t>
            </a:r>
          </a:p>
          <a:p>
            <a:r>
              <a:rPr lang="fr-FR" sz="1600" dirty="0">
                <a:latin typeface="Century" panose="02040604050505020304" pitchFamily="18" charset="0"/>
              </a:rPr>
              <a:t>     { if (A!=NULL)</a:t>
            </a:r>
          </a:p>
          <a:p>
            <a:r>
              <a:rPr lang="fr-FR" sz="1600" dirty="0">
                <a:latin typeface="Century" panose="02040604050505020304" pitchFamily="18" charset="0"/>
              </a:rPr>
              <a:t>          afficher (A-&gt;FG);</a:t>
            </a:r>
          </a:p>
          <a:p>
            <a:r>
              <a:rPr lang="fr-FR" sz="1600" dirty="0">
                <a:latin typeface="Century" panose="02040604050505020304" pitchFamily="18" charset="0"/>
              </a:rPr>
              <a:t>          afficher (A-&gt;FD);</a:t>
            </a:r>
          </a:p>
          <a:p>
            <a:r>
              <a:rPr lang="fr-FR" sz="1600" dirty="0">
                <a:latin typeface="Century" panose="02040604050505020304" pitchFamily="18" charset="0"/>
              </a:rPr>
              <a:t>          printf("%d" ,A-&gt;data);</a:t>
            </a:r>
          </a:p>
          <a:p>
            <a:r>
              <a:rPr lang="fr-FR" sz="1600" dirty="0">
                <a:latin typeface="Century" panose="02040604050505020304" pitchFamily="18" charset="0"/>
              </a:rPr>
              <a:t>       }</a:t>
            </a:r>
          </a:p>
        </p:txBody>
      </p:sp>
      <p:sp>
        <p:nvSpPr>
          <p:cNvPr id="66" name="Parenthèse ouvrante 65">
            <a:extLst>
              <a:ext uri="{FF2B5EF4-FFF2-40B4-BE49-F238E27FC236}">
                <a16:creationId xmlns="" xmlns:a16="http://schemas.microsoft.com/office/drawing/2014/main" id="{CE00902D-AD95-41A5-A1B7-FF494138FE1C}"/>
              </a:ext>
            </a:extLst>
          </p:cNvPr>
          <p:cNvSpPr/>
          <p:nvPr/>
        </p:nvSpPr>
        <p:spPr>
          <a:xfrm rot="16200000">
            <a:off x="8406927" y="4810281"/>
            <a:ext cx="167638" cy="15198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Parenthèse ouvrante 66">
            <a:extLst>
              <a:ext uri="{FF2B5EF4-FFF2-40B4-BE49-F238E27FC236}">
                <a16:creationId xmlns="" xmlns:a16="http://schemas.microsoft.com/office/drawing/2014/main" id="{7939B558-2697-4446-9EA5-A2D7F48382C3}"/>
              </a:ext>
            </a:extLst>
          </p:cNvPr>
          <p:cNvSpPr/>
          <p:nvPr/>
        </p:nvSpPr>
        <p:spPr>
          <a:xfrm rot="16200000">
            <a:off x="10073025" y="4729140"/>
            <a:ext cx="167638" cy="1682156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ZoneTexte 67">
            <a:extLst>
              <a:ext uri="{FF2B5EF4-FFF2-40B4-BE49-F238E27FC236}">
                <a16:creationId xmlns="" xmlns:a16="http://schemas.microsoft.com/office/drawing/2014/main" id="{D0D23BF8-83EA-4A5A-BAE5-A0D9621D80AC}"/>
              </a:ext>
            </a:extLst>
          </p:cNvPr>
          <p:cNvSpPr txBox="1"/>
          <p:nvPr/>
        </p:nvSpPr>
        <p:spPr>
          <a:xfrm>
            <a:off x="8145467" y="5672055"/>
            <a:ext cx="964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Gauche 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="" xmlns:a16="http://schemas.microsoft.com/office/drawing/2014/main" id="{4088DE0F-8A88-49AA-8663-9B95AFA0F75A}"/>
              </a:ext>
            </a:extLst>
          </p:cNvPr>
          <p:cNvSpPr txBox="1"/>
          <p:nvPr/>
        </p:nvSpPr>
        <p:spPr>
          <a:xfrm>
            <a:off x="9688514" y="5672054"/>
            <a:ext cx="964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Droite 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="" xmlns:a16="http://schemas.microsoft.com/office/drawing/2014/main" id="{67D47C27-D264-42C2-A754-85DCD9800C2B}"/>
              </a:ext>
            </a:extLst>
          </p:cNvPr>
          <p:cNvSpPr txBox="1"/>
          <p:nvPr/>
        </p:nvSpPr>
        <p:spPr>
          <a:xfrm>
            <a:off x="10997922" y="5636020"/>
            <a:ext cx="964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Racine  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="" xmlns:a16="http://schemas.microsoft.com/office/drawing/2014/main" id="{C53CD7CC-1BDF-4681-BDD0-CFE3D831A245}"/>
              </a:ext>
            </a:extLst>
          </p:cNvPr>
          <p:cNvSpPr txBox="1"/>
          <p:nvPr/>
        </p:nvSpPr>
        <p:spPr>
          <a:xfrm>
            <a:off x="396240" y="133856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accent5"/>
                </a:solidFill>
              </a:rPr>
              <a:t>Exemple: Les arbres binaires de recherche</a:t>
            </a:r>
          </a:p>
        </p:txBody>
      </p:sp>
    </p:spTree>
    <p:extLst>
      <p:ext uri="{BB962C8B-B14F-4D97-AF65-F5344CB8AC3E}">
        <p14:creationId xmlns:p14="http://schemas.microsoft.com/office/powerpoint/2010/main" val="1202550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46" grpId="0" animBg="1"/>
      <p:bldP spid="47" grpId="0" animBg="1"/>
      <p:bldP spid="49" grpId="0" animBg="1"/>
      <p:bldP spid="50" grpId="0"/>
      <p:bldP spid="54" grpId="0"/>
      <p:bldP spid="56" grpId="0"/>
      <p:bldP spid="57" grpId="0" build="p"/>
      <p:bldP spid="58" grpId="0" animBg="1"/>
      <p:bldP spid="59" grpId="0" animBg="1"/>
      <p:bldP spid="60" grpId="0" animBg="1"/>
      <p:bldP spid="61" grpId="0"/>
      <p:bldP spid="62" grpId="0"/>
      <p:bldP spid="63" grpId="0"/>
      <p:bldP spid="64" grpId="0" build="p"/>
      <p:bldP spid="65" grpId="0" animBg="1"/>
      <p:bldP spid="66" grpId="0" animBg="1"/>
      <p:bldP spid="67" grpId="0" animBg="1"/>
      <p:bldP spid="68" grpId="0"/>
      <p:bldP spid="69" grpId="0"/>
      <p:bldP spid="7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ZoneTexte 93">
            <a:extLst>
              <a:ext uri="{FF2B5EF4-FFF2-40B4-BE49-F238E27FC236}">
                <a16:creationId xmlns="" xmlns:a16="http://schemas.microsoft.com/office/drawing/2014/main" id="{E8C376F4-50B8-4AF4-A85E-E18DAC7EC2C7}"/>
              </a:ext>
            </a:extLst>
          </p:cNvPr>
          <p:cNvSpPr txBox="1"/>
          <p:nvPr/>
        </p:nvSpPr>
        <p:spPr>
          <a:xfrm>
            <a:off x="9229937" y="3301022"/>
            <a:ext cx="1285248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DC3430DC-8FE3-472A-8EE6-B46C51FAA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96" y="1370083"/>
            <a:ext cx="1904364" cy="456869"/>
          </a:xfrm>
        </p:spPr>
        <p:txBody>
          <a:bodyPr>
            <a:normAutofit lnSpcReduction="10000"/>
          </a:bodyPr>
          <a:lstStyle/>
          <a:p>
            <a:r>
              <a:rPr lang="fr-FR" dirty="0"/>
              <a:t>Si n=5: 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="" xmlns:a16="http://schemas.microsoft.com/office/drawing/2014/main" id="{A5B96291-7DF0-466C-A7DF-A6300BAAA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="" xmlns:a16="http://schemas.microsoft.com/office/drawing/2014/main" id="{E5E29E02-18F4-4BF3-A442-3724E693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="" xmlns:a16="http://schemas.microsoft.com/office/drawing/2014/main" id="{2DE69952-40C4-46CF-AFC9-95B3EE65952D}"/>
              </a:ext>
            </a:extLst>
          </p:cNvPr>
          <p:cNvSpPr txBox="1"/>
          <p:nvPr/>
        </p:nvSpPr>
        <p:spPr>
          <a:xfrm>
            <a:off x="8229595" y="325437"/>
            <a:ext cx="3804921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 err="1">
                <a:latin typeface="Century" panose="02040604050505020304" pitchFamily="18" charset="0"/>
              </a:rPr>
              <a:t>void</a:t>
            </a:r>
            <a:r>
              <a:rPr lang="fr-FR" sz="2400" dirty="0">
                <a:latin typeface="Century" panose="02040604050505020304" pitchFamily="18" charset="0"/>
              </a:rPr>
              <a:t> algo ( </a:t>
            </a:r>
            <a:r>
              <a:rPr lang="fr-FR" sz="2400" dirty="0" err="1">
                <a:latin typeface="Century" panose="02040604050505020304" pitchFamily="18" charset="0"/>
              </a:rPr>
              <a:t>int</a:t>
            </a:r>
            <a:r>
              <a:rPr lang="fr-FR" sz="2400" dirty="0">
                <a:latin typeface="Century" panose="02040604050505020304" pitchFamily="18" charset="0"/>
              </a:rPr>
              <a:t> n) </a:t>
            </a:r>
          </a:p>
          <a:p>
            <a:r>
              <a:rPr lang="fr-FR" sz="2400" dirty="0">
                <a:latin typeface="Century" panose="02040604050505020304" pitchFamily="18" charset="0"/>
              </a:rPr>
              <a:t>     { if (n&gt;0)</a:t>
            </a:r>
          </a:p>
          <a:p>
            <a:r>
              <a:rPr lang="fr-FR" sz="2400" dirty="0">
                <a:latin typeface="Century" panose="02040604050505020304" pitchFamily="18" charset="0"/>
              </a:rPr>
              <a:t>          {</a:t>
            </a:r>
          </a:p>
          <a:p>
            <a:r>
              <a:rPr lang="fr-FR" sz="2400" dirty="0">
                <a:latin typeface="Century" panose="02040604050505020304" pitchFamily="18" charset="0"/>
              </a:rPr>
              <a:t>           algo(n-1);</a:t>
            </a:r>
          </a:p>
          <a:p>
            <a:r>
              <a:rPr lang="fr-FR" sz="2400" dirty="0">
                <a:latin typeface="Century" panose="02040604050505020304" pitchFamily="18" charset="0"/>
              </a:rPr>
              <a:t>           printf("%d", n);</a:t>
            </a:r>
          </a:p>
          <a:p>
            <a:r>
              <a:rPr lang="fr-FR" sz="2400" dirty="0">
                <a:latin typeface="Century" panose="02040604050505020304" pitchFamily="18" charset="0"/>
              </a:rPr>
              <a:t>           }</a:t>
            </a:r>
          </a:p>
          <a:p>
            <a:r>
              <a:rPr lang="fr-FR" sz="2400" dirty="0">
                <a:latin typeface="Century" panose="02040604050505020304" pitchFamily="18" charset="0"/>
              </a:rPr>
              <a:t>      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="" xmlns:a16="http://schemas.microsoft.com/office/drawing/2014/main" id="{37908097-DDCF-4773-AFE3-16A38C501C89}"/>
              </a:ext>
            </a:extLst>
          </p:cNvPr>
          <p:cNvSpPr txBox="1"/>
          <p:nvPr/>
        </p:nvSpPr>
        <p:spPr>
          <a:xfrm>
            <a:off x="762000" y="1853095"/>
            <a:ext cx="1813560" cy="1384995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void</a:t>
            </a:r>
            <a:r>
              <a:rPr lang="fr-FR" sz="1200" dirty="0">
                <a:latin typeface="Century" panose="02040604050505020304" pitchFamily="18" charset="0"/>
              </a:rPr>
              <a:t> algo ( 5)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 if (5&gt;0)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{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 algo(4);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 printf("%d", 5);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 }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="" xmlns:a16="http://schemas.microsoft.com/office/drawing/2014/main" id="{97EAA7E5-7694-4D0B-98B9-CB98AF706144}"/>
              </a:ext>
            </a:extLst>
          </p:cNvPr>
          <p:cNvSpPr txBox="1"/>
          <p:nvPr/>
        </p:nvSpPr>
        <p:spPr>
          <a:xfrm>
            <a:off x="2775374" y="2695298"/>
            <a:ext cx="1813560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void</a:t>
            </a:r>
            <a:r>
              <a:rPr lang="fr-FR" sz="1200" dirty="0">
                <a:latin typeface="Century" panose="02040604050505020304" pitchFamily="18" charset="0"/>
              </a:rPr>
              <a:t> algo ( 4)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 if (4&gt;0)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{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 algo(3);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 printf("%d", 4);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 }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}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="" xmlns:a16="http://schemas.microsoft.com/office/drawing/2014/main" id="{579AF49B-EA13-48CC-A623-AADC6AB74959}"/>
              </a:ext>
            </a:extLst>
          </p:cNvPr>
          <p:cNvSpPr txBox="1"/>
          <p:nvPr/>
        </p:nvSpPr>
        <p:spPr>
          <a:xfrm>
            <a:off x="4812877" y="3609287"/>
            <a:ext cx="1813560" cy="13849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void</a:t>
            </a:r>
            <a:r>
              <a:rPr lang="fr-FR" sz="1200" dirty="0">
                <a:latin typeface="Century" panose="02040604050505020304" pitchFamily="18" charset="0"/>
              </a:rPr>
              <a:t> algo ( 3)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 if (3&gt;0)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{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 algo(2);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 printf("%d", 3);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 }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}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="" xmlns:a16="http://schemas.microsoft.com/office/drawing/2014/main" id="{B7F73882-DAE7-42D1-AEA1-212A6E7F5D3E}"/>
              </a:ext>
            </a:extLst>
          </p:cNvPr>
          <p:cNvSpPr txBox="1"/>
          <p:nvPr/>
        </p:nvSpPr>
        <p:spPr>
          <a:xfrm>
            <a:off x="6813974" y="4389197"/>
            <a:ext cx="1813560" cy="138499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void</a:t>
            </a:r>
            <a:r>
              <a:rPr lang="fr-FR" sz="1200" dirty="0">
                <a:latin typeface="Century" panose="02040604050505020304" pitchFamily="18" charset="0"/>
              </a:rPr>
              <a:t> algo ( 2)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 if (2&gt;0)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{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 algo(1);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 printf("%d", 2);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 }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="" xmlns:a16="http://schemas.microsoft.com/office/drawing/2014/main" id="{F6F79882-FB71-4C1C-ACEB-0379163668A6}"/>
              </a:ext>
            </a:extLst>
          </p:cNvPr>
          <p:cNvSpPr txBox="1"/>
          <p:nvPr/>
        </p:nvSpPr>
        <p:spPr>
          <a:xfrm>
            <a:off x="8812955" y="5125569"/>
            <a:ext cx="1813560" cy="13849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void</a:t>
            </a:r>
            <a:r>
              <a:rPr lang="fr-FR" sz="1200" dirty="0">
                <a:latin typeface="Century" panose="02040604050505020304" pitchFamily="18" charset="0"/>
              </a:rPr>
              <a:t> algo ( 1)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 if (1&gt;0)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{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 algo(0);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 printf("%d", 1);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 }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="" xmlns:a16="http://schemas.microsoft.com/office/drawing/2014/main" id="{D79409C1-1E5C-4910-AE17-D36A91B0DBAF}"/>
              </a:ext>
            </a:extLst>
          </p:cNvPr>
          <p:cNvSpPr txBox="1"/>
          <p:nvPr/>
        </p:nvSpPr>
        <p:spPr>
          <a:xfrm>
            <a:off x="10828870" y="5890167"/>
            <a:ext cx="1186182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void</a:t>
            </a:r>
            <a:r>
              <a:rPr lang="fr-FR" sz="1200" dirty="0">
                <a:latin typeface="Century" panose="02040604050505020304" pitchFamily="18" charset="0"/>
              </a:rPr>
              <a:t> algo ( 0)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 if (0&gt;0)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{ ..  }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}</a:t>
            </a:r>
          </a:p>
        </p:txBody>
      </p:sp>
      <p:cxnSp>
        <p:nvCxnSpPr>
          <p:cNvPr id="16" name="Connecteur : en angle 15">
            <a:extLst>
              <a:ext uri="{FF2B5EF4-FFF2-40B4-BE49-F238E27FC236}">
                <a16:creationId xmlns="" xmlns:a16="http://schemas.microsoft.com/office/drawing/2014/main" id="{AAA27329-A019-49F3-97DE-A0EFDF1B42AA}"/>
              </a:ext>
            </a:extLst>
          </p:cNvPr>
          <p:cNvCxnSpPr>
            <a:endCxn id="8" idx="0"/>
          </p:cNvCxnSpPr>
          <p:nvPr/>
        </p:nvCxnSpPr>
        <p:spPr>
          <a:xfrm>
            <a:off x="1935480" y="2529840"/>
            <a:ext cx="1746674" cy="16545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 : en angle 17">
            <a:extLst>
              <a:ext uri="{FF2B5EF4-FFF2-40B4-BE49-F238E27FC236}">
                <a16:creationId xmlns="" xmlns:a16="http://schemas.microsoft.com/office/drawing/2014/main" id="{3832DF7D-ABAB-4D0B-ADF7-EEA2F6839218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4038600" y="3418026"/>
            <a:ext cx="1681057" cy="1912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Connecteur : en angle 21">
            <a:extLst>
              <a:ext uri="{FF2B5EF4-FFF2-40B4-BE49-F238E27FC236}">
                <a16:creationId xmlns="" xmlns:a16="http://schemas.microsoft.com/office/drawing/2014/main" id="{C89E7925-74A9-41DF-886C-3D5A9E9873AE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5914814" y="4264023"/>
            <a:ext cx="1805940" cy="1251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7" name="Connecteur : en angle 26">
            <a:extLst>
              <a:ext uri="{FF2B5EF4-FFF2-40B4-BE49-F238E27FC236}">
                <a16:creationId xmlns="" xmlns:a16="http://schemas.microsoft.com/office/drawing/2014/main" id="{601E9B90-DFCF-422E-B15C-BD7C3855F30D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7970520" y="4994282"/>
            <a:ext cx="1749215" cy="131287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 : en angle 31">
            <a:extLst>
              <a:ext uri="{FF2B5EF4-FFF2-40B4-BE49-F238E27FC236}">
                <a16:creationId xmlns="" xmlns:a16="http://schemas.microsoft.com/office/drawing/2014/main" id="{4B7F1AA4-3A47-4698-8A8C-43F0F46564F5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9982200" y="5774192"/>
            <a:ext cx="1439761" cy="1159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6" name="Cylindre 35">
            <a:extLst>
              <a:ext uri="{FF2B5EF4-FFF2-40B4-BE49-F238E27FC236}">
                <a16:creationId xmlns="" xmlns:a16="http://schemas.microsoft.com/office/drawing/2014/main" id="{0FCFFFC9-5931-41AF-B358-0DBD746A715C}"/>
              </a:ext>
            </a:extLst>
          </p:cNvPr>
          <p:cNvSpPr/>
          <p:nvPr/>
        </p:nvSpPr>
        <p:spPr>
          <a:xfrm>
            <a:off x="485986" y="3914835"/>
            <a:ext cx="1705611" cy="2263846"/>
          </a:xfrm>
          <a:prstGeom prst="ca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Organigramme : Disque magnétique 37">
            <a:extLst>
              <a:ext uri="{FF2B5EF4-FFF2-40B4-BE49-F238E27FC236}">
                <a16:creationId xmlns="" xmlns:a16="http://schemas.microsoft.com/office/drawing/2014/main" id="{A3B00585-1DB2-4CA2-A3CE-6A1A827F6BF8}"/>
              </a:ext>
            </a:extLst>
          </p:cNvPr>
          <p:cNvSpPr/>
          <p:nvPr/>
        </p:nvSpPr>
        <p:spPr>
          <a:xfrm>
            <a:off x="485986" y="5747233"/>
            <a:ext cx="1705611" cy="374484"/>
          </a:xfrm>
          <a:prstGeom prst="flowChartMagneticDisk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5</a:t>
            </a:r>
          </a:p>
        </p:txBody>
      </p:sp>
      <p:sp>
        <p:nvSpPr>
          <p:cNvPr id="40" name="Organigramme : Disque magnétique 39">
            <a:extLst>
              <a:ext uri="{FF2B5EF4-FFF2-40B4-BE49-F238E27FC236}">
                <a16:creationId xmlns="" xmlns:a16="http://schemas.microsoft.com/office/drawing/2014/main" id="{CB8B0A17-E2EE-4D91-A539-95D5F65C93F2}"/>
              </a:ext>
            </a:extLst>
          </p:cNvPr>
          <p:cNvSpPr/>
          <p:nvPr/>
        </p:nvSpPr>
        <p:spPr>
          <a:xfrm>
            <a:off x="485986" y="5472913"/>
            <a:ext cx="1705611" cy="374484"/>
          </a:xfrm>
          <a:prstGeom prst="flowChartMagneticDisk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</a:p>
        </p:txBody>
      </p:sp>
      <p:sp>
        <p:nvSpPr>
          <p:cNvPr id="42" name="Organigramme : Disque magnétique 41">
            <a:extLst>
              <a:ext uri="{FF2B5EF4-FFF2-40B4-BE49-F238E27FC236}">
                <a16:creationId xmlns="" xmlns:a16="http://schemas.microsoft.com/office/drawing/2014/main" id="{67A50120-198B-4940-82F6-E73AADD91D42}"/>
              </a:ext>
            </a:extLst>
          </p:cNvPr>
          <p:cNvSpPr/>
          <p:nvPr/>
        </p:nvSpPr>
        <p:spPr>
          <a:xfrm>
            <a:off x="485986" y="5198593"/>
            <a:ext cx="1705611" cy="374484"/>
          </a:xfrm>
          <a:prstGeom prst="flowChartMagneticDisk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44" name="Organigramme : Disque magnétique 43">
            <a:extLst>
              <a:ext uri="{FF2B5EF4-FFF2-40B4-BE49-F238E27FC236}">
                <a16:creationId xmlns="" xmlns:a16="http://schemas.microsoft.com/office/drawing/2014/main" id="{DED9A217-DD3A-4BE7-841A-8FEC77349195}"/>
              </a:ext>
            </a:extLst>
          </p:cNvPr>
          <p:cNvSpPr/>
          <p:nvPr/>
        </p:nvSpPr>
        <p:spPr>
          <a:xfrm>
            <a:off x="485986" y="4924273"/>
            <a:ext cx="1705611" cy="374484"/>
          </a:xfrm>
          <a:prstGeom prst="flowChartMagneticDisk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sp>
        <p:nvSpPr>
          <p:cNvPr id="46" name="Organigramme : Disque magnétique 45">
            <a:extLst>
              <a:ext uri="{FF2B5EF4-FFF2-40B4-BE49-F238E27FC236}">
                <a16:creationId xmlns="" xmlns:a16="http://schemas.microsoft.com/office/drawing/2014/main" id="{28435363-B82F-4683-8EB0-0B9499C5BB97}"/>
              </a:ext>
            </a:extLst>
          </p:cNvPr>
          <p:cNvSpPr/>
          <p:nvPr/>
        </p:nvSpPr>
        <p:spPr>
          <a:xfrm>
            <a:off x="485986" y="4654194"/>
            <a:ext cx="1705611" cy="374484"/>
          </a:xfrm>
          <a:prstGeom prst="flowChartMagneticDisk">
            <a:avLst/>
          </a:prstGeom>
          <a:ln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="" xmlns:a16="http://schemas.microsoft.com/office/drawing/2014/main" id="{61E4CD22-187B-4F5D-B511-F35308382B0D}"/>
              </a:ext>
            </a:extLst>
          </p:cNvPr>
          <p:cNvSpPr txBox="1"/>
          <p:nvPr/>
        </p:nvSpPr>
        <p:spPr>
          <a:xfrm>
            <a:off x="364962" y="6257091"/>
            <a:ext cx="2206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Pile d’exécution</a:t>
            </a:r>
          </a:p>
        </p:txBody>
      </p:sp>
      <p:cxnSp>
        <p:nvCxnSpPr>
          <p:cNvPr id="49" name="Connecteur : en arc 48">
            <a:extLst>
              <a:ext uri="{FF2B5EF4-FFF2-40B4-BE49-F238E27FC236}">
                <a16:creationId xmlns="" xmlns:a16="http://schemas.microsoft.com/office/drawing/2014/main" id="{B6D1868B-00FD-4B54-9AEC-DBA53AE791D4}"/>
              </a:ext>
            </a:extLst>
          </p:cNvPr>
          <p:cNvCxnSpPr>
            <a:cxnSpLocks/>
          </p:cNvCxnSpPr>
          <p:nvPr/>
        </p:nvCxnSpPr>
        <p:spPr>
          <a:xfrm>
            <a:off x="194732" y="3655053"/>
            <a:ext cx="852806" cy="48583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ZoneTexte 50">
            <a:extLst>
              <a:ext uri="{FF2B5EF4-FFF2-40B4-BE49-F238E27FC236}">
                <a16:creationId xmlns="" xmlns:a16="http://schemas.microsoft.com/office/drawing/2014/main" id="{A564D58B-EF98-45DD-866C-86A69526CF76}"/>
              </a:ext>
            </a:extLst>
          </p:cNvPr>
          <p:cNvSpPr txBox="1"/>
          <p:nvPr/>
        </p:nvSpPr>
        <p:spPr>
          <a:xfrm>
            <a:off x="-62336" y="3265038"/>
            <a:ext cx="96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empiler</a:t>
            </a:r>
          </a:p>
        </p:txBody>
      </p:sp>
      <p:cxnSp>
        <p:nvCxnSpPr>
          <p:cNvPr id="52" name="Connecteur : en arc 51">
            <a:extLst>
              <a:ext uri="{FF2B5EF4-FFF2-40B4-BE49-F238E27FC236}">
                <a16:creationId xmlns="" xmlns:a16="http://schemas.microsoft.com/office/drawing/2014/main" id="{4B88292B-FB87-4DE9-BD5B-9676530415D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67164" y="3476519"/>
            <a:ext cx="541371" cy="75930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="" xmlns:a16="http://schemas.microsoft.com/office/drawing/2014/main" id="{118565E8-F3EF-43D7-9DB6-5B939A4E1E07}"/>
              </a:ext>
            </a:extLst>
          </p:cNvPr>
          <p:cNvSpPr txBox="1"/>
          <p:nvPr/>
        </p:nvSpPr>
        <p:spPr>
          <a:xfrm>
            <a:off x="1202266" y="3294661"/>
            <a:ext cx="96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dépiler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="" xmlns:a16="http://schemas.microsoft.com/office/drawing/2014/main" id="{5DDC28E0-F5D9-4226-BDEE-66B385D51E7E}"/>
              </a:ext>
            </a:extLst>
          </p:cNvPr>
          <p:cNvSpPr/>
          <p:nvPr/>
        </p:nvSpPr>
        <p:spPr>
          <a:xfrm>
            <a:off x="9298315" y="3833995"/>
            <a:ext cx="2348653" cy="7645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61" name="Rectangle 60">
            <a:extLst>
              <a:ext uri="{FF2B5EF4-FFF2-40B4-BE49-F238E27FC236}">
                <a16:creationId xmlns="" xmlns:a16="http://schemas.microsoft.com/office/drawing/2014/main" id="{FBB45119-02A6-4F85-84E2-2A30ABF4A320}"/>
              </a:ext>
            </a:extLst>
          </p:cNvPr>
          <p:cNvSpPr/>
          <p:nvPr/>
        </p:nvSpPr>
        <p:spPr>
          <a:xfrm>
            <a:off x="9311430" y="3833996"/>
            <a:ext cx="321312" cy="7645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="" xmlns:a16="http://schemas.microsoft.com/office/drawing/2014/main" id="{C1F7205F-957F-486C-8B20-7ADC076A4485}"/>
              </a:ext>
            </a:extLst>
          </p:cNvPr>
          <p:cNvSpPr/>
          <p:nvPr/>
        </p:nvSpPr>
        <p:spPr>
          <a:xfrm>
            <a:off x="9632742" y="3833996"/>
            <a:ext cx="321312" cy="7645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="" xmlns:a16="http://schemas.microsoft.com/office/drawing/2014/main" id="{C088E6CD-BCA6-4CC5-AEFB-CA2F256ED68F}"/>
              </a:ext>
            </a:extLst>
          </p:cNvPr>
          <p:cNvSpPr/>
          <p:nvPr/>
        </p:nvSpPr>
        <p:spPr>
          <a:xfrm>
            <a:off x="9954054" y="3833996"/>
            <a:ext cx="321312" cy="7645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3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="" xmlns:a16="http://schemas.microsoft.com/office/drawing/2014/main" id="{C64AAC6A-1CA4-4AA5-BAE6-95E48C02EF13}"/>
              </a:ext>
            </a:extLst>
          </p:cNvPr>
          <p:cNvSpPr/>
          <p:nvPr/>
        </p:nvSpPr>
        <p:spPr>
          <a:xfrm>
            <a:off x="10275366" y="3833996"/>
            <a:ext cx="321312" cy="7645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4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="" xmlns:a16="http://schemas.microsoft.com/office/drawing/2014/main" id="{0A82E6B9-AEA1-4599-999B-ED4BBBA2A221}"/>
              </a:ext>
            </a:extLst>
          </p:cNvPr>
          <p:cNvSpPr/>
          <p:nvPr/>
        </p:nvSpPr>
        <p:spPr>
          <a:xfrm>
            <a:off x="10596678" y="3833996"/>
            <a:ext cx="321312" cy="7645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5</a:t>
            </a:r>
          </a:p>
        </p:txBody>
      </p:sp>
      <p:cxnSp>
        <p:nvCxnSpPr>
          <p:cNvPr id="70" name="Connecteur : en angle 69">
            <a:extLst>
              <a:ext uri="{FF2B5EF4-FFF2-40B4-BE49-F238E27FC236}">
                <a16:creationId xmlns="" xmlns:a16="http://schemas.microsoft.com/office/drawing/2014/main" id="{DB6F8DC4-4DBA-4535-8A41-05375968B83E}"/>
              </a:ext>
            </a:extLst>
          </p:cNvPr>
          <p:cNvCxnSpPr>
            <a:cxnSpLocks/>
          </p:cNvCxnSpPr>
          <p:nvPr/>
        </p:nvCxnSpPr>
        <p:spPr>
          <a:xfrm rot="10800000">
            <a:off x="9907273" y="6133786"/>
            <a:ext cx="1446526" cy="231429"/>
          </a:xfrm>
          <a:prstGeom prst="bentConnector3">
            <a:avLst>
              <a:gd name="adj1" fmla="val 9951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8" name="Connecteur : en angle 77">
            <a:extLst>
              <a:ext uri="{FF2B5EF4-FFF2-40B4-BE49-F238E27FC236}">
                <a16:creationId xmlns="" xmlns:a16="http://schemas.microsoft.com/office/drawing/2014/main" id="{100944ED-7181-4A8E-B948-1E4384ABFEF0}"/>
              </a:ext>
            </a:extLst>
          </p:cNvPr>
          <p:cNvCxnSpPr>
            <a:cxnSpLocks/>
            <a:stCxn id="11" idx="2"/>
          </p:cNvCxnSpPr>
          <p:nvPr/>
        </p:nvCxnSpPr>
        <p:spPr>
          <a:xfrm rot="5400000" flipH="1">
            <a:off x="8157786" y="4948615"/>
            <a:ext cx="1130844" cy="1993055"/>
          </a:xfrm>
          <a:prstGeom prst="bentConnector4">
            <a:avLst>
              <a:gd name="adj1" fmla="val -20215"/>
              <a:gd name="adj2" fmla="val 99511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2" name="Connecteur : en angle 81">
            <a:extLst>
              <a:ext uri="{FF2B5EF4-FFF2-40B4-BE49-F238E27FC236}">
                <a16:creationId xmlns="" xmlns:a16="http://schemas.microsoft.com/office/drawing/2014/main" id="{0C51AA47-D8A7-447C-8163-4210514D8B0D}"/>
              </a:ext>
            </a:extLst>
          </p:cNvPr>
          <p:cNvCxnSpPr>
            <a:cxnSpLocks/>
          </p:cNvCxnSpPr>
          <p:nvPr/>
        </p:nvCxnSpPr>
        <p:spPr>
          <a:xfrm rot="5400000" flipH="1">
            <a:off x="5942692" y="4202065"/>
            <a:ext cx="1130844" cy="1993055"/>
          </a:xfrm>
          <a:prstGeom prst="bentConnector4">
            <a:avLst>
              <a:gd name="adj1" fmla="val -20215"/>
              <a:gd name="adj2" fmla="val 99511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3" name="Connecteur : en angle 82">
            <a:extLst>
              <a:ext uri="{FF2B5EF4-FFF2-40B4-BE49-F238E27FC236}">
                <a16:creationId xmlns="" xmlns:a16="http://schemas.microsoft.com/office/drawing/2014/main" id="{D1AEF979-9F1F-4582-A8C7-CF5840F7D54F}"/>
              </a:ext>
            </a:extLst>
          </p:cNvPr>
          <p:cNvCxnSpPr>
            <a:cxnSpLocks/>
            <a:stCxn id="9" idx="2"/>
          </p:cNvCxnSpPr>
          <p:nvPr/>
        </p:nvCxnSpPr>
        <p:spPr>
          <a:xfrm rot="5400000" flipH="1">
            <a:off x="4078986" y="3353612"/>
            <a:ext cx="1314747" cy="1966594"/>
          </a:xfrm>
          <a:prstGeom prst="bentConnector4">
            <a:avLst>
              <a:gd name="adj1" fmla="val -17387"/>
              <a:gd name="adj2" fmla="val 100178"/>
            </a:avLst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4" name="Connecteur : en angle 83">
            <a:extLst>
              <a:ext uri="{FF2B5EF4-FFF2-40B4-BE49-F238E27FC236}">
                <a16:creationId xmlns="" xmlns:a16="http://schemas.microsoft.com/office/drawing/2014/main" id="{84E748D9-8107-46BA-AD49-F5259FECCAB8}"/>
              </a:ext>
            </a:extLst>
          </p:cNvPr>
          <p:cNvCxnSpPr>
            <a:cxnSpLocks/>
            <a:stCxn id="8" idx="2"/>
          </p:cNvCxnSpPr>
          <p:nvPr/>
        </p:nvCxnSpPr>
        <p:spPr>
          <a:xfrm rot="5400000" flipH="1">
            <a:off x="2000220" y="2398359"/>
            <a:ext cx="1242964" cy="2120904"/>
          </a:xfrm>
          <a:prstGeom prst="bentConnector4">
            <a:avLst>
              <a:gd name="adj1" fmla="val -18392"/>
              <a:gd name="adj2" fmla="val 10083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1" name="Espace réservé du contenu 2">
            <a:extLst>
              <a:ext uri="{FF2B5EF4-FFF2-40B4-BE49-F238E27FC236}">
                <a16:creationId xmlns="" xmlns:a16="http://schemas.microsoft.com/office/drawing/2014/main" id="{E3343025-BA87-45DF-96BA-951E7A4E3BFC}"/>
              </a:ext>
            </a:extLst>
          </p:cNvPr>
          <p:cNvSpPr txBox="1">
            <a:spLocks/>
          </p:cNvSpPr>
          <p:nvPr/>
        </p:nvSpPr>
        <p:spPr>
          <a:xfrm>
            <a:off x="2338385" y="6077242"/>
            <a:ext cx="4328801" cy="57594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/>
              <a:t>Récursivité non terminale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="" xmlns:a16="http://schemas.microsoft.com/office/drawing/2014/main" id="{897AD37E-F4A3-47EB-8B5C-7C861D5A8589}"/>
              </a:ext>
            </a:extLst>
          </p:cNvPr>
          <p:cNvSpPr txBox="1"/>
          <p:nvPr/>
        </p:nvSpPr>
        <p:spPr>
          <a:xfrm>
            <a:off x="9311431" y="3346787"/>
            <a:ext cx="1285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Exécution</a:t>
            </a:r>
          </a:p>
        </p:txBody>
      </p:sp>
      <p:sp>
        <p:nvSpPr>
          <p:cNvPr id="95" name="Ellipse 94">
            <a:extLst>
              <a:ext uri="{FF2B5EF4-FFF2-40B4-BE49-F238E27FC236}">
                <a16:creationId xmlns="" xmlns:a16="http://schemas.microsoft.com/office/drawing/2014/main" id="{87020321-269A-4A54-A4F9-902C68C51E6B}"/>
              </a:ext>
            </a:extLst>
          </p:cNvPr>
          <p:cNvSpPr/>
          <p:nvPr/>
        </p:nvSpPr>
        <p:spPr>
          <a:xfrm>
            <a:off x="7925436" y="61109"/>
            <a:ext cx="455928" cy="457836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A</a:t>
            </a:r>
          </a:p>
        </p:txBody>
      </p:sp>
      <p:sp>
        <p:nvSpPr>
          <p:cNvPr id="98" name="Titre 1">
            <a:extLst>
              <a:ext uri="{FF2B5EF4-FFF2-40B4-BE49-F238E27FC236}">
                <a16:creationId xmlns="" xmlns:a16="http://schemas.microsoft.com/office/drawing/2014/main" id="{4D240933-F540-4558-8F4E-8138278A08A0}"/>
              </a:ext>
            </a:extLst>
          </p:cNvPr>
          <p:cNvSpPr txBox="1">
            <a:spLocks/>
          </p:cNvSpPr>
          <p:nvPr/>
        </p:nvSpPr>
        <p:spPr>
          <a:xfrm>
            <a:off x="1202266" y="274888"/>
            <a:ext cx="10033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C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i="1" dirty="0">
                <a:solidFill>
                  <a:srgbClr val="C00000"/>
                </a:solidFill>
              </a:rPr>
              <a:t>2. L’ordre des appels récursifs:</a:t>
            </a:r>
          </a:p>
        </p:txBody>
      </p:sp>
    </p:spTree>
    <p:extLst>
      <p:ext uri="{BB962C8B-B14F-4D97-AF65-F5344CB8AC3E}">
        <p14:creationId xmlns:p14="http://schemas.microsoft.com/office/powerpoint/2010/main" val="98782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36" grpId="0" animBg="1"/>
      <p:bldP spid="38" grpId="0" animBg="1"/>
      <p:bldP spid="38" grpId="1" animBg="1"/>
      <p:bldP spid="40" grpId="0" animBg="1"/>
      <p:bldP spid="40" grpId="1" animBg="1"/>
      <p:bldP spid="42" grpId="0" animBg="1"/>
      <p:bldP spid="42" grpId="1" animBg="1"/>
      <p:bldP spid="44" grpId="0" animBg="1"/>
      <p:bldP spid="44" grpId="1" animBg="1"/>
      <p:bldP spid="46" grpId="0" animBg="1"/>
      <p:bldP spid="46" grpId="1" animBg="1"/>
      <p:bldP spid="47" grpId="0"/>
      <p:bldP spid="51" grpId="0"/>
      <p:bldP spid="51" grpId="1"/>
      <p:bldP spid="58" grpId="0"/>
      <p:bldP spid="61" grpId="0" animBg="1"/>
      <p:bldP spid="63" grpId="0" animBg="1"/>
      <p:bldP spid="65" grpId="0" animBg="1"/>
      <p:bldP spid="67" grpId="0" animBg="1"/>
      <p:bldP spid="69" grpId="0" animBg="1"/>
      <p:bldP spid="9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ZoneTexte 93">
            <a:extLst>
              <a:ext uri="{FF2B5EF4-FFF2-40B4-BE49-F238E27FC236}">
                <a16:creationId xmlns="" xmlns:a16="http://schemas.microsoft.com/office/drawing/2014/main" id="{E8C376F4-50B8-4AF4-A85E-E18DAC7EC2C7}"/>
              </a:ext>
            </a:extLst>
          </p:cNvPr>
          <p:cNvSpPr txBox="1"/>
          <p:nvPr/>
        </p:nvSpPr>
        <p:spPr>
          <a:xfrm>
            <a:off x="9055088" y="3663406"/>
            <a:ext cx="1285248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DC3430DC-8FE3-472A-8EE6-B46C51FAA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96" y="1370083"/>
            <a:ext cx="2529204" cy="456869"/>
          </a:xfrm>
        </p:spPr>
        <p:txBody>
          <a:bodyPr>
            <a:normAutofit lnSpcReduction="10000"/>
          </a:bodyPr>
          <a:lstStyle/>
          <a:p>
            <a:r>
              <a:rPr lang="fr-FR" dirty="0"/>
              <a:t>Si a=5 et b=15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="" xmlns:a16="http://schemas.microsoft.com/office/drawing/2014/main" id="{A5B96291-7DF0-466C-A7DF-A6300BAAA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="" xmlns:a16="http://schemas.microsoft.com/office/drawing/2014/main" id="{E5E29E02-18F4-4BF3-A442-3724E693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="" xmlns:a16="http://schemas.microsoft.com/office/drawing/2014/main" id="{37908097-DDCF-4773-AFE3-16A38C501C89}"/>
              </a:ext>
            </a:extLst>
          </p:cNvPr>
          <p:cNvSpPr txBox="1"/>
          <p:nvPr/>
        </p:nvSpPr>
        <p:spPr>
          <a:xfrm>
            <a:off x="762000" y="1853095"/>
            <a:ext cx="2301240" cy="1200329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void</a:t>
            </a:r>
            <a:r>
              <a:rPr lang="fr-FR" sz="1200" dirty="0">
                <a:latin typeface="Century" panose="02040604050505020304" pitchFamily="18" charset="0"/>
              </a:rPr>
              <a:t> algo ( 5, 15)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if (5==0) exit(0);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if (5&gt;=15 return (5==15);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</a:t>
            </a:r>
            <a:r>
              <a:rPr lang="fr-FR" sz="1200" dirty="0" err="1" smtClean="0">
                <a:latin typeface="Century" panose="02040604050505020304" pitchFamily="18" charset="0"/>
              </a:rPr>
              <a:t>algo</a:t>
            </a:r>
            <a:r>
              <a:rPr lang="fr-FR" sz="1200" dirty="0" smtClean="0">
                <a:latin typeface="Century" panose="02040604050505020304" pitchFamily="18" charset="0"/>
              </a:rPr>
              <a:t>(5</a:t>
            </a:r>
            <a:r>
              <a:rPr lang="fr-FR" sz="1200" dirty="0">
                <a:latin typeface="Century" panose="02040604050505020304" pitchFamily="18" charset="0"/>
              </a:rPr>
              <a:t>, 10);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="" xmlns:a16="http://schemas.microsoft.com/office/drawing/2014/main" id="{97EAA7E5-7694-4D0B-98B9-CB98AF706144}"/>
              </a:ext>
            </a:extLst>
          </p:cNvPr>
          <p:cNvSpPr txBox="1"/>
          <p:nvPr/>
        </p:nvSpPr>
        <p:spPr>
          <a:xfrm>
            <a:off x="3282106" y="2878174"/>
            <a:ext cx="2301239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void</a:t>
            </a:r>
            <a:r>
              <a:rPr lang="fr-FR" sz="1200" dirty="0">
                <a:latin typeface="Century" panose="02040604050505020304" pitchFamily="18" charset="0"/>
              </a:rPr>
              <a:t> algo ( 5, 10)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if (5==0) exit(0);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if (5&gt;=10 return (5==10);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</a:t>
            </a:r>
            <a:r>
              <a:rPr lang="fr-FR" sz="1200" dirty="0" err="1" smtClean="0">
                <a:latin typeface="Century" panose="02040604050505020304" pitchFamily="18" charset="0"/>
              </a:rPr>
              <a:t>algo</a:t>
            </a:r>
            <a:r>
              <a:rPr lang="fr-FR" sz="1200" dirty="0" smtClean="0">
                <a:latin typeface="Century" panose="02040604050505020304" pitchFamily="18" charset="0"/>
              </a:rPr>
              <a:t>(5</a:t>
            </a:r>
            <a:r>
              <a:rPr lang="fr-FR" sz="1200" dirty="0">
                <a:latin typeface="Century" panose="02040604050505020304" pitchFamily="18" charset="0"/>
              </a:rPr>
              <a:t>, 5);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}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="" xmlns:a16="http://schemas.microsoft.com/office/drawing/2014/main" id="{579AF49B-EA13-48CC-A623-AADC6AB74959}"/>
              </a:ext>
            </a:extLst>
          </p:cNvPr>
          <p:cNvSpPr txBox="1"/>
          <p:nvPr/>
        </p:nvSpPr>
        <p:spPr>
          <a:xfrm>
            <a:off x="5842634" y="3945928"/>
            <a:ext cx="2310765" cy="120032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void</a:t>
            </a:r>
            <a:r>
              <a:rPr lang="fr-FR" sz="1200" dirty="0">
                <a:latin typeface="Century" panose="02040604050505020304" pitchFamily="18" charset="0"/>
              </a:rPr>
              <a:t> algo ( 5, 5)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if (5==0) exit(0);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if (5&gt;=5 return (5==5);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}</a:t>
            </a:r>
          </a:p>
        </p:txBody>
      </p:sp>
      <p:cxnSp>
        <p:nvCxnSpPr>
          <p:cNvPr id="16" name="Connecteur : en angle 15">
            <a:extLst>
              <a:ext uri="{FF2B5EF4-FFF2-40B4-BE49-F238E27FC236}">
                <a16:creationId xmlns="" xmlns:a16="http://schemas.microsoft.com/office/drawing/2014/main" id="{AAA27329-A019-49F3-97DE-A0EFDF1B42AA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2442213" y="2712716"/>
            <a:ext cx="1990513" cy="16545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 : en angle 17">
            <a:extLst>
              <a:ext uri="{FF2B5EF4-FFF2-40B4-BE49-F238E27FC236}">
                <a16:creationId xmlns="" xmlns:a16="http://schemas.microsoft.com/office/drawing/2014/main" id="{3832DF7D-ABAB-4D0B-ADF7-EEA2F6839218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5068358" y="3754667"/>
            <a:ext cx="1929659" cy="1912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="" xmlns:a16="http://schemas.microsoft.com/office/drawing/2014/main" id="{5DDC28E0-F5D9-4226-BDEE-66B385D51E7E}"/>
              </a:ext>
            </a:extLst>
          </p:cNvPr>
          <p:cNvSpPr/>
          <p:nvPr/>
        </p:nvSpPr>
        <p:spPr>
          <a:xfrm>
            <a:off x="9123466" y="4196379"/>
            <a:ext cx="2348653" cy="7645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61" name="Rectangle 60">
            <a:extLst>
              <a:ext uri="{FF2B5EF4-FFF2-40B4-BE49-F238E27FC236}">
                <a16:creationId xmlns="" xmlns:a16="http://schemas.microsoft.com/office/drawing/2014/main" id="{FBB45119-02A6-4F85-84E2-2A30ABF4A320}"/>
              </a:ext>
            </a:extLst>
          </p:cNvPr>
          <p:cNvSpPr/>
          <p:nvPr/>
        </p:nvSpPr>
        <p:spPr>
          <a:xfrm>
            <a:off x="9136581" y="4196380"/>
            <a:ext cx="321312" cy="7645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1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="" xmlns:a16="http://schemas.microsoft.com/office/drawing/2014/main" id="{897AD37E-F4A3-47EB-8B5C-7C861D5A8589}"/>
              </a:ext>
            </a:extLst>
          </p:cNvPr>
          <p:cNvSpPr txBox="1"/>
          <p:nvPr/>
        </p:nvSpPr>
        <p:spPr>
          <a:xfrm>
            <a:off x="9136582" y="3709171"/>
            <a:ext cx="1285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Exécution</a:t>
            </a:r>
          </a:p>
        </p:txBody>
      </p:sp>
      <p:sp>
        <p:nvSpPr>
          <p:cNvPr id="95" name="Ellipse 94">
            <a:extLst>
              <a:ext uri="{FF2B5EF4-FFF2-40B4-BE49-F238E27FC236}">
                <a16:creationId xmlns="" xmlns:a16="http://schemas.microsoft.com/office/drawing/2014/main" id="{87020321-269A-4A54-A4F9-902C68C51E6B}"/>
              </a:ext>
            </a:extLst>
          </p:cNvPr>
          <p:cNvSpPr/>
          <p:nvPr/>
        </p:nvSpPr>
        <p:spPr>
          <a:xfrm>
            <a:off x="7912723" y="248474"/>
            <a:ext cx="455928" cy="457836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B</a:t>
            </a:r>
          </a:p>
        </p:txBody>
      </p:sp>
      <p:sp>
        <p:nvSpPr>
          <p:cNvPr id="48" name="Espace réservé du contenu 2">
            <a:extLst>
              <a:ext uri="{FF2B5EF4-FFF2-40B4-BE49-F238E27FC236}">
                <a16:creationId xmlns="" xmlns:a16="http://schemas.microsoft.com/office/drawing/2014/main" id="{1E4ED111-C27F-4F41-B0E5-7ED7CC6DB100}"/>
              </a:ext>
            </a:extLst>
          </p:cNvPr>
          <p:cNvSpPr txBox="1">
            <a:spLocks/>
          </p:cNvSpPr>
          <p:nvPr/>
        </p:nvSpPr>
        <p:spPr>
          <a:xfrm>
            <a:off x="335915" y="4317656"/>
            <a:ext cx="5247430" cy="1519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fr-FR" dirty="0">
                <a:solidFill>
                  <a:schemeClr val="accent5"/>
                </a:solidFill>
              </a:rPr>
              <a:t>Cet algorithme permet de déterminer si a  est un diviseur de b par soustraction récursive.</a:t>
            </a:r>
          </a:p>
        </p:txBody>
      </p:sp>
      <p:sp>
        <p:nvSpPr>
          <p:cNvPr id="19" name="Titre 1">
            <a:extLst>
              <a:ext uri="{FF2B5EF4-FFF2-40B4-BE49-F238E27FC236}">
                <a16:creationId xmlns="" xmlns:a16="http://schemas.microsoft.com/office/drawing/2014/main" id="{6C304A47-FC86-4B03-BFC8-9EAD1C1837B2}"/>
              </a:ext>
            </a:extLst>
          </p:cNvPr>
          <p:cNvSpPr txBox="1">
            <a:spLocks/>
          </p:cNvSpPr>
          <p:nvPr/>
        </p:nvSpPr>
        <p:spPr>
          <a:xfrm>
            <a:off x="1202266" y="274888"/>
            <a:ext cx="10033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C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i="1" dirty="0">
                <a:solidFill>
                  <a:srgbClr val="C00000"/>
                </a:solidFill>
              </a:rPr>
              <a:t>2. L’ordre des appels récursifs: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="" xmlns:a16="http://schemas.microsoft.com/office/drawing/2014/main" id="{264E19CB-3DCD-45EA-95AB-EB6541610980}"/>
              </a:ext>
            </a:extLst>
          </p:cNvPr>
          <p:cNvSpPr txBox="1"/>
          <p:nvPr/>
        </p:nvSpPr>
        <p:spPr>
          <a:xfrm>
            <a:off x="7353419" y="1308106"/>
            <a:ext cx="4838581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 err="1">
                <a:latin typeface="Century" panose="02040604050505020304" pitchFamily="18" charset="0"/>
              </a:rPr>
              <a:t>void</a:t>
            </a:r>
            <a:r>
              <a:rPr lang="fr-FR" sz="2400" dirty="0">
                <a:latin typeface="Century" panose="02040604050505020304" pitchFamily="18" charset="0"/>
              </a:rPr>
              <a:t> algo ( </a:t>
            </a:r>
            <a:r>
              <a:rPr lang="fr-FR" sz="2400" dirty="0" err="1">
                <a:latin typeface="Century" panose="02040604050505020304" pitchFamily="18" charset="0"/>
              </a:rPr>
              <a:t>int</a:t>
            </a:r>
            <a:r>
              <a:rPr lang="fr-FR" sz="2400" dirty="0">
                <a:latin typeface="Century" panose="02040604050505020304" pitchFamily="18" charset="0"/>
              </a:rPr>
              <a:t> a, </a:t>
            </a:r>
            <a:r>
              <a:rPr lang="fr-FR" sz="2400" dirty="0" err="1">
                <a:latin typeface="Century" panose="02040604050505020304" pitchFamily="18" charset="0"/>
              </a:rPr>
              <a:t>int</a:t>
            </a:r>
            <a:r>
              <a:rPr lang="fr-FR" sz="2400" dirty="0">
                <a:latin typeface="Century" panose="02040604050505020304" pitchFamily="18" charset="0"/>
              </a:rPr>
              <a:t> b) </a:t>
            </a:r>
          </a:p>
          <a:p>
            <a:r>
              <a:rPr lang="fr-FR" sz="2400" dirty="0">
                <a:latin typeface="Century" panose="02040604050505020304" pitchFamily="18" charset="0"/>
              </a:rPr>
              <a:t>     { </a:t>
            </a:r>
          </a:p>
          <a:p>
            <a:r>
              <a:rPr lang="fr-FR" sz="2400" dirty="0">
                <a:latin typeface="Century" panose="02040604050505020304" pitchFamily="18" charset="0"/>
              </a:rPr>
              <a:t>       if (a==0) exit(0);</a:t>
            </a:r>
          </a:p>
          <a:p>
            <a:r>
              <a:rPr lang="fr-FR" sz="2400" dirty="0">
                <a:latin typeface="Century" panose="02040604050505020304" pitchFamily="18" charset="0"/>
              </a:rPr>
              <a:t>       if (a&gt;=b </a:t>
            </a:r>
            <a:r>
              <a:rPr lang="fr-FR" sz="2400" dirty="0" err="1" smtClean="0">
                <a:latin typeface="Century" panose="02040604050505020304" pitchFamily="18" charset="0"/>
              </a:rPr>
              <a:t>printf</a:t>
            </a:r>
            <a:r>
              <a:rPr lang="fr-FR" sz="2400" dirty="0" smtClean="0">
                <a:latin typeface="Century" panose="02040604050505020304" pitchFamily="18" charset="0"/>
              </a:rPr>
              <a:t> (« %d »,a</a:t>
            </a:r>
            <a:r>
              <a:rPr lang="fr-FR" sz="2400" dirty="0">
                <a:latin typeface="Century" panose="02040604050505020304" pitchFamily="18" charset="0"/>
              </a:rPr>
              <a:t>==b);</a:t>
            </a:r>
          </a:p>
          <a:p>
            <a:r>
              <a:rPr lang="fr-FR" sz="2400" dirty="0">
                <a:latin typeface="Century" panose="02040604050505020304" pitchFamily="18" charset="0"/>
              </a:rPr>
              <a:t>       </a:t>
            </a:r>
            <a:r>
              <a:rPr lang="fr-FR" sz="2400" dirty="0" err="1" smtClean="0">
                <a:latin typeface="Century" panose="02040604050505020304" pitchFamily="18" charset="0"/>
              </a:rPr>
              <a:t>algo</a:t>
            </a:r>
            <a:r>
              <a:rPr lang="fr-FR" sz="2400" dirty="0" smtClean="0">
                <a:latin typeface="Century" panose="02040604050505020304" pitchFamily="18" charset="0"/>
              </a:rPr>
              <a:t>(a</a:t>
            </a:r>
            <a:r>
              <a:rPr lang="fr-FR" sz="2400" dirty="0">
                <a:latin typeface="Century" panose="02040604050505020304" pitchFamily="18" charset="0"/>
              </a:rPr>
              <a:t>, b-a);</a:t>
            </a:r>
          </a:p>
          <a:p>
            <a:r>
              <a:rPr lang="fr-FR" sz="2400" dirty="0">
                <a:latin typeface="Century" panose="02040604050505020304" pitchFamily="18" charset="0"/>
              </a:rPr>
              <a:t>      }</a:t>
            </a:r>
          </a:p>
        </p:txBody>
      </p:sp>
    </p:spTree>
    <p:extLst>
      <p:ext uri="{BB962C8B-B14F-4D97-AF65-F5344CB8AC3E}">
        <p14:creationId xmlns:p14="http://schemas.microsoft.com/office/powerpoint/2010/main" val="2873684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61" grpId="0" animBg="1"/>
      <p:bldP spid="4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ZoneTexte 93">
            <a:extLst>
              <a:ext uri="{FF2B5EF4-FFF2-40B4-BE49-F238E27FC236}">
                <a16:creationId xmlns="" xmlns:a16="http://schemas.microsoft.com/office/drawing/2014/main" id="{E8C376F4-50B8-4AF4-A85E-E18DAC7EC2C7}"/>
              </a:ext>
            </a:extLst>
          </p:cNvPr>
          <p:cNvSpPr txBox="1"/>
          <p:nvPr/>
        </p:nvSpPr>
        <p:spPr>
          <a:xfrm>
            <a:off x="9167062" y="3180008"/>
            <a:ext cx="1285248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DC3430DC-8FE3-472A-8EE6-B46C51FAA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96" y="1370083"/>
            <a:ext cx="2529204" cy="456869"/>
          </a:xfrm>
        </p:spPr>
        <p:txBody>
          <a:bodyPr>
            <a:normAutofit lnSpcReduction="10000"/>
          </a:bodyPr>
          <a:lstStyle/>
          <a:p>
            <a:r>
              <a:rPr lang="fr-FR" dirty="0"/>
              <a:t>Si a=5 et b=16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="" xmlns:a16="http://schemas.microsoft.com/office/drawing/2014/main" id="{A5B96291-7DF0-466C-A7DF-A6300BAAA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="" xmlns:a16="http://schemas.microsoft.com/office/drawing/2014/main" id="{E5E29E02-18F4-4BF3-A442-3724E693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="" xmlns:a16="http://schemas.microsoft.com/office/drawing/2014/main" id="{37908097-DDCF-4773-AFE3-16A38C501C89}"/>
              </a:ext>
            </a:extLst>
          </p:cNvPr>
          <p:cNvSpPr txBox="1"/>
          <p:nvPr/>
        </p:nvSpPr>
        <p:spPr>
          <a:xfrm>
            <a:off x="762000" y="1853095"/>
            <a:ext cx="2301240" cy="1200329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void</a:t>
            </a:r>
            <a:r>
              <a:rPr lang="fr-FR" sz="1200" dirty="0">
                <a:latin typeface="Century" panose="02040604050505020304" pitchFamily="18" charset="0"/>
              </a:rPr>
              <a:t> algo ( 5, 16)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if (5==0) exit(0);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if (5&gt;=16 return (5==16);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</a:t>
            </a:r>
            <a:r>
              <a:rPr lang="fr-FR" sz="1200" dirty="0" err="1" smtClean="0">
                <a:latin typeface="Century" panose="02040604050505020304" pitchFamily="18" charset="0"/>
              </a:rPr>
              <a:t>algo</a:t>
            </a:r>
            <a:r>
              <a:rPr lang="fr-FR" sz="1200" dirty="0" smtClean="0">
                <a:latin typeface="Century" panose="02040604050505020304" pitchFamily="18" charset="0"/>
              </a:rPr>
              <a:t>(5</a:t>
            </a:r>
            <a:r>
              <a:rPr lang="fr-FR" sz="1200" dirty="0">
                <a:latin typeface="Century" panose="02040604050505020304" pitchFamily="18" charset="0"/>
              </a:rPr>
              <a:t>, 11);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="" xmlns:a16="http://schemas.microsoft.com/office/drawing/2014/main" id="{97EAA7E5-7694-4D0B-98B9-CB98AF706144}"/>
              </a:ext>
            </a:extLst>
          </p:cNvPr>
          <p:cNvSpPr txBox="1"/>
          <p:nvPr/>
        </p:nvSpPr>
        <p:spPr>
          <a:xfrm>
            <a:off x="3282106" y="2878174"/>
            <a:ext cx="2301239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void</a:t>
            </a:r>
            <a:r>
              <a:rPr lang="fr-FR" sz="1200" dirty="0">
                <a:latin typeface="Century" panose="02040604050505020304" pitchFamily="18" charset="0"/>
              </a:rPr>
              <a:t> algo ( 5, 11)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if (5==0) exit(0);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if (5&gt;=11 return (5==11);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</a:t>
            </a:r>
            <a:r>
              <a:rPr lang="fr-FR" sz="1200" dirty="0" err="1" smtClean="0">
                <a:latin typeface="Century" panose="02040604050505020304" pitchFamily="18" charset="0"/>
              </a:rPr>
              <a:t>algo</a:t>
            </a:r>
            <a:r>
              <a:rPr lang="fr-FR" sz="1200" dirty="0" smtClean="0">
                <a:latin typeface="Century" panose="02040604050505020304" pitchFamily="18" charset="0"/>
              </a:rPr>
              <a:t>(5</a:t>
            </a:r>
            <a:r>
              <a:rPr lang="fr-FR" sz="1200" dirty="0">
                <a:latin typeface="Century" panose="02040604050505020304" pitchFamily="18" charset="0"/>
              </a:rPr>
              <a:t>, 6);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}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="" xmlns:a16="http://schemas.microsoft.com/office/drawing/2014/main" id="{579AF49B-EA13-48CC-A623-AADC6AB74959}"/>
              </a:ext>
            </a:extLst>
          </p:cNvPr>
          <p:cNvSpPr txBox="1"/>
          <p:nvPr/>
        </p:nvSpPr>
        <p:spPr>
          <a:xfrm>
            <a:off x="5842634" y="3945928"/>
            <a:ext cx="2310765" cy="120032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void</a:t>
            </a:r>
            <a:r>
              <a:rPr lang="fr-FR" sz="1200" dirty="0">
                <a:latin typeface="Century" panose="02040604050505020304" pitchFamily="18" charset="0"/>
              </a:rPr>
              <a:t> algo ( 5, 6)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if (5==0) exit(0);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if (5&gt;=6 return (5==6);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</a:t>
            </a:r>
            <a:r>
              <a:rPr lang="fr-FR" sz="1200" dirty="0" err="1" smtClean="0">
                <a:latin typeface="Century" panose="02040604050505020304" pitchFamily="18" charset="0"/>
              </a:rPr>
              <a:t>algo</a:t>
            </a:r>
            <a:r>
              <a:rPr lang="fr-FR" sz="1200" dirty="0" smtClean="0">
                <a:latin typeface="Century" panose="02040604050505020304" pitchFamily="18" charset="0"/>
              </a:rPr>
              <a:t>(5</a:t>
            </a:r>
            <a:r>
              <a:rPr lang="fr-FR" sz="1200" dirty="0">
                <a:latin typeface="Century" panose="02040604050505020304" pitchFamily="18" charset="0"/>
              </a:rPr>
              <a:t>, 1);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}</a:t>
            </a:r>
          </a:p>
        </p:txBody>
      </p:sp>
      <p:cxnSp>
        <p:nvCxnSpPr>
          <p:cNvPr id="16" name="Connecteur : en angle 15">
            <a:extLst>
              <a:ext uri="{FF2B5EF4-FFF2-40B4-BE49-F238E27FC236}">
                <a16:creationId xmlns="" xmlns:a16="http://schemas.microsoft.com/office/drawing/2014/main" id="{AAA27329-A019-49F3-97DE-A0EFDF1B42AA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2442213" y="2712716"/>
            <a:ext cx="1990513" cy="16545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 : en angle 17">
            <a:extLst>
              <a:ext uri="{FF2B5EF4-FFF2-40B4-BE49-F238E27FC236}">
                <a16:creationId xmlns="" xmlns:a16="http://schemas.microsoft.com/office/drawing/2014/main" id="{3832DF7D-ABAB-4D0B-ADF7-EEA2F6839218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5068358" y="3754667"/>
            <a:ext cx="1929659" cy="1912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="" xmlns:a16="http://schemas.microsoft.com/office/drawing/2014/main" id="{5DDC28E0-F5D9-4226-BDEE-66B385D51E7E}"/>
              </a:ext>
            </a:extLst>
          </p:cNvPr>
          <p:cNvSpPr/>
          <p:nvPr/>
        </p:nvSpPr>
        <p:spPr>
          <a:xfrm>
            <a:off x="9235440" y="3712981"/>
            <a:ext cx="2348653" cy="7645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61" name="Rectangle 60">
            <a:extLst>
              <a:ext uri="{FF2B5EF4-FFF2-40B4-BE49-F238E27FC236}">
                <a16:creationId xmlns="" xmlns:a16="http://schemas.microsoft.com/office/drawing/2014/main" id="{FBB45119-02A6-4F85-84E2-2A30ABF4A320}"/>
              </a:ext>
            </a:extLst>
          </p:cNvPr>
          <p:cNvSpPr/>
          <p:nvPr/>
        </p:nvSpPr>
        <p:spPr>
          <a:xfrm>
            <a:off x="9248555" y="3712982"/>
            <a:ext cx="321312" cy="7645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0</a:t>
            </a:r>
          </a:p>
        </p:txBody>
      </p:sp>
      <p:sp>
        <p:nvSpPr>
          <p:cNvPr id="91" name="Espace réservé du contenu 2">
            <a:extLst>
              <a:ext uri="{FF2B5EF4-FFF2-40B4-BE49-F238E27FC236}">
                <a16:creationId xmlns="" xmlns:a16="http://schemas.microsoft.com/office/drawing/2014/main" id="{E3343025-BA87-45DF-96BA-951E7A4E3BFC}"/>
              </a:ext>
            </a:extLst>
          </p:cNvPr>
          <p:cNvSpPr txBox="1">
            <a:spLocks/>
          </p:cNvSpPr>
          <p:nvPr/>
        </p:nvSpPr>
        <p:spPr>
          <a:xfrm>
            <a:off x="1513833" y="5403788"/>
            <a:ext cx="4328801" cy="57594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/>
              <a:t>Récursivité terminale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="" xmlns:a16="http://schemas.microsoft.com/office/drawing/2014/main" id="{897AD37E-F4A3-47EB-8B5C-7C861D5A8589}"/>
              </a:ext>
            </a:extLst>
          </p:cNvPr>
          <p:cNvSpPr txBox="1"/>
          <p:nvPr/>
        </p:nvSpPr>
        <p:spPr>
          <a:xfrm>
            <a:off x="9248556" y="3225773"/>
            <a:ext cx="1285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Exécution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8C6A736F-58DF-4463-B5F7-F90E0B7983C9}"/>
              </a:ext>
            </a:extLst>
          </p:cNvPr>
          <p:cNvSpPr txBox="1"/>
          <p:nvPr/>
        </p:nvSpPr>
        <p:spPr>
          <a:xfrm>
            <a:off x="8384004" y="5027173"/>
            <a:ext cx="2310765" cy="101566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void</a:t>
            </a:r>
            <a:r>
              <a:rPr lang="fr-FR" sz="1200" dirty="0">
                <a:latin typeface="Century" panose="02040604050505020304" pitchFamily="18" charset="0"/>
              </a:rPr>
              <a:t> algo ( 5, 1)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if (5==0) exit(0);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if (5&gt;=1 return (5==1);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}</a:t>
            </a:r>
          </a:p>
        </p:txBody>
      </p:sp>
      <p:cxnSp>
        <p:nvCxnSpPr>
          <p:cNvPr id="20" name="Connecteur : en angle 19">
            <a:extLst>
              <a:ext uri="{FF2B5EF4-FFF2-40B4-BE49-F238E27FC236}">
                <a16:creationId xmlns="" xmlns:a16="http://schemas.microsoft.com/office/drawing/2014/main" id="{6D22715E-8EBB-4B52-A10B-C7AE5814A157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7609728" y="4835912"/>
            <a:ext cx="1929659" cy="191261"/>
          </a:xfrm>
          <a:prstGeom prst="bentConnector2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="" xmlns:a16="http://schemas.microsoft.com/office/drawing/2014/main" id="{264E19CB-3DCD-45EA-95AB-EB6541610980}"/>
              </a:ext>
            </a:extLst>
          </p:cNvPr>
          <p:cNvSpPr txBox="1"/>
          <p:nvPr/>
        </p:nvSpPr>
        <p:spPr>
          <a:xfrm>
            <a:off x="7353419" y="871684"/>
            <a:ext cx="4838581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 err="1">
                <a:latin typeface="Century" panose="02040604050505020304" pitchFamily="18" charset="0"/>
              </a:rPr>
              <a:t>void</a:t>
            </a:r>
            <a:r>
              <a:rPr lang="fr-FR" sz="2400" dirty="0">
                <a:latin typeface="Century" panose="02040604050505020304" pitchFamily="18" charset="0"/>
              </a:rPr>
              <a:t> algo ( </a:t>
            </a:r>
            <a:r>
              <a:rPr lang="fr-FR" sz="2400" dirty="0" err="1">
                <a:latin typeface="Century" panose="02040604050505020304" pitchFamily="18" charset="0"/>
              </a:rPr>
              <a:t>int</a:t>
            </a:r>
            <a:r>
              <a:rPr lang="fr-FR" sz="2400" dirty="0">
                <a:latin typeface="Century" panose="02040604050505020304" pitchFamily="18" charset="0"/>
              </a:rPr>
              <a:t> a, </a:t>
            </a:r>
            <a:r>
              <a:rPr lang="fr-FR" sz="2400" dirty="0" err="1">
                <a:latin typeface="Century" panose="02040604050505020304" pitchFamily="18" charset="0"/>
              </a:rPr>
              <a:t>int</a:t>
            </a:r>
            <a:r>
              <a:rPr lang="fr-FR" sz="2400" dirty="0">
                <a:latin typeface="Century" panose="02040604050505020304" pitchFamily="18" charset="0"/>
              </a:rPr>
              <a:t> b) </a:t>
            </a:r>
          </a:p>
          <a:p>
            <a:r>
              <a:rPr lang="fr-FR" sz="2400" dirty="0">
                <a:latin typeface="Century" panose="02040604050505020304" pitchFamily="18" charset="0"/>
              </a:rPr>
              <a:t>     { </a:t>
            </a:r>
          </a:p>
          <a:p>
            <a:r>
              <a:rPr lang="fr-FR" sz="2400" dirty="0">
                <a:latin typeface="Century" panose="02040604050505020304" pitchFamily="18" charset="0"/>
              </a:rPr>
              <a:t>       if (a==0) exit(0);</a:t>
            </a:r>
          </a:p>
          <a:p>
            <a:r>
              <a:rPr lang="fr-FR" sz="2400" dirty="0">
                <a:latin typeface="Century" panose="02040604050505020304" pitchFamily="18" charset="0"/>
              </a:rPr>
              <a:t>       if (a&gt;=b </a:t>
            </a:r>
            <a:r>
              <a:rPr lang="fr-FR" sz="2400" dirty="0" err="1" smtClean="0">
                <a:latin typeface="Century" panose="02040604050505020304" pitchFamily="18" charset="0"/>
              </a:rPr>
              <a:t>printf</a:t>
            </a:r>
            <a:r>
              <a:rPr lang="fr-FR" sz="2400" dirty="0" smtClean="0">
                <a:latin typeface="Century" panose="02040604050505020304" pitchFamily="18" charset="0"/>
              </a:rPr>
              <a:t> (« %d »,a</a:t>
            </a:r>
            <a:r>
              <a:rPr lang="fr-FR" sz="2400" dirty="0">
                <a:latin typeface="Century" panose="02040604050505020304" pitchFamily="18" charset="0"/>
              </a:rPr>
              <a:t>==b);</a:t>
            </a:r>
          </a:p>
          <a:p>
            <a:r>
              <a:rPr lang="fr-FR" sz="2400" dirty="0">
                <a:latin typeface="Century" panose="02040604050505020304" pitchFamily="18" charset="0"/>
              </a:rPr>
              <a:t>       </a:t>
            </a:r>
            <a:r>
              <a:rPr lang="fr-FR" sz="2400" dirty="0" err="1" smtClean="0">
                <a:latin typeface="Century" panose="02040604050505020304" pitchFamily="18" charset="0"/>
              </a:rPr>
              <a:t>algo</a:t>
            </a:r>
            <a:r>
              <a:rPr lang="fr-FR" sz="2400" dirty="0" smtClean="0">
                <a:latin typeface="Century" panose="02040604050505020304" pitchFamily="18" charset="0"/>
              </a:rPr>
              <a:t>(a</a:t>
            </a:r>
            <a:r>
              <a:rPr lang="fr-FR" sz="2400" dirty="0">
                <a:latin typeface="Century" panose="02040604050505020304" pitchFamily="18" charset="0"/>
              </a:rPr>
              <a:t>, b-a);</a:t>
            </a:r>
          </a:p>
          <a:p>
            <a:r>
              <a:rPr lang="fr-FR" sz="2400" dirty="0">
                <a:latin typeface="Century" panose="02040604050505020304" pitchFamily="18" charset="0"/>
              </a:rPr>
              <a:t>      }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="" xmlns:a16="http://schemas.microsoft.com/office/drawing/2014/main" id="{375F0E64-EE6A-4D89-9359-5BD593C7FDDE}"/>
              </a:ext>
            </a:extLst>
          </p:cNvPr>
          <p:cNvSpPr/>
          <p:nvPr/>
        </p:nvSpPr>
        <p:spPr>
          <a:xfrm>
            <a:off x="7912723" y="248474"/>
            <a:ext cx="455928" cy="457836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B</a:t>
            </a:r>
          </a:p>
        </p:txBody>
      </p:sp>
      <p:sp>
        <p:nvSpPr>
          <p:cNvPr id="15" name="Titre 1">
            <a:extLst>
              <a:ext uri="{FF2B5EF4-FFF2-40B4-BE49-F238E27FC236}">
                <a16:creationId xmlns="" xmlns:a16="http://schemas.microsoft.com/office/drawing/2014/main" id="{D7395702-5DEA-49B6-924A-01AE0E9B73AD}"/>
              </a:ext>
            </a:extLst>
          </p:cNvPr>
          <p:cNvSpPr txBox="1">
            <a:spLocks/>
          </p:cNvSpPr>
          <p:nvPr/>
        </p:nvSpPr>
        <p:spPr>
          <a:xfrm>
            <a:off x="1202266" y="274888"/>
            <a:ext cx="10033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C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i="1" dirty="0">
                <a:solidFill>
                  <a:srgbClr val="C00000"/>
                </a:solidFill>
              </a:rPr>
              <a:t>2. L’ordre des appels récursifs:</a:t>
            </a:r>
          </a:p>
        </p:txBody>
      </p:sp>
    </p:spTree>
    <p:extLst>
      <p:ext uri="{BB962C8B-B14F-4D97-AF65-F5344CB8AC3E}">
        <p14:creationId xmlns:p14="http://schemas.microsoft.com/office/powerpoint/2010/main" val="3497702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61" grpId="0" animBg="1"/>
      <p:bldP spid="91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ZoneTexte 93">
            <a:extLst>
              <a:ext uri="{FF2B5EF4-FFF2-40B4-BE49-F238E27FC236}">
                <a16:creationId xmlns="" xmlns:a16="http://schemas.microsoft.com/office/drawing/2014/main" id="{E8C376F4-50B8-4AF4-A85E-E18DAC7EC2C7}"/>
              </a:ext>
            </a:extLst>
          </p:cNvPr>
          <p:cNvSpPr txBox="1"/>
          <p:nvPr/>
        </p:nvSpPr>
        <p:spPr>
          <a:xfrm>
            <a:off x="9217171" y="3253045"/>
            <a:ext cx="1285248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DC3430DC-8FE3-472A-8EE6-B46C51FAA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96" y="1370083"/>
            <a:ext cx="1904364" cy="456869"/>
          </a:xfrm>
        </p:spPr>
        <p:txBody>
          <a:bodyPr>
            <a:normAutofit lnSpcReduction="10000"/>
          </a:bodyPr>
          <a:lstStyle/>
          <a:p>
            <a:r>
              <a:rPr lang="fr-FR" dirty="0"/>
              <a:t>Si n=5: 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="" xmlns:a16="http://schemas.microsoft.com/office/drawing/2014/main" id="{A5B96291-7DF0-466C-A7DF-A6300BAAA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="" xmlns:a16="http://schemas.microsoft.com/office/drawing/2014/main" id="{E5E29E02-18F4-4BF3-A442-3724E693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="" xmlns:a16="http://schemas.microsoft.com/office/drawing/2014/main" id="{2DE69952-40C4-46CF-AFC9-95B3EE65952D}"/>
              </a:ext>
            </a:extLst>
          </p:cNvPr>
          <p:cNvSpPr txBox="1"/>
          <p:nvPr/>
        </p:nvSpPr>
        <p:spPr>
          <a:xfrm>
            <a:off x="8155927" y="525281"/>
            <a:ext cx="4010226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 err="1">
                <a:latin typeface="Century" panose="02040604050505020304" pitchFamily="18" charset="0"/>
              </a:rPr>
              <a:t>int</a:t>
            </a:r>
            <a:r>
              <a:rPr lang="fr-FR" sz="2400" dirty="0">
                <a:latin typeface="Century" panose="02040604050505020304" pitchFamily="18" charset="0"/>
              </a:rPr>
              <a:t> factoriel ( </a:t>
            </a:r>
            <a:r>
              <a:rPr lang="fr-FR" sz="2400" dirty="0" err="1">
                <a:latin typeface="Century" panose="02040604050505020304" pitchFamily="18" charset="0"/>
              </a:rPr>
              <a:t>int</a:t>
            </a:r>
            <a:r>
              <a:rPr lang="fr-FR" sz="2400" dirty="0">
                <a:latin typeface="Century" panose="02040604050505020304" pitchFamily="18" charset="0"/>
              </a:rPr>
              <a:t> n) </a:t>
            </a:r>
          </a:p>
          <a:p>
            <a:r>
              <a:rPr lang="fr-FR" sz="2400" dirty="0">
                <a:latin typeface="Century" panose="02040604050505020304" pitchFamily="18" charset="0"/>
              </a:rPr>
              <a:t>     { </a:t>
            </a:r>
          </a:p>
          <a:p>
            <a:r>
              <a:rPr lang="fr-FR" sz="2400" dirty="0">
                <a:latin typeface="Century" panose="02040604050505020304" pitchFamily="18" charset="0"/>
              </a:rPr>
              <a:t>     if (n==0) return 1;</a:t>
            </a:r>
          </a:p>
          <a:p>
            <a:r>
              <a:rPr lang="fr-FR" sz="2400" dirty="0">
                <a:latin typeface="Century" panose="02040604050505020304" pitchFamily="18" charset="0"/>
              </a:rPr>
              <a:t>     return n*factoriel(n-1);</a:t>
            </a:r>
          </a:p>
          <a:p>
            <a:r>
              <a:rPr lang="fr-FR" sz="2400" dirty="0">
                <a:latin typeface="Century" panose="02040604050505020304" pitchFamily="18" charset="0"/>
              </a:rPr>
              <a:t>     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="" xmlns:a16="http://schemas.microsoft.com/office/drawing/2014/main" id="{37908097-DDCF-4773-AFE3-16A38C501C89}"/>
              </a:ext>
            </a:extLst>
          </p:cNvPr>
          <p:cNvSpPr txBox="1"/>
          <p:nvPr/>
        </p:nvSpPr>
        <p:spPr>
          <a:xfrm>
            <a:off x="228600" y="1853095"/>
            <a:ext cx="1984151" cy="1015663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int</a:t>
            </a:r>
            <a:r>
              <a:rPr lang="fr-FR" sz="1200" dirty="0">
                <a:latin typeface="Century" panose="02040604050505020304" pitchFamily="18" charset="0"/>
              </a:rPr>
              <a:t> factoriel (5)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if (5==0) return 1;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return 5*factoriel(4);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="" xmlns:a16="http://schemas.microsoft.com/office/drawing/2014/main" id="{97EAA7E5-7694-4D0B-98B9-CB98AF706144}"/>
              </a:ext>
            </a:extLst>
          </p:cNvPr>
          <p:cNvSpPr txBox="1"/>
          <p:nvPr/>
        </p:nvSpPr>
        <p:spPr>
          <a:xfrm>
            <a:off x="2286179" y="2603955"/>
            <a:ext cx="1920854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int</a:t>
            </a:r>
            <a:r>
              <a:rPr lang="fr-FR" sz="1200" dirty="0">
                <a:latin typeface="Century" panose="02040604050505020304" pitchFamily="18" charset="0"/>
              </a:rPr>
              <a:t> factoriel (4)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if (4==0) return 1;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return 4*factoriel(3);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}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="" xmlns:a16="http://schemas.microsoft.com/office/drawing/2014/main" id="{579AF49B-EA13-48CC-A623-AADC6AB74959}"/>
              </a:ext>
            </a:extLst>
          </p:cNvPr>
          <p:cNvSpPr txBox="1"/>
          <p:nvPr/>
        </p:nvSpPr>
        <p:spPr>
          <a:xfrm>
            <a:off x="4380665" y="3403644"/>
            <a:ext cx="1920854" cy="101566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int</a:t>
            </a:r>
            <a:r>
              <a:rPr lang="fr-FR" sz="1200" dirty="0">
                <a:latin typeface="Century" panose="02040604050505020304" pitchFamily="18" charset="0"/>
              </a:rPr>
              <a:t> factoriel (3)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if (3==0) return 1;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return 3*factoriel(2);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}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="" xmlns:a16="http://schemas.microsoft.com/office/drawing/2014/main" id="{B7F73882-DAE7-42D1-AEA1-212A6E7F5D3E}"/>
              </a:ext>
            </a:extLst>
          </p:cNvPr>
          <p:cNvSpPr txBox="1"/>
          <p:nvPr/>
        </p:nvSpPr>
        <p:spPr>
          <a:xfrm>
            <a:off x="6383012" y="4171855"/>
            <a:ext cx="1920855" cy="101566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int</a:t>
            </a:r>
            <a:r>
              <a:rPr lang="fr-FR" sz="1200" dirty="0">
                <a:latin typeface="Century" panose="02040604050505020304" pitchFamily="18" charset="0"/>
              </a:rPr>
              <a:t> factoriel (2)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if (2==0) return 1;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return 2*factoriel(1);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="" xmlns:a16="http://schemas.microsoft.com/office/drawing/2014/main" id="{F6F79882-FB71-4C1C-ACEB-0379163668A6}"/>
              </a:ext>
            </a:extLst>
          </p:cNvPr>
          <p:cNvSpPr txBox="1"/>
          <p:nvPr/>
        </p:nvSpPr>
        <p:spPr>
          <a:xfrm>
            <a:off x="8428774" y="4985798"/>
            <a:ext cx="1993056" cy="1015663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int</a:t>
            </a:r>
            <a:r>
              <a:rPr lang="fr-FR" sz="1200" dirty="0">
                <a:latin typeface="Century" panose="02040604050505020304" pitchFamily="18" charset="0"/>
              </a:rPr>
              <a:t> factoriel (1)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if (1==0) return 1;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return 1*factoriel(0);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="" xmlns:a16="http://schemas.microsoft.com/office/drawing/2014/main" id="{D79409C1-1E5C-4910-AE17-D36A91B0DBAF}"/>
              </a:ext>
            </a:extLst>
          </p:cNvPr>
          <p:cNvSpPr txBox="1"/>
          <p:nvPr/>
        </p:nvSpPr>
        <p:spPr>
          <a:xfrm>
            <a:off x="10498469" y="5841592"/>
            <a:ext cx="1705611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int</a:t>
            </a:r>
            <a:r>
              <a:rPr lang="fr-FR" sz="1200" dirty="0">
                <a:latin typeface="Century" panose="02040604050505020304" pitchFamily="18" charset="0"/>
              </a:rPr>
              <a:t> factoriel (0)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if (1==0) return 1;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}</a:t>
            </a:r>
          </a:p>
        </p:txBody>
      </p:sp>
      <p:cxnSp>
        <p:nvCxnSpPr>
          <p:cNvPr id="16" name="Connecteur : en angle 15">
            <a:extLst>
              <a:ext uri="{FF2B5EF4-FFF2-40B4-BE49-F238E27FC236}">
                <a16:creationId xmlns="" xmlns:a16="http://schemas.microsoft.com/office/drawing/2014/main" id="{AAA27329-A019-49F3-97DE-A0EFDF1B42AA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2119213" y="2510966"/>
            <a:ext cx="1127393" cy="9298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 : en angle 17">
            <a:extLst>
              <a:ext uri="{FF2B5EF4-FFF2-40B4-BE49-F238E27FC236}">
                <a16:creationId xmlns="" xmlns:a16="http://schemas.microsoft.com/office/drawing/2014/main" id="{3832DF7D-ABAB-4D0B-ADF7-EEA2F6839218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4189378" y="3294661"/>
            <a:ext cx="1151714" cy="1089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Connecteur : en angle 21">
            <a:extLst>
              <a:ext uri="{FF2B5EF4-FFF2-40B4-BE49-F238E27FC236}">
                <a16:creationId xmlns="" xmlns:a16="http://schemas.microsoft.com/office/drawing/2014/main" id="{C89E7925-74A9-41DF-886C-3D5A9E9873AE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6249758" y="4041512"/>
            <a:ext cx="1093682" cy="1303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7" name="Connecteur : en angle 26">
            <a:extLst>
              <a:ext uri="{FF2B5EF4-FFF2-40B4-BE49-F238E27FC236}">
                <a16:creationId xmlns="" xmlns:a16="http://schemas.microsoft.com/office/drawing/2014/main" id="{601E9B90-DFCF-422E-B15C-BD7C3855F30D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8303867" y="4858493"/>
            <a:ext cx="1121435" cy="127305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 : en angle 31">
            <a:extLst>
              <a:ext uri="{FF2B5EF4-FFF2-40B4-BE49-F238E27FC236}">
                <a16:creationId xmlns="" xmlns:a16="http://schemas.microsoft.com/office/drawing/2014/main" id="{4B7F1AA4-3A47-4698-8A8C-43F0F46564F5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0236840" y="5721322"/>
            <a:ext cx="1114435" cy="12027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6" name="Cylindre 35">
            <a:extLst>
              <a:ext uri="{FF2B5EF4-FFF2-40B4-BE49-F238E27FC236}">
                <a16:creationId xmlns="" xmlns:a16="http://schemas.microsoft.com/office/drawing/2014/main" id="{0FCFFFC9-5931-41AF-B358-0DBD746A715C}"/>
              </a:ext>
            </a:extLst>
          </p:cNvPr>
          <p:cNvSpPr/>
          <p:nvPr/>
        </p:nvSpPr>
        <p:spPr>
          <a:xfrm>
            <a:off x="485986" y="3914835"/>
            <a:ext cx="1705611" cy="2263846"/>
          </a:xfrm>
          <a:prstGeom prst="ca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Organigramme : Disque magnétique 37">
            <a:extLst>
              <a:ext uri="{FF2B5EF4-FFF2-40B4-BE49-F238E27FC236}">
                <a16:creationId xmlns="" xmlns:a16="http://schemas.microsoft.com/office/drawing/2014/main" id="{A3B00585-1DB2-4CA2-A3CE-6A1A827F6BF8}"/>
              </a:ext>
            </a:extLst>
          </p:cNvPr>
          <p:cNvSpPr/>
          <p:nvPr/>
        </p:nvSpPr>
        <p:spPr>
          <a:xfrm>
            <a:off x="485986" y="5747233"/>
            <a:ext cx="1705611" cy="374484"/>
          </a:xfrm>
          <a:prstGeom prst="flowChartMagneticDisk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5</a:t>
            </a:r>
          </a:p>
        </p:txBody>
      </p:sp>
      <p:sp>
        <p:nvSpPr>
          <p:cNvPr id="40" name="Organigramme : Disque magnétique 39">
            <a:extLst>
              <a:ext uri="{FF2B5EF4-FFF2-40B4-BE49-F238E27FC236}">
                <a16:creationId xmlns="" xmlns:a16="http://schemas.microsoft.com/office/drawing/2014/main" id="{CB8B0A17-E2EE-4D91-A539-95D5F65C93F2}"/>
              </a:ext>
            </a:extLst>
          </p:cNvPr>
          <p:cNvSpPr/>
          <p:nvPr/>
        </p:nvSpPr>
        <p:spPr>
          <a:xfrm>
            <a:off x="485986" y="5472913"/>
            <a:ext cx="1705611" cy="374484"/>
          </a:xfrm>
          <a:prstGeom prst="flowChartMagneticDisk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</a:p>
        </p:txBody>
      </p:sp>
      <p:sp>
        <p:nvSpPr>
          <p:cNvPr id="42" name="Organigramme : Disque magnétique 41">
            <a:extLst>
              <a:ext uri="{FF2B5EF4-FFF2-40B4-BE49-F238E27FC236}">
                <a16:creationId xmlns="" xmlns:a16="http://schemas.microsoft.com/office/drawing/2014/main" id="{67A50120-198B-4940-82F6-E73AADD91D42}"/>
              </a:ext>
            </a:extLst>
          </p:cNvPr>
          <p:cNvSpPr/>
          <p:nvPr/>
        </p:nvSpPr>
        <p:spPr>
          <a:xfrm>
            <a:off x="485986" y="5198593"/>
            <a:ext cx="1705611" cy="374484"/>
          </a:xfrm>
          <a:prstGeom prst="flowChartMagneticDisk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44" name="Organigramme : Disque magnétique 43">
            <a:extLst>
              <a:ext uri="{FF2B5EF4-FFF2-40B4-BE49-F238E27FC236}">
                <a16:creationId xmlns="" xmlns:a16="http://schemas.microsoft.com/office/drawing/2014/main" id="{DED9A217-DD3A-4BE7-841A-8FEC77349195}"/>
              </a:ext>
            </a:extLst>
          </p:cNvPr>
          <p:cNvSpPr/>
          <p:nvPr/>
        </p:nvSpPr>
        <p:spPr>
          <a:xfrm>
            <a:off x="485986" y="4924273"/>
            <a:ext cx="1705611" cy="374484"/>
          </a:xfrm>
          <a:prstGeom prst="flowChartMagneticDisk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sp>
        <p:nvSpPr>
          <p:cNvPr id="46" name="Organigramme : Disque magnétique 45">
            <a:extLst>
              <a:ext uri="{FF2B5EF4-FFF2-40B4-BE49-F238E27FC236}">
                <a16:creationId xmlns="" xmlns:a16="http://schemas.microsoft.com/office/drawing/2014/main" id="{28435363-B82F-4683-8EB0-0B9499C5BB97}"/>
              </a:ext>
            </a:extLst>
          </p:cNvPr>
          <p:cNvSpPr/>
          <p:nvPr/>
        </p:nvSpPr>
        <p:spPr>
          <a:xfrm>
            <a:off x="485986" y="4654194"/>
            <a:ext cx="1705611" cy="374484"/>
          </a:xfrm>
          <a:prstGeom prst="flowChartMagneticDisk">
            <a:avLst/>
          </a:prstGeom>
          <a:ln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="" xmlns:a16="http://schemas.microsoft.com/office/drawing/2014/main" id="{61E4CD22-187B-4F5D-B511-F35308382B0D}"/>
              </a:ext>
            </a:extLst>
          </p:cNvPr>
          <p:cNvSpPr txBox="1"/>
          <p:nvPr/>
        </p:nvSpPr>
        <p:spPr>
          <a:xfrm>
            <a:off x="364962" y="6257091"/>
            <a:ext cx="2206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Pile d’exécution</a:t>
            </a:r>
          </a:p>
        </p:txBody>
      </p:sp>
      <p:cxnSp>
        <p:nvCxnSpPr>
          <p:cNvPr id="49" name="Connecteur : en arc 48">
            <a:extLst>
              <a:ext uri="{FF2B5EF4-FFF2-40B4-BE49-F238E27FC236}">
                <a16:creationId xmlns="" xmlns:a16="http://schemas.microsoft.com/office/drawing/2014/main" id="{B6D1868B-00FD-4B54-9AEC-DBA53AE791D4}"/>
              </a:ext>
            </a:extLst>
          </p:cNvPr>
          <p:cNvCxnSpPr>
            <a:cxnSpLocks/>
          </p:cNvCxnSpPr>
          <p:nvPr/>
        </p:nvCxnSpPr>
        <p:spPr>
          <a:xfrm>
            <a:off x="72812" y="3700773"/>
            <a:ext cx="852806" cy="48583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ZoneTexte 50">
            <a:extLst>
              <a:ext uri="{FF2B5EF4-FFF2-40B4-BE49-F238E27FC236}">
                <a16:creationId xmlns="" xmlns:a16="http://schemas.microsoft.com/office/drawing/2014/main" id="{A564D58B-EF98-45DD-866C-86A69526CF76}"/>
              </a:ext>
            </a:extLst>
          </p:cNvPr>
          <p:cNvSpPr txBox="1"/>
          <p:nvPr/>
        </p:nvSpPr>
        <p:spPr>
          <a:xfrm>
            <a:off x="349144" y="3310758"/>
            <a:ext cx="96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empiler</a:t>
            </a:r>
          </a:p>
        </p:txBody>
      </p:sp>
      <p:cxnSp>
        <p:nvCxnSpPr>
          <p:cNvPr id="52" name="Connecteur : en arc 51">
            <a:extLst>
              <a:ext uri="{FF2B5EF4-FFF2-40B4-BE49-F238E27FC236}">
                <a16:creationId xmlns="" xmlns:a16="http://schemas.microsoft.com/office/drawing/2014/main" id="{4B88292B-FB87-4DE9-BD5B-9676530415D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36684" y="3476519"/>
            <a:ext cx="541371" cy="75930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="" xmlns:a16="http://schemas.microsoft.com/office/drawing/2014/main" id="{118565E8-F3EF-43D7-9DB6-5B939A4E1E07}"/>
              </a:ext>
            </a:extLst>
          </p:cNvPr>
          <p:cNvSpPr txBox="1"/>
          <p:nvPr/>
        </p:nvSpPr>
        <p:spPr>
          <a:xfrm>
            <a:off x="1171786" y="3294661"/>
            <a:ext cx="96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dépiler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="" xmlns:a16="http://schemas.microsoft.com/office/drawing/2014/main" id="{5DDC28E0-F5D9-4226-BDEE-66B385D51E7E}"/>
              </a:ext>
            </a:extLst>
          </p:cNvPr>
          <p:cNvSpPr/>
          <p:nvPr/>
        </p:nvSpPr>
        <p:spPr>
          <a:xfrm>
            <a:off x="9300092" y="3771177"/>
            <a:ext cx="2348653" cy="7645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61" name="Rectangle 60">
            <a:extLst>
              <a:ext uri="{FF2B5EF4-FFF2-40B4-BE49-F238E27FC236}">
                <a16:creationId xmlns="" xmlns:a16="http://schemas.microsoft.com/office/drawing/2014/main" id="{FBB45119-02A6-4F85-84E2-2A30ABF4A320}"/>
              </a:ext>
            </a:extLst>
          </p:cNvPr>
          <p:cNvSpPr/>
          <p:nvPr/>
        </p:nvSpPr>
        <p:spPr>
          <a:xfrm>
            <a:off x="9749786" y="5782990"/>
            <a:ext cx="321312" cy="764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="" xmlns:a16="http://schemas.microsoft.com/office/drawing/2014/main" id="{C1F7205F-957F-486C-8B20-7ADC076A4485}"/>
              </a:ext>
            </a:extLst>
          </p:cNvPr>
          <p:cNvSpPr/>
          <p:nvPr/>
        </p:nvSpPr>
        <p:spPr>
          <a:xfrm>
            <a:off x="7544001" y="5090614"/>
            <a:ext cx="321312" cy="764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/>
              <a:t>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="" xmlns:a16="http://schemas.microsoft.com/office/drawing/2014/main" id="{C088E6CD-BCA6-4CC5-AEFB-CA2F256ED68F}"/>
              </a:ext>
            </a:extLst>
          </p:cNvPr>
          <p:cNvSpPr/>
          <p:nvPr/>
        </p:nvSpPr>
        <p:spPr>
          <a:xfrm>
            <a:off x="5491311" y="4346917"/>
            <a:ext cx="321312" cy="764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/>
              <a:t>2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="" xmlns:a16="http://schemas.microsoft.com/office/drawing/2014/main" id="{C64AAC6A-1CA4-4AA5-BAE6-95E48C02EF13}"/>
              </a:ext>
            </a:extLst>
          </p:cNvPr>
          <p:cNvSpPr/>
          <p:nvPr/>
        </p:nvSpPr>
        <p:spPr>
          <a:xfrm>
            <a:off x="3459367" y="3606814"/>
            <a:ext cx="321312" cy="764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/>
              <a:t>6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="" xmlns:a16="http://schemas.microsoft.com/office/drawing/2014/main" id="{0A82E6B9-AEA1-4599-999B-ED4BBBA2A221}"/>
              </a:ext>
            </a:extLst>
          </p:cNvPr>
          <p:cNvSpPr/>
          <p:nvPr/>
        </p:nvSpPr>
        <p:spPr>
          <a:xfrm flipH="1">
            <a:off x="1299168" y="2768144"/>
            <a:ext cx="514736" cy="8478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/>
              <a:t>24</a:t>
            </a:r>
          </a:p>
        </p:txBody>
      </p:sp>
      <p:cxnSp>
        <p:nvCxnSpPr>
          <p:cNvPr id="70" name="Connecteur : en angle 69">
            <a:extLst>
              <a:ext uri="{FF2B5EF4-FFF2-40B4-BE49-F238E27FC236}">
                <a16:creationId xmlns="" xmlns:a16="http://schemas.microsoft.com/office/drawing/2014/main" id="{DB6F8DC4-4DBA-4535-8A41-05375968B83E}"/>
              </a:ext>
            </a:extLst>
          </p:cNvPr>
          <p:cNvCxnSpPr>
            <a:cxnSpLocks/>
            <a:endCxn id="11" idx="2"/>
          </p:cNvCxnSpPr>
          <p:nvPr/>
        </p:nvCxnSpPr>
        <p:spPr>
          <a:xfrm rot="10800000">
            <a:off x="9425302" y="6032350"/>
            <a:ext cx="1242698" cy="324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8" name="Connecteur : en angle 77">
            <a:extLst>
              <a:ext uri="{FF2B5EF4-FFF2-40B4-BE49-F238E27FC236}">
                <a16:creationId xmlns="" xmlns:a16="http://schemas.microsoft.com/office/drawing/2014/main" id="{100944ED-7181-4A8E-B948-1E4384ABFEF0}"/>
              </a:ext>
            </a:extLst>
          </p:cNvPr>
          <p:cNvCxnSpPr>
            <a:cxnSpLocks/>
            <a:endCxn id="10" idx="2"/>
          </p:cNvCxnSpPr>
          <p:nvPr/>
        </p:nvCxnSpPr>
        <p:spPr>
          <a:xfrm rot="10800000">
            <a:off x="7343440" y="5187518"/>
            <a:ext cx="1267160" cy="501138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2" name="Connecteur : en angle 81">
            <a:extLst>
              <a:ext uri="{FF2B5EF4-FFF2-40B4-BE49-F238E27FC236}">
                <a16:creationId xmlns="" xmlns:a16="http://schemas.microsoft.com/office/drawing/2014/main" id="{0C51AA47-D8A7-447C-8163-4210514D8B0D}"/>
              </a:ext>
            </a:extLst>
          </p:cNvPr>
          <p:cNvCxnSpPr>
            <a:cxnSpLocks/>
          </p:cNvCxnSpPr>
          <p:nvPr/>
        </p:nvCxnSpPr>
        <p:spPr>
          <a:xfrm rot="10800000">
            <a:off x="5341092" y="4371412"/>
            <a:ext cx="1316972" cy="476532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3" name="Connecteur : en angle 82">
            <a:extLst>
              <a:ext uri="{FF2B5EF4-FFF2-40B4-BE49-F238E27FC236}">
                <a16:creationId xmlns="" xmlns:a16="http://schemas.microsoft.com/office/drawing/2014/main" id="{D1AEF979-9F1F-4582-A8C7-CF5840F7D54F}"/>
              </a:ext>
            </a:extLst>
          </p:cNvPr>
          <p:cNvCxnSpPr>
            <a:cxnSpLocks/>
            <a:endCxn id="8" idx="2"/>
          </p:cNvCxnSpPr>
          <p:nvPr/>
        </p:nvCxnSpPr>
        <p:spPr>
          <a:xfrm rot="10800000">
            <a:off x="3246606" y="3619619"/>
            <a:ext cx="1384732" cy="4958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4" name="Connecteur : en angle 83">
            <a:extLst>
              <a:ext uri="{FF2B5EF4-FFF2-40B4-BE49-F238E27FC236}">
                <a16:creationId xmlns="" xmlns:a16="http://schemas.microsoft.com/office/drawing/2014/main" id="{84E748D9-8107-46BA-AD49-F5259FECCAB8}"/>
              </a:ext>
            </a:extLst>
          </p:cNvPr>
          <p:cNvCxnSpPr>
            <a:cxnSpLocks/>
            <a:endCxn id="7" idx="2"/>
          </p:cNvCxnSpPr>
          <p:nvPr/>
        </p:nvCxnSpPr>
        <p:spPr>
          <a:xfrm rot="10800000">
            <a:off x="1220677" y="2868759"/>
            <a:ext cx="1313389" cy="4259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1" name="Espace réservé du contenu 2">
            <a:extLst>
              <a:ext uri="{FF2B5EF4-FFF2-40B4-BE49-F238E27FC236}">
                <a16:creationId xmlns="" xmlns:a16="http://schemas.microsoft.com/office/drawing/2014/main" id="{E3343025-BA87-45DF-96BA-951E7A4E3BFC}"/>
              </a:ext>
            </a:extLst>
          </p:cNvPr>
          <p:cNvSpPr txBox="1">
            <a:spLocks/>
          </p:cNvSpPr>
          <p:nvPr/>
        </p:nvSpPr>
        <p:spPr>
          <a:xfrm>
            <a:off x="2534066" y="5515638"/>
            <a:ext cx="4328801" cy="57594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/>
              <a:t>Récursivité non terminale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="" xmlns:a16="http://schemas.microsoft.com/office/drawing/2014/main" id="{897AD37E-F4A3-47EB-8B5C-7C861D5A8589}"/>
              </a:ext>
            </a:extLst>
          </p:cNvPr>
          <p:cNvSpPr txBox="1"/>
          <p:nvPr/>
        </p:nvSpPr>
        <p:spPr>
          <a:xfrm>
            <a:off x="9298665" y="3298810"/>
            <a:ext cx="1285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Exécution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="" xmlns:a16="http://schemas.microsoft.com/office/drawing/2014/main" id="{22206B4F-65A1-4030-A966-6AD22D3435D2}"/>
              </a:ext>
            </a:extLst>
          </p:cNvPr>
          <p:cNvSpPr/>
          <p:nvPr/>
        </p:nvSpPr>
        <p:spPr>
          <a:xfrm>
            <a:off x="9452493" y="3923577"/>
            <a:ext cx="1075966" cy="4737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120</a:t>
            </a:r>
          </a:p>
        </p:txBody>
      </p:sp>
      <p:sp>
        <p:nvSpPr>
          <p:cNvPr id="86" name="Ellipse 85">
            <a:extLst>
              <a:ext uri="{FF2B5EF4-FFF2-40B4-BE49-F238E27FC236}">
                <a16:creationId xmlns="" xmlns:a16="http://schemas.microsoft.com/office/drawing/2014/main" id="{A55BC8CD-E375-4842-98E8-16883D2338FD}"/>
              </a:ext>
            </a:extLst>
          </p:cNvPr>
          <p:cNvSpPr/>
          <p:nvPr/>
        </p:nvSpPr>
        <p:spPr>
          <a:xfrm>
            <a:off x="7912723" y="248474"/>
            <a:ext cx="455928" cy="457836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C</a:t>
            </a:r>
          </a:p>
        </p:txBody>
      </p:sp>
      <p:sp>
        <p:nvSpPr>
          <p:cNvPr id="87" name="Titre 1">
            <a:extLst>
              <a:ext uri="{FF2B5EF4-FFF2-40B4-BE49-F238E27FC236}">
                <a16:creationId xmlns="" xmlns:a16="http://schemas.microsoft.com/office/drawing/2014/main" id="{E4A6D440-F2FA-46EE-8B57-CF0D5E7D527F}"/>
              </a:ext>
            </a:extLst>
          </p:cNvPr>
          <p:cNvSpPr txBox="1">
            <a:spLocks/>
          </p:cNvSpPr>
          <p:nvPr/>
        </p:nvSpPr>
        <p:spPr>
          <a:xfrm>
            <a:off x="1202266" y="274888"/>
            <a:ext cx="10033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C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i="1" dirty="0">
                <a:solidFill>
                  <a:srgbClr val="C00000"/>
                </a:solidFill>
              </a:rPr>
              <a:t>2. L’ordre des appels récursifs:</a:t>
            </a:r>
          </a:p>
        </p:txBody>
      </p:sp>
    </p:spTree>
    <p:extLst>
      <p:ext uri="{BB962C8B-B14F-4D97-AF65-F5344CB8AC3E}">
        <p14:creationId xmlns:p14="http://schemas.microsoft.com/office/powerpoint/2010/main" val="900508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36" grpId="0" animBg="1"/>
      <p:bldP spid="38" grpId="0" animBg="1"/>
      <p:bldP spid="38" grpId="1" animBg="1"/>
      <p:bldP spid="40" grpId="0" animBg="1"/>
      <p:bldP spid="40" grpId="1" animBg="1"/>
      <p:bldP spid="42" grpId="0" animBg="1"/>
      <p:bldP spid="42" grpId="1" animBg="1"/>
      <p:bldP spid="44" grpId="0" animBg="1"/>
      <p:bldP spid="44" grpId="1" animBg="1"/>
      <p:bldP spid="46" grpId="0" animBg="1"/>
      <p:bldP spid="46" grpId="1" animBg="1"/>
      <p:bldP spid="47" grpId="0"/>
      <p:bldP spid="51" grpId="0"/>
      <p:bldP spid="51" grpId="1"/>
      <p:bldP spid="58" grpId="0"/>
      <p:bldP spid="61" grpId="0"/>
      <p:bldP spid="63" grpId="0" animBg="1"/>
      <p:bldP spid="65" grpId="0" animBg="1"/>
      <p:bldP spid="67" grpId="0" animBg="1"/>
      <p:bldP spid="69" grpId="0" animBg="1"/>
      <p:bldP spid="91" grpId="0" animBg="1"/>
      <p:bldP spid="7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8720" y="365125"/>
            <a:ext cx="10165080" cy="1325563"/>
          </a:xfrm>
        </p:spPr>
        <p:txBody>
          <a:bodyPr/>
          <a:lstStyle/>
          <a:p>
            <a:r>
              <a:rPr lang="fr-FR" b="1" i="1" dirty="0">
                <a:solidFill>
                  <a:srgbClr val="C00000"/>
                </a:solidFill>
              </a:rPr>
              <a:t>3. Récursivité simple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3"/>
          </a:xfrm>
        </p:spPr>
        <p:txBody>
          <a:bodyPr>
            <a:normAutofit fontScale="85000" lnSpcReduction="20000"/>
          </a:bodyPr>
          <a:lstStyle/>
          <a:p>
            <a:r>
              <a:rPr lang="fr-FR" sz="3200" dirty="0"/>
              <a:t>Un seul appel récursive</a:t>
            </a:r>
          </a:p>
          <a:p>
            <a:r>
              <a:rPr lang="fr-FR" sz="3200" b="1" dirty="0">
                <a:solidFill>
                  <a:srgbClr val="0070C0"/>
                </a:solidFill>
              </a:rPr>
              <a:t>Exemple 1</a:t>
            </a:r>
            <a:r>
              <a:rPr lang="fr-FR" sz="3200" dirty="0"/>
              <a:t>: la fonction puissance. </a:t>
            </a:r>
          </a:p>
          <a:p>
            <a:pPr marL="0" indent="0">
              <a:buNone/>
            </a:pPr>
            <a:r>
              <a:rPr lang="fr-FR" sz="3200" dirty="0"/>
              <a:t>	Cette fonction peut être définie récursivement :</a:t>
            </a:r>
          </a:p>
          <a:p>
            <a:pPr>
              <a:buNone/>
            </a:pPr>
            <a:endParaRPr lang="fr-FR" sz="3200" dirty="0"/>
          </a:p>
          <a:p>
            <a:pPr>
              <a:buNone/>
            </a:pPr>
            <a:endParaRPr lang="fr-FR" sz="3200" dirty="0"/>
          </a:p>
          <a:p>
            <a:pPr>
              <a:buNone/>
            </a:pPr>
            <a:endParaRPr lang="fr-FR" sz="3200" dirty="0"/>
          </a:p>
          <a:p>
            <a:r>
              <a:rPr lang="fr-FR" sz="3200" dirty="0"/>
              <a:t>L’algorithme correspondant s’écrit : </a:t>
            </a:r>
          </a:p>
          <a:p>
            <a:pPr lvl="2">
              <a:buNone/>
            </a:pPr>
            <a:r>
              <a:rPr lang="fr-FR" dirty="0" err="1"/>
              <a:t>int</a:t>
            </a:r>
            <a:r>
              <a:rPr lang="fr-FR" dirty="0"/>
              <a:t> Puissance (</a:t>
            </a:r>
            <a:r>
              <a:rPr lang="fr-FR" i="1" dirty="0"/>
              <a:t>x</a:t>
            </a:r>
            <a:r>
              <a:rPr lang="fr-FR" dirty="0"/>
              <a:t>, </a:t>
            </a:r>
            <a:r>
              <a:rPr lang="fr-FR" i="1" dirty="0"/>
              <a:t>n</a:t>
            </a:r>
            <a:r>
              <a:rPr lang="fr-FR" dirty="0"/>
              <a:t>)</a:t>
            </a:r>
          </a:p>
          <a:p>
            <a:pPr lvl="2">
              <a:buNone/>
            </a:pPr>
            <a:r>
              <a:rPr lang="en-GB" dirty="0"/>
              <a:t>{</a:t>
            </a:r>
            <a:endParaRPr lang="fr-FR" dirty="0"/>
          </a:p>
          <a:p>
            <a:pPr lvl="2">
              <a:buNone/>
            </a:pPr>
            <a:r>
              <a:rPr lang="en-GB" dirty="0"/>
              <a:t>	If (</a:t>
            </a:r>
            <a:r>
              <a:rPr lang="en-GB" i="1" dirty="0"/>
              <a:t>n </a:t>
            </a:r>
            <a:r>
              <a:rPr lang="en-GB" dirty="0"/>
              <a:t>== 0) then  </a:t>
            </a:r>
            <a:endParaRPr lang="fr-FR" dirty="0"/>
          </a:p>
          <a:p>
            <a:pPr lvl="2">
              <a:buNone/>
            </a:pPr>
            <a:r>
              <a:rPr lang="en-GB" dirty="0"/>
              <a:t>		return 1;</a:t>
            </a:r>
            <a:endParaRPr lang="fr-FR" dirty="0"/>
          </a:p>
          <a:p>
            <a:pPr lvl="2">
              <a:buNone/>
            </a:pPr>
            <a:r>
              <a:rPr lang="en-GB" dirty="0"/>
              <a:t>	Else </a:t>
            </a:r>
            <a:endParaRPr lang="fr-FR" dirty="0"/>
          </a:p>
          <a:p>
            <a:pPr lvl="2">
              <a:buNone/>
            </a:pPr>
            <a:r>
              <a:rPr lang="en-GB" dirty="0"/>
              <a:t>		return (x*Puissance (x, n-1));</a:t>
            </a:r>
            <a:endParaRPr lang="fr-FR" dirty="0"/>
          </a:p>
          <a:p>
            <a:pPr lvl="2">
              <a:buNone/>
            </a:pPr>
            <a:r>
              <a:rPr lang="fr-FR" dirty="0"/>
              <a:t>}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58369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273930"/>
              </p:ext>
            </p:extLst>
          </p:nvPr>
        </p:nvGraphicFramePr>
        <p:xfrm>
          <a:off x="5647263" y="2968644"/>
          <a:ext cx="2834219" cy="880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06" name="Equation" r:id="rId3" imgW="1460500" imgH="457200" progId="Equation.DSMT4">
                  <p:embed/>
                </p:oleObj>
              </mc:Choice>
              <mc:Fallback>
                <p:oleObj name="Equation" r:id="rId3" imgW="1460500" imgH="4572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7263" y="2968644"/>
                        <a:ext cx="2834219" cy="880534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7E0B483-CCDF-446C-9018-79E02683EF26}"/>
              </a:ext>
            </a:extLst>
          </p:cNvPr>
          <p:cNvSpPr/>
          <p:nvPr/>
        </p:nvSpPr>
        <p:spPr>
          <a:xfrm>
            <a:off x="7909560" y="5320189"/>
            <a:ext cx="3550920" cy="6248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600" i="1" dirty="0">
                <a:latin typeface="Arial" panose="020B0604020202020204" pitchFamily="34" charset="0"/>
                <a:cs typeface="Arial" panose="020B0604020202020204" pitchFamily="34" charset="0"/>
              </a:rPr>
              <a:t>C(n)=1+C(n-1)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="" xmlns:a16="http://schemas.microsoft.com/office/drawing/2014/main" id="{85F0DA27-7B03-4EA7-8572-C41AF8894F78}"/>
              </a:ext>
            </a:extLst>
          </p:cNvPr>
          <p:cNvSpPr txBox="1"/>
          <p:nvPr/>
        </p:nvSpPr>
        <p:spPr>
          <a:xfrm>
            <a:off x="7064373" y="4072592"/>
            <a:ext cx="4937760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dirty="0"/>
              <a:t>L’opération de base est la multiplication</a:t>
            </a:r>
          </a:p>
          <a:p>
            <a:r>
              <a:rPr lang="fr-FR" sz="2000" dirty="0"/>
              <a:t>-&gt; la complexité est calculée par le nombre de multiplications: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i="1" dirty="0">
                <a:solidFill>
                  <a:srgbClr val="C00000"/>
                </a:solidFill>
              </a:rPr>
              <a:t>3. Récursivité simple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8170333" cy="4351338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fr-FR" b="1" dirty="0">
                <a:solidFill>
                  <a:srgbClr val="0070C0"/>
                </a:solidFill>
              </a:rPr>
              <a:t>	Exemple 2: les tours de Hanoï</a:t>
            </a:r>
          </a:p>
          <a:p>
            <a:pPr algn="just"/>
            <a:r>
              <a:rPr lang="fr-FR" dirty="0"/>
              <a:t>Le jeu est constitué d’une plaquette de bois où sont plantées trois tiges numérotées 1, 2 et 3. Sur ces tiges sont empilés des disques de diamètres tous différents. Les seules règles du jeu sont que </a:t>
            </a:r>
          </a:p>
          <a:p>
            <a:pPr algn="just"/>
            <a:endParaRPr lang="fr-FR" dirty="0"/>
          </a:p>
          <a:p>
            <a:pPr lvl="0" algn="just"/>
            <a:r>
              <a:rPr lang="fr-FR" dirty="0"/>
              <a:t>l’on ne peut déplacer qu’un seul disque à la fois, </a:t>
            </a:r>
          </a:p>
          <a:p>
            <a:pPr lvl="0" algn="just"/>
            <a:endParaRPr lang="fr-FR" dirty="0"/>
          </a:p>
          <a:p>
            <a:pPr lvl="0" algn="just"/>
            <a:r>
              <a:rPr lang="fr-FR" dirty="0"/>
              <a:t>et qu’il est interdit de poser un disque sur un disque plus petit.</a:t>
            </a:r>
          </a:p>
          <a:p>
            <a:pPr lvl="0" algn="just"/>
            <a:endParaRPr lang="fr-FR" dirty="0"/>
          </a:p>
          <a:p>
            <a:pPr algn="just"/>
            <a:r>
              <a:rPr lang="fr-FR" dirty="0"/>
              <a:t>Au début, tous les disques sont sur la tige 1 (celle de gauche), et à la fin ils doivent être sur celle de droite.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13</a:t>
            </a:fld>
            <a:endParaRPr lang="fr-FR"/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436100" y="2578100"/>
            <a:ext cx="1892300" cy="2881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i="1" dirty="0">
                <a:solidFill>
                  <a:srgbClr val="C00000"/>
                </a:solidFill>
              </a:rPr>
              <a:t>3. Récursivité simple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>
                <a:solidFill>
                  <a:srgbClr val="0070C0"/>
                </a:solidFill>
              </a:rPr>
              <a:t>Exemple 2: les tours de Hanoï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14</a:t>
            </a:fld>
            <a:endParaRPr lang="fr-FR"/>
          </a:p>
        </p:txBody>
      </p:sp>
      <p:pic>
        <p:nvPicPr>
          <p:cNvPr id="125954" name="Picture 2" descr="Image utilisateur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32640" y="2561167"/>
            <a:ext cx="6361513" cy="24849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i="1" dirty="0">
                <a:solidFill>
                  <a:srgbClr val="C00000"/>
                </a:solidFill>
              </a:rPr>
              <a:t>3. Récursivité simple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7526867" cy="440584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b="1" dirty="0"/>
              <a:t>	</a:t>
            </a:r>
            <a:r>
              <a:rPr lang="fr-FR" b="1" dirty="0">
                <a:solidFill>
                  <a:schemeClr val="accent6"/>
                </a:solidFill>
              </a:rPr>
              <a:t>Résolution</a:t>
            </a:r>
          </a:p>
          <a:p>
            <a:pPr>
              <a:buNone/>
            </a:pPr>
            <a:endParaRPr lang="fr-FR" b="1" dirty="0">
              <a:solidFill>
                <a:srgbClr val="0070C0"/>
              </a:solidFill>
            </a:endParaRPr>
          </a:p>
          <a:p>
            <a:r>
              <a:rPr lang="fr-FR" b="1" dirty="0"/>
              <a:t>Principe </a:t>
            </a:r>
            <a:endParaRPr lang="fr-FR" dirty="0"/>
          </a:p>
          <a:p>
            <a:pPr lvl="1"/>
            <a:r>
              <a:rPr lang="fr-FR" dirty="0"/>
              <a:t>On suppose que l’on sait résoudre le problème pour (</a:t>
            </a:r>
            <a:r>
              <a:rPr lang="fr-FR" i="1" dirty="0"/>
              <a:t>n</a:t>
            </a:r>
            <a:r>
              <a:rPr lang="fr-FR" dirty="0"/>
              <a:t>-1) disques. </a:t>
            </a:r>
          </a:p>
          <a:p>
            <a:pPr lvl="1"/>
            <a:r>
              <a:rPr lang="fr-FR" dirty="0"/>
              <a:t>Pour déplacer </a:t>
            </a:r>
            <a:r>
              <a:rPr lang="fr-FR" i="1" dirty="0"/>
              <a:t>n </a:t>
            </a:r>
            <a:r>
              <a:rPr lang="fr-FR" dirty="0"/>
              <a:t>disques de la tige 1 vers la tige 3, on déplace les (</a:t>
            </a:r>
            <a:r>
              <a:rPr lang="fr-FR" i="1" dirty="0"/>
              <a:t>n</a:t>
            </a:r>
            <a:r>
              <a:rPr lang="fr-FR" dirty="0"/>
              <a:t>-1) plus petits disques de la tige 1 vers la tige 2, </a:t>
            </a:r>
          </a:p>
          <a:p>
            <a:pPr lvl="1"/>
            <a:r>
              <a:rPr lang="fr-FR" dirty="0"/>
              <a:t>puis on déplace le plus gros disque de la tige 1 vers la tige 3, </a:t>
            </a:r>
          </a:p>
          <a:p>
            <a:pPr lvl="1"/>
            <a:r>
              <a:rPr lang="fr-FR" dirty="0"/>
              <a:t>puis on déplace les (</a:t>
            </a:r>
            <a:r>
              <a:rPr lang="fr-FR" i="1" dirty="0"/>
              <a:t>n</a:t>
            </a:r>
            <a:r>
              <a:rPr lang="fr-FR" dirty="0"/>
              <a:t>-1) plus petits disques de la tige 2 vers la tige 3.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001000" y="6187016"/>
            <a:ext cx="2743200" cy="365125"/>
          </a:xfrm>
        </p:spPr>
        <p:txBody>
          <a:bodyPr/>
          <a:lstStyle/>
          <a:p>
            <a:fld id="{194EA0E9-6AA5-4C72-ADD8-CBD3FCBC5038}" type="slidenum">
              <a:rPr lang="fr-FR" smtClean="0"/>
              <a:pPr/>
              <a:t>15</a:t>
            </a:fld>
            <a:endParaRPr lang="fr-FR"/>
          </a:p>
        </p:txBody>
      </p:sp>
      <p:pic>
        <p:nvPicPr>
          <p:cNvPr id="6144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0767" y="2662767"/>
            <a:ext cx="1892300" cy="2881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i="1" dirty="0">
                <a:solidFill>
                  <a:srgbClr val="C00000"/>
                </a:solidFill>
              </a:rPr>
              <a:t>3. Récursivité simple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75175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fr-FR" b="1" dirty="0"/>
              <a:t>	</a:t>
            </a:r>
            <a:r>
              <a:rPr lang="fr-FR" b="1" dirty="0">
                <a:solidFill>
                  <a:schemeClr val="accent6"/>
                </a:solidFill>
              </a:rPr>
              <a:t>Validité </a:t>
            </a:r>
            <a:endParaRPr lang="fr-FR" dirty="0">
              <a:solidFill>
                <a:schemeClr val="accent6"/>
              </a:solidFill>
            </a:endParaRPr>
          </a:p>
          <a:p>
            <a:pPr algn="just"/>
            <a:r>
              <a:rPr lang="fr-FR" dirty="0"/>
              <a:t>il n’y a pas de viol des règles possible puisque le plus gros disque est toujours en « bas » d’une tige et que l’hypothèse (de récurrence) nous assure que nous savons déplacer le « bloc » de (</a:t>
            </a:r>
            <a:r>
              <a:rPr lang="fr-FR" i="1" dirty="0"/>
              <a:t>n</a:t>
            </a:r>
            <a:r>
              <a:rPr lang="fr-FR" dirty="0"/>
              <a:t>-1) disques en respectant les règles.</a:t>
            </a:r>
          </a:p>
          <a:p>
            <a:endParaRPr lang="fr-FR" dirty="0"/>
          </a:p>
          <a:p>
            <a:pPr lvl="2">
              <a:buNone/>
            </a:pPr>
            <a:r>
              <a:rPr lang="fr-FR" b="1" dirty="0"/>
              <a:t>Algorithme</a:t>
            </a:r>
          </a:p>
          <a:p>
            <a:pPr lvl="2">
              <a:buNone/>
            </a:pPr>
            <a:r>
              <a:rPr lang="fr-FR" dirty="0"/>
              <a:t>Hanoi (</a:t>
            </a:r>
            <a:r>
              <a:rPr lang="fr-FR" i="1" dirty="0"/>
              <a:t>n</a:t>
            </a:r>
            <a:r>
              <a:rPr lang="fr-FR" dirty="0"/>
              <a:t>, départ, intermédiaire, destination)</a:t>
            </a:r>
          </a:p>
          <a:p>
            <a:pPr lvl="2">
              <a:buNone/>
            </a:pPr>
            <a:r>
              <a:rPr lang="fr-FR" b="1" dirty="0"/>
              <a:t>	If </a:t>
            </a:r>
            <a:r>
              <a:rPr lang="fr-FR" i="1" dirty="0"/>
              <a:t>n </a:t>
            </a:r>
            <a:r>
              <a:rPr lang="fr-FR" dirty="0"/>
              <a:t>&gt; 0 </a:t>
            </a:r>
            <a:r>
              <a:rPr lang="fr-FR" b="1" dirty="0" err="1"/>
              <a:t>Then</a:t>
            </a:r>
            <a:r>
              <a:rPr lang="fr-FR" b="1" dirty="0"/>
              <a:t> </a:t>
            </a:r>
            <a:endParaRPr lang="fr-FR" dirty="0"/>
          </a:p>
          <a:p>
            <a:pPr lvl="2">
              <a:buNone/>
            </a:pPr>
            <a:r>
              <a:rPr lang="fr-FR" dirty="0"/>
              <a:t>		Hanoi (</a:t>
            </a:r>
            <a:r>
              <a:rPr lang="fr-FR" i="1" dirty="0"/>
              <a:t>n</a:t>
            </a:r>
            <a:r>
              <a:rPr lang="fr-FR" dirty="0"/>
              <a:t>-1, départ, destination, intermédiaire)</a:t>
            </a:r>
          </a:p>
          <a:p>
            <a:pPr lvl="2">
              <a:buNone/>
            </a:pPr>
            <a:r>
              <a:rPr lang="fr-FR" dirty="0"/>
              <a:t>		déplacer un disque de départ vers destination</a:t>
            </a:r>
          </a:p>
          <a:p>
            <a:pPr lvl="2">
              <a:buNone/>
            </a:pPr>
            <a:r>
              <a:rPr lang="fr-FR" dirty="0"/>
              <a:t>		Hanoi (</a:t>
            </a:r>
            <a:r>
              <a:rPr lang="fr-FR" i="1" dirty="0"/>
              <a:t>n</a:t>
            </a:r>
            <a:r>
              <a:rPr lang="fr-FR" dirty="0"/>
              <a:t>-1, intermédiaire, départ, destination)</a:t>
            </a:r>
          </a:p>
          <a:p>
            <a:pPr lvl="2">
              <a:buNone/>
            </a:pPr>
            <a:r>
              <a:rPr lang="fr-FR" b="1" dirty="0"/>
              <a:t>	</a:t>
            </a:r>
            <a:r>
              <a:rPr lang="fr-FR" b="1" dirty="0" err="1"/>
              <a:t>Endif</a:t>
            </a:r>
            <a:endParaRPr lang="fr-FR" dirty="0"/>
          </a:p>
          <a:p>
            <a:pPr lvl="2">
              <a:buNone/>
            </a:pPr>
            <a:r>
              <a:rPr lang="fr-FR" b="1" dirty="0" err="1"/>
              <a:t>End_Hanoi</a:t>
            </a:r>
            <a:endParaRPr lang="fr-FR" dirty="0"/>
          </a:p>
          <a:p>
            <a:pPr lvl="2">
              <a:buNone/>
            </a:pPr>
            <a:r>
              <a:rPr lang="fr-FR" b="1" dirty="0"/>
              <a:t> 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16</a:t>
            </a:fld>
            <a:endParaRPr lang="fr-F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i="1" dirty="0">
                <a:solidFill>
                  <a:srgbClr val="C00000"/>
                </a:solidFill>
              </a:rPr>
              <a:t>3. Récursivité simple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dirty="0"/>
              <a:t>L’appel à Hanoi(3,1,2,3) entraîne l’affichage de :</a:t>
            </a:r>
          </a:p>
          <a:p>
            <a:endParaRPr lang="fr-FR" dirty="0"/>
          </a:p>
          <a:p>
            <a:pPr lvl="1">
              <a:buNone/>
            </a:pPr>
            <a:r>
              <a:rPr lang="fr-FR" dirty="0"/>
              <a:t>1. Déplace un disque de la tige 1 vers la tige 3</a:t>
            </a:r>
          </a:p>
          <a:p>
            <a:pPr lvl="1">
              <a:buNone/>
            </a:pPr>
            <a:r>
              <a:rPr lang="fr-FR" dirty="0"/>
              <a:t>2. Déplace un disque de la tige 1 vers la tige 2</a:t>
            </a:r>
          </a:p>
          <a:p>
            <a:pPr lvl="1">
              <a:buNone/>
            </a:pPr>
            <a:r>
              <a:rPr lang="fr-FR" dirty="0"/>
              <a:t>3. Déplace un disque de la tige 3 vers la tige 2</a:t>
            </a:r>
          </a:p>
          <a:p>
            <a:pPr lvl="1">
              <a:buNone/>
            </a:pPr>
            <a:r>
              <a:rPr lang="fr-FR" dirty="0"/>
              <a:t>4. Déplace un disque de la tige 1 vers la tige 3</a:t>
            </a:r>
          </a:p>
          <a:p>
            <a:pPr lvl="1">
              <a:buNone/>
            </a:pPr>
            <a:r>
              <a:rPr lang="fr-FR" dirty="0"/>
              <a:t>5. Déplace un disque de la tige 2 vers la tige 1</a:t>
            </a:r>
          </a:p>
          <a:p>
            <a:pPr lvl="1">
              <a:buNone/>
            </a:pPr>
            <a:r>
              <a:rPr lang="fr-FR" dirty="0"/>
              <a:t>6. Déplace un disque de la tige 2 vers la tige 3</a:t>
            </a:r>
          </a:p>
          <a:p>
            <a:pPr lvl="1">
              <a:buNone/>
            </a:pPr>
            <a:r>
              <a:rPr lang="fr-FR" dirty="0"/>
              <a:t>7. Déplace un disque de la tige 1 vers la tige 3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731B91A3-1181-45F7-9C0A-B3624133FE2D}"/>
              </a:ext>
            </a:extLst>
          </p:cNvPr>
          <p:cNvSpPr/>
          <p:nvPr/>
        </p:nvSpPr>
        <p:spPr>
          <a:xfrm>
            <a:off x="1202266" y="2788920"/>
            <a:ext cx="6311054" cy="118872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67BCD1E5-EF8E-4093-8E9B-31B77F9DCEBC}"/>
              </a:ext>
            </a:extLst>
          </p:cNvPr>
          <p:cNvSpPr/>
          <p:nvPr/>
        </p:nvSpPr>
        <p:spPr>
          <a:xfrm>
            <a:off x="1202266" y="4406741"/>
            <a:ext cx="6311054" cy="118872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coins arrondis 8">
            <a:extLst>
              <a:ext uri="{FF2B5EF4-FFF2-40B4-BE49-F238E27FC236}">
                <a16:creationId xmlns="" xmlns:a16="http://schemas.microsoft.com/office/drawing/2014/main" id="{FFE48393-356B-4ECC-BD19-E816C83E2F38}"/>
              </a:ext>
            </a:extLst>
          </p:cNvPr>
          <p:cNvSpPr/>
          <p:nvPr/>
        </p:nvSpPr>
        <p:spPr>
          <a:xfrm>
            <a:off x="7696200" y="3246120"/>
            <a:ext cx="1767840" cy="36576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Hanoi(2,1,3,2) 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="" xmlns:a16="http://schemas.microsoft.com/office/drawing/2014/main" id="{FEB7C786-A395-49D3-97B2-E2DB453F0E25}"/>
              </a:ext>
            </a:extLst>
          </p:cNvPr>
          <p:cNvSpPr/>
          <p:nvPr/>
        </p:nvSpPr>
        <p:spPr>
          <a:xfrm>
            <a:off x="7696200" y="4849495"/>
            <a:ext cx="1767840" cy="36576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Hanoi(2,2,1,3)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i="1" dirty="0">
                <a:solidFill>
                  <a:srgbClr val="C00000"/>
                </a:solidFill>
              </a:rPr>
              <a:t>3. Récursivité simple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400" b="1" dirty="0">
                <a:solidFill>
                  <a:schemeClr val="accent6"/>
                </a:solidFill>
              </a:rPr>
              <a:t>Complexité</a:t>
            </a:r>
          </a:p>
          <a:p>
            <a:pPr algn="just"/>
            <a:r>
              <a:rPr lang="fr-FR" dirty="0"/>
              <a:t>On compte le nombre de déplacements de disques effectués par l’algorithme Hanoi  invoqué sur </a:t>
            </a:r>
            <a:r>
              <a:rPr lang="fr-FR" i="1" dirty="0"/>
              <a:t>n </a:t>
            </a:r>
            <a:r>
              <a:rPr lang="fr-FR" dirty="0"/>
              <a:t>disques.</a:t>
            </a:r>
          </a:p>
          <a:p>
            <a:endParaRPr lang="fr-FR" dirty="0"/>
          </a:p>
          <a:p>
            <a:pPr lvl="3"/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18</a:t>
            </a:fld>
            <a:endParaRPr lang="fr-FR" dirty="0"/>
          </a:p>
        </p:txBody>
      </p:sp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609" name="Object 1"/>
              <p:cNvSpPr txBox="1"/>
              <p:nvPr/>
            </p:nvSpPr>
            <p:spPr bwMode="auto">
              <a:xfrm>
                <a:off x="3779783" y="3718244"/>
                <a:ext cx="4996497" cy="2064702"/>
              </a:xfrm>
              <a:prstGeom prst="rect">
                <a:avLst/>
              </a:prstGeom>
              <a:solidFill>
                <a:srgbClr val="FFCC99"/>
              </a:solidFill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fr-F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fr-F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d>
                                  <m:dPr>
                                    <m:ctrlPr>
                                      <a:rPr lang="fr-FR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fr-FR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fr-F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+1+</m:t>
                                </m:r>
                                <m:r>
                                  <a:rPr lang="fr-F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d>
                                  <m:dPr>
                                    <m:ctrlPr>
                                      <a:rPr lang="fr-FR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fr-FR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fr-F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𝑠𝑖</m:t>
                            </m:r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  <m:e>
                                  <m: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mr>
                            </m:m>
                          </m:e>
                        </m:mr>
                        <m:mr>
                          <m:e>
                            <m:func>
                              <m:funcPr>
                                <m:ctrlPr>
                                  <a:rPr lang="fr-F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</m:func>
                            <m:r>
                              <a:rPr lang="fr-F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mr>
                      </m:m>
                    </m:oMath>
                  </m:oMathPara>
                </a14:m>
                <a:endParaRPr lang="fr-FR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fr-FR" dirty="0">
                  <a:solidFill>
                    <a:srgbClr val="000000"/>
                  </a:solidFill>
                </a:endParaRPr>
              </a:p>
              <a:p>
                <a:endParaRPr lang="fr-FR" dirty="0">
                  <a:solidFill>
                    <a:srgbClr val="0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fr-F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fr-F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1+2</m:t>
                                </m:r>
                                <m:r>
                                  <a:rPr lang="fr-F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fr-F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F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</m:mr>
                          </m:m>
                        </m:e>
                      </m:d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fr-F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𝑠𝑖</m:t>
                            </m:r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  <m:e>
                                  <m: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mr>
                            </m:m>
                          </m:e>
                        </m:mr>
                        <m:mr>
                          <m:e>
                            <m:func>
                              <m:funcPr>
                                <m:ctrlPr>
                                  <a:rPr lang="fr-F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</m:func>
                            <m:r>
                              <a:rPr lang="fr-F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mr>
                      </m:m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8609" name="Objec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79783" y="3718244"/>
                <a:ext cx="4996497" cy="20647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612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68614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B869C9B4-5BEA-4414-8DF0-16758331EF38}"/>
              </a:ext>
            </a:extLst>
          </p:cNvPr>
          <p:cNvSpPr/>
          <p:nvPr/>
        </p:nvSpPr>
        <p:spPr>
          <a:xfrm>
            <a:off x="3779783" y="4831080"/>
            <a:ext cx="4996497" cy="95186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26065" y="365125"/>
            <a:ext cx="10515600" cy="1325563"/>
          </a:xfrm>
        </p:spPr>
        <p:txBody>
          <a:bodyPr/>
          <a:lstStyle/>
          <a:p>
            <a:r>
              <a:rPr lang="fr-FR" b="1" i="1" dirty="0">
                <a:solidFill>
                  <a:srgbClr val="C00000"/>
                </a:solidFill>
              </a:rPr>
              <a:t>4. Récursivité multiple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r>
              <a:rPr lang="fr-FR" sz="2700" dirty="0"/>
              <a:t>Une définition récursive peut contenir </a:t>
            </a:r>
            <a:r>
              <a:rPr lang="fr-FR" sz="2700" b="1" dirty="0"/>
              <a:t>plus</a:t>
            </a:r>
            <a:r>
              <a:rPr lang="fr-FR" sz="2700" dirty="0"/>
              <a:t> d’un appel récursif. </a:t>
            </a:r>
          </a:p>
          <a:p>
            <a:r>
              <a:rPr lang="fr-FR" sz="2600" b="1" dirty="0">
                <a:solidFill>
                  <a:srgbClr val="0070C0"/>
                </a:solidFill>
              </a:rPr>
              <a:t>Exemple 1 : Suite de Fibonacci</a:t>
            </a:r>
          </a:p>
          <a:p>
            <a:pPr>
              <a:buNone/>
            </a:pPr>
            <a:endParaRPr lang="fr-FR" sz="2200" b="1" dirty="0">
              <a:solidFill>
                <a:srgbClr val="0070C0"/>
              </a:solidFill>
            </a:endParaRPr>
          </a:p>
          <a:p>
            <a:pPr>
              <a:buNone/>
            </a:pPr>
            <a:endParaRPr lang="fr-FR" sz="2200" b="1" dirty="0">
              <a:solidFill>
                <a:srgbClr val="0070C0"/>
              </a:solidFill>
            </a:endParaRPr>
          </a:p>
          <a:p>
            <a:pPr>
              <a:buNone/>
            </a:pPr>
            <a:endParaRPr lang="fr-FR" sz="2200" b="1" dirty="0">
              <a:solidFill>
                <a:srgbClr val="0070C0"/>
              </a:solidFill>
            </a:endParaRPr>
          </a:p>
          <a:p>
            <a:r>
              <a:rPr lang="fr-FR" dirty="0"/>
              <a:t>L’algorithme correspondant s’écrit : </a:t>
            </a:r>
          </a:p>
          <a:p>
            <a:pPr lvl="2">
              <a:buNone/>
            </a:pPr>
            <a:endParaRPr lang="fr-FR" dirty="0"/>
          </a:p>
          <a:p>
            <a:pPr lvl="2">
              <a:buNone/>
            </a:pPr>
            <a:r>
              <a:rPr lang="fr-FR" dirty="0" err="1"/>
              <a:t>int</a:t>
            </a:r>
            <a:r>
              <a:rPr lang="fr-FR" dirty="0"/>
              <a:t> Fibonacci ( n)</a:t>
            </a:r>
          </a:p>
          <a:p>
            <a:pPr lvl="2">
              <a:buNone/>
            </a:pPr>
            <a:r>
              <a:rPr lang="fr-FR" dirty="0"/>
              <a:t>{</a:t>
            </a:r>
          </a:p>
          <a:p>
            <a:pPr lvl="2">
              <a:buNone/>
            </a:pPr>
            <a:r>
              <a:rPr lang="en-GB" dirty="0"/>
              <a:t>	if ( n==0  || n ==1 )</a:t>
            </a:r>
            <a:endParaRPr lang="fr-FR" dirty="0"/>
          </a:p>
          <a:p>
            <a:pPr lvl="2">
              <a:buNone/>
            </a:pPr>
            <a:r>
              <a:rPr lang="en-GB" dirty="0"/>
              <a:t>		return 1;</a:t>
            </a:r>
            <a:endParaRPr lang="fr-FR" dirty="0"/>
          </a:p>
          <a:p>
            <a:pPr lvl="2">
              <a:buNone/>
            </a:pPr>
            <a:r>
              <a:rPr lang="en-GB" dirty="0"/>
              <a:t>	else</a:t>
            </a:r>
            <a:endParaRPr lang="fr-FR" dirty="0"/>
          </a:p>
          <a:p>
            <a:pPr lvl="2">
              <a:buNone/>
            </a:pPr>
            <a:r>
              <a:rPr lang="en-GB" dirty="0"/>
              <a:t>		return (Fibonacci (n-2) + Fibonacci (n-1) ) ;</a:t>
            </a:r>
            <a:endParaRPr lang="fr-FR" dirty="0"/>
          </a:p>
          <a:p>
            <a:pPr lvl="2">
              <a:buNone/>
            </a:pPr>
            <a:r>
              <a:rPr lang="fr-FR" dirty="0"/>
              <a:t>}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19</a:t>
            </a:fld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">
                <a:extLst>
                  <a:ext uri="{FF2B5EF4-FFF2-40B4-BE49-F238E27FC236}">
                    <a16:creationId xmlns="" xmlns:a16="http://schemas.microsoft.com/office/drawing/2014/main" id="{FD82BAC2-5724-4568-A877-7FAB00FD1450}"/>
                  </a:ext>
                </a:extLst>
              </p:cNvPr>
              <p:cNvSpPr txBox="1"/>
              <p:nvPr/>
            </p:nvSpPr>
            <p:spPr bwMode="auto">
              <a:xfrm>
                <a:off x="3581400" y="2606041"/>
                <a:ext cx="6050280" cy="822959"/>
              </a:xfrm>
              <a:prstGeom prst="rect">
                <a:avLst/>
              </a:prstGeom>
              <a:solidFill>
                <a:srgbClr val="CCFFCC"/>
              </a:solidFill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𝑓𝑖𝑏𝑜</m:t>
                      </m:r>
                      <m:r>
                        <a:rPr lang="fr-F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fr-F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fr-F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𝑓𝑖𝑏𝑜</m:t>
                                </m:r>
                                <m:d>
                                  <m:dPr>
                                    <m:ctrlPr>
                                      <a:rPr lang="fr-FR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fr-FR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fr-F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𝑓𝑖𝑏𝑜</m:t>
                                </m:r>
                                <m:r>
                                  <a:rPr lang="fr-F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F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−2) </m:t>
                                </m:r>
                              </m:e>
                            </m:mr>
                          </m:m>
                        </m:e>
                      </m:d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fr-F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𝑠𝑖</m:t>
                            </m:r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  <m:e>
                                  <m: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=0 </m:t>
                                  </m:r>
                                  <m:r>
                                    <a:rPr lang="fr-FR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𝑜𝑢</m:t>
                                  </m:r>
                                  <m:r>
                                    <a:rPr lang="fr-FR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fr-FR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mr>
                            </m:m>
                          </m:e>
                        </m:mr>
                        <m:mr>
                          <m:e>
                            <m:r>
                              <a:rPr lang="fr-F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𝑠𝑖</m:t>
                            </m:r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  <m:e>
                                  <m: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≥2</m:t>
                                  </m:r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Object 1">
                <a:extLst>
                  <a:ext uri="{FF2B5EF4-FFF2-40B4-BE49-F238E27FC236}">
                    <a16:creationId xmlns:a16="http://schemas.microsoft.com/office/drawing/2014/main" id="{FD82BAC2-5724-4568-A877-7FAB00FD1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81400" y="2606041"/>
                <a:ext cx="6050280" cy="8229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CC6D4837-6011-4A3F-82A5-94AB5471B466}"/>
              </a:ext>
            </a:extLst>
          </p:cNvPr>
          <p:cNvSpPr/>
          <p:nvPr/>
        </p:nvSpPr>
        <p:spPr>
          <a:xfrm>
            <a:off x="7064373" y="5320189"/>
            <a:ext cx="4937760" cy="6248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600" i="1" dirty="0">
                <a:latin typeface="Arial" panose="020B0604020202020204" pitchFamily="34" charset="0"/>
                <a:cs typeface="Arial" panose="020B0604020202020204" pitchFamily="34" charset="0"/>
              </a:rPr>
              <a:t>C(n)=C(n-1)+C(n-2</a:t>
            </a:r>
            <a:r>
              <a:rPr lang="fr-FR" sz="3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)+1</a:t>
            </a:r>
            <a:endParaRPr lang="fr-FR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="" xmlns:a16="http://schemas.microsoft.com/office/drawing/2014/main" id="{456395D9-5279-4150-9BF1-50C67C62B4D7}"/>
              </a:ext>
            </a:extLst>
          </p:cNvPr>
          <p:cNvSpPr txBox="1"/>
          <p:nvPr/>
        </p:nvSpPr>
        <p:spPr>
          <a:xfrm>
            <a:off x="7064373" y="4072592"/>
            <a:ext cx="4937760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dirty="0"/>
              <a:t>L’opération de base est l’addition </a:t>
            </a:r>
          </a:p>
          <a:p>
            <a:r>
              <a:rPr lang="fr-FR" sz="2000" dirty="0"/>
              <a:t>-&gt; la complexité est calculée par le nombre d’additions: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73480" y="365125"/>
            <a:ext cx="10180320" cy="1325563"/>
          </a:xfrm>
        </p:spPr>
        <p:txBody>
          <a:bodyPr/>
          <a:lstStyle/>
          <a:p>
            <a:r>
              <a:rPr lang="fr-FR" i="1" dirty="0">
                <a:solidFill>
                  <a:srgbClr val="C00000"/>
                </a:solidFill>
              </a:rPr>
              <a:t>5</a:t>
            </a:r>
            <a:r>
              <a:rPr lang="fr-FR" b="1" i="1" dirty="0">
                <a:solidFill>
                  <a:srgbClr val="C00000"/>
                </a:solidFill>
              </a:rPr>
              <a:t>. Récursivité mutuelle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	</a:t>
            </a:r>
          </a:p>
          <a:p>
            <a:pPr>
              <a:buNone/>
            </a:pPr>
            <a:r>
              <a:rPr lang="fr-FR" sz="2400" dirty="0"/>
              <a:t>	Des définitions sont dites </a:t>
            </a:r>
            <a:r>
              <a:rPr lang="fr-FR" sz="2400" i="1" dirty="0"/>
              <a:t>mutuellement récursives </a:t>
            </a:r>
            <a:r>
              <a:rPr lang="fr-FR" sz="2400" dirty="0"/>
              <a:t>si elles dépendent les unes des autres. Ça peut être le cas pour la définition de la parité :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dirty="0"/>
              <a:t>					et</a:t>
            </a:r>
          </a:p>
          <a:p>
            <a:pPr>
              <a:buNone/>
            </a:pPr>
            <a:r>
              <a:rPr lang="fr-FR" sz="2400" dirty="0"/>
              <a:t>Les algorithmes correspondants s’écrivent :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endParaRPr lang="fr-FR" sz="2100" b="1" i="1" dirty="0">
              <a:solidFill>
                <a:srgbClr val="C00000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55297" name="Object 1"/>
          <p:cNvGraphicFramePr>
            <a:graphicFrameLocks noChangeAspect="1"/>
          </p:cNvGraphicFramePr>
          <p:nvPr/>
        </p:nvGraphicFramePr>
        <p:xfrm>
          <a:off x="1405467" y="3268133"/>
          <a:ext cx="27908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70" name="Equation" r:id="rId3" imgW="2235200" imgH="457200" progId="Equation.DSMT4">
                  <p:embed/>
                </p:oleObj>
              </mc:Choice>
              <mc:Fallback>
                <p:oleObj name="Equation" r:id="rId3" imgW="2235200" imgH="4572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5467" y="3268133"/>
                        <a:ext cx="2790825" cy="56197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55299" name="Object 3"/>
          <p:cNvGraphicFramePr>
            <a:graphicFrameLocks noChangeAspect="1"/>
          </p:cNvGraphicFramePr>
          <p:nvPr/>
        </p:nvGraphicFramePr>
        <p:xfrm>
          <a:off x="5537200" y="3352800"/>
          <a:ext cx="27146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71" name="Equation" r:id="rId5" imgW="2209800" imgH="457200" progId="Equation.DSMT4">
                  <p:embed/>
                </p:oleObj>
              </mc:Choice>
              <mc:Fallback>
                <p:oleObj name="Equation" r:id="rId5" imgW="2209800" imgH="457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3352800"/>
                        <a:ext cx="2714625" cy="56197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Tableau 9"/>
          <p:cNvGraphicFramePr>
            <a:graphicFrameLocks noGrp="1"/>
          </p:cNvGraphicFramePr>
          <p:nvPr/>
        </p:nvGraphicFramePr>
        <p:xfrm>
          <a:off x="1936115" y="4573692"/>
          <a:ext cx="7698952" cy="1493520"/>
        </p:xfrm>
        <a:graphic>
          <a:graphicData uri="http://schemas.openxmlformats.org/drawingml/2006/table">
            <a:tbl>
              <a:tblPr/>
              <a:tblGrid>
                <a:gridCol w="384947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84947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highlight>
                            <a:srgbClr val="00FFFF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Pair</a:t>
                      </a:r>
                      <a:r>
                        <a:rPr lang="en-GB" sz="800" dirty="0">
                          <a:highlight>
                            <a:srgbClr val="00FFFF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GB" sz="1400" dirty="0">
                          <a:highlight>
                            <a:srgbClr val="00FFFF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GB" sz="1400" i="1" dirty="0">
                          <a:highlight>
                            <a:srgbClr val="00FFFF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en-GB" sz="1400" dirty="0">
                          <a:highlight>
                            <a:srgbClr val="00FFFF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)</a:t>
                      </a:r>
                      <a:endParaRPr lang="fr-FR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ea typeface="Times New Roman"/>
                          <a:cs typeface="Times New Roman"/>
                        </a:rPr>
                        <a:t>Begin</a:t>
                      </a:r>
                      <a:endParaRPr lang="fr-FR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ea typeface="Times New Roman"/>
                          <a:cs typeface="Times New Roman"/>
                        </a:rPr>
                        <a:t>	If ( </a:t>
                      </a:r>
                      <a:r>
                        <a:rPr lang="en-GB" sz="1400" i="1" dirty="0">
                          <a:latin typeface="Arial"/>
                          <a:ea typeface="Times New Roman"/>
                          <a:cs typeface="Times New Roman"/>
                        </a:rPr>
                        <a:t>n </a:t>
                      </a:r>
                      <a:r>
                        <a:rPr lang="en-GB" sz="1400" dirty="0">
                          <a:latin typeface="CMR10"/>
                          <a:ea typeface="Times New Roman"/>
                          <a:cs typeface="CMR10"/>
                        </a:rPr>
                        <a:t>= </a:t>
                      </a:r>
                      <a:r>
                        <a:rPr lang="en-GB" sz="1400" dirty="0">
                          <a:latin typeface="Arial"/>
                          <a:ea typeface="Times New Roman"/>
                          <a:cs typeface="Times New Roman"/>
                        </a:rPr>
                        <a:t>0 ) Then </a:t>
                      </a:r>
                      <a:endParaRPr lang="fr-FR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ea typeface="Times New Roman"/>
                          <a:cs typeface="Times New Roman"/>
                        </a:rPr>
                        <a:t>		return (</a:t>
                      </a:r>
                      <a:r>
                        <a:rPr lang="en-GB" sz="1400" dirty="0" err="1">
                          <a:latin typeface="Arial"/>
                          <a:ea typeface="Times New Roman"/>
                          <a:cs typeface="Times New Roman"/>
                        </a:rPr>
                        <a:t>vrai</a:t>
                      </a:r>
                      <a:r>
                        <a:rPr lang="en-GB" sz="1400" dirty="0">
                          <a:latin typeface="Arial"/>
                          <a:ea typeface="Times New Roman"/>
                          <a:cs typeface="Times New Roman"/>
                        </a:rPr>
                        <a:t>)</a:t>
                      </a:r>
                      <a:endParaRPr lang="fr-FR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ea typeface="Times New Roman"/>
                          <a:cs typeface="Times New Roman"/>
                        </a:rPr>
                        <a:t>		Else </a:t>
                      </a:r>
                      <a:endParaRPr lang="fr-FR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ea typeface="Times New Roman"/>
                          <a:cs typeface="Times New Roman"/>
                        </a:rPr>
                        <a:t>		return (</a:t>
                      </a:r>
                      <a:r>
                        <a:rPr lang="en-GB" sz="1400" dirty="0">
                          <a:highlight>
                            <a:srgbClr val="FFFF00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impair(n-1)</a:t>
                      </a:r>
                      <a:r>
                        <a:rPr lang="en-GB" sz="1400" dirty="0">
                          <a:latin typeface="Arial"/>
                          <a:ea typeface="Times New Roman"/>
                          <a:cs typeface="Times New Roman"/>
                        </a:rPr>
                        <a:t> )</a:t>
                      </a:r>
                      <a:endParaRPr lang="fr-FR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ea typeface="Times New Roman"/>
                          <a:cs typeface="Times New Roman"/>
                        </a:rPr>
                        <a:t>End</a:t>
                      </a:r>
                      <a:endParaRPr lang="fr-FR" sz="1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highlight>
                            <a:srgbClr val="FFFF00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Impair</a:t>
                      </a:r>
                      <a:r>
                        <a:rPr lang="en-GB" sz="800" dirty="0">
                          <a:highlight>
                            <a:srgbClr val="FFFF00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GB" sz="1400" dirty="0">
                          <a:highlight>
                            <a:srgbClr val="FFFF00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GB" sz="1400" i="1" dirty="0">
                          <a:highlight>
                            <a:srgbClr val="FFFF00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en-GB" sz="1400" dirty="0">
                          <a:highlight>
                            <a:srgbClr val="FFFF00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)</a:t>
                      </a:r>
                      <a:endParaRPr lang="fr-FR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ea typeface="Times New Roman"/>
                          <a:cs typeface="Times New Roman"/>
                        </a:rPr>
                        <a:t>Begin</a:t>
                      </a:r>
                      <a:endParaRPr lang="fr-FR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ea typeface="Times New Roman"/>
                          <a:cs typeface="Times New Roman"/>
                        </a:rPr>
                        <a:t>	If ( </a:t>
                      </a:r>
                      <a:r>
                        <a:rPr lang="en-GB" sz="1400" i="1" dirty="0">
                          <a:latin typeface="Arial"/>
                          <a:ea typeface="Times New Roman"/>
                          <a:cs typeface="Times New Roman"/>
                        </a:rPr>
                        <a:t>n </a:t>
                      </a:r>
                      <a:r>
                        <a:rPr lang="en-GB" sz="1400" dirty="0">
                          <a:latin typeface="CMR10"/>
                          <a:ea typeface="Times New Roman"/>
                          <a:cs typeface="CMR10"/>
                        </a:rPr>
                        <a:t>= </a:t>
                      </a:r>
                      <a:r>
                        <a:rPr lang="en-GB" sz="1400" dirty="0">
                          <a:latin typeface="Arial"/>
                          <a:ea typeface="Times New Roman"/>
                          <a:cs typeface="Times New Roman"/>
                        </a:rPr>
                        <a:t>0 ) Then  </a:t>
                      </a:r>
                      <a:endParaRPr lang="fr-FR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ea typeface="Times New Roman"/>
                          <a:cs typeface="Times New Roman"/>
                        </a:rPr>
                        <a:t>		return (faux)</a:t>
                      </a:r>
                      <a:endParaRPr lang="fr-FR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ea typeface="Times New Roman"/>
                          <a:cs typeface="Times New Roman"/>
                        </a:rPr>
                        <a:t>		Else </a:t>
                      </a:r>
                      <a:endParaRPr lang="fr-FR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ea typeface="Times New Roman"/>
                          <a:cs typeface="Times New Roman"/>
                        </a:rPr>
                        <a:t>		return ( </a:t>
                      </a:r>
                      <a:r>
                        <a:rPr lang="en-GB" sz="1400" dirty="0">
                          <a:highlight>
                            <a:srgbClr val="00FFFF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Pair</a:t>
                      </a:r>
                      <a:r>
                        <a:rPr lang="en-GB" sz="800" dirty="0">
                          <a:highlight>
                            <a:srgbClr val="00FFFF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GB" sz="1400" dirty="0">
                          <a:highlight>
                            <a:srgbClr val="00FFFF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GB" sz="1400" i="1" dirty="0">
                          <a:highlight>
                            <a:srgbClr val="00FFFF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en-GB" sz="1400" dirty="0">
                          <a:highlight>
                            <a:srgbClr val="00FFFF"/>
                          </a:highlight>
                          <a:latin typeface="CMSY10"/>
                          <a:ea typeface="Times New Roman"/>
                          <a:cs typeface="CMSY10"/>
                        </a:rPr>
                        <a:t>-</a:t>
                      </a:r>
                      <a:r>
                        <a:rPr lang="en-GB" sz="1400" dirty="0">
                          <a:highlight>
                            <a:srgbClr val="00FFFF"/>
                          </a:highlight>
                          <a:latin typeface="Arial"/>
                          <a:ea typeface="Times New Roman"/>
                          <a:cs typeface="Times New Roman"/>
                        </a:rPr>
                        <a:t>1))</a:t>
                      </a:r>
                      <a:endParaRPr lang="fr-FR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ea typeface="Times New Roman"/>
                          <a:cs typeface="Times New Roman"/>
                        </a:rPr>
                        <a:t>End</a:t>
                      </a:r>
                      <a:endParaRPr lang="fr-FR" sz="1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i="1" dirty="0">
                <a:solidFill>
                  <a:srgbClr val="C00000"/>
                </a:solidFill>
              </a:rPr>
              <a:t>6</a:t>
            </a:r>
            <a:r>
              <a:rPr lang="fr-FR" b="1" i="1" dirty="0">
                <a:solidFill>
                  <a:srgbClr val="C00000"/>
                </a:solidFill>
              </a:rPr>
              <a:t>. Récursivité imbriquée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fr-FR" dirty="0"/>
          </a:p>
          <a:p>
            <a:pPr>
              <a:buNone/>
            </a:pPr>
            <a:r>
              <a:rPr lang="fr-FR" dirty="0"/>
              <a:t>	La fonction d’Ackermann est définie comme suit :</a:t>
            </a:r>
          </a:p>
          <a:p>
            <a:endParaRPr lang="fr-FR" dirty="0"/>
          </a:p>
          <a:p>
            <a:endParaRPr lang="fr-FR" dirty="0"/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de-DE" dirty="0"/>
              <a:t>	</a:t>
            </a:r>
            <a:r>
              <a:rPr lang="de-DE" dirty="0" err="1"/>
              <a:t>d’où</a:t>
            </a:r>
            <a:r>
              <a:rPr lang="de-DE" dirty="0"/>
              <a:t> </a:t>
            </a:r>
            <a:r>
              <a:rPr lang="de-DE" dirty="0" err="1"/>
              <a:t>l’algorithme</a:t>
            </a:r>
            <a:r>
              <a:rPr lang="de-DE" dirty="0"/>
              <a:t> :</a:t>
            </a:r>
            <a:endParaRPr lang="fr-FR" dirty="0"/>
          </a:p>
          <a:p>
            <a:pPr lvl="3">
              <a:buNone/>
            </a:pPr>
            <a:r>
              <a:rPr lang="de-DE" dirty="0"/>
              <a:t>Ackermann (</a:t>
            </a:r>
            <a:r>
              <a:rPr lang="de-DE" i="1" dirty="0"/>
              <a:t>m</a:t>
            </a:r>
            <a:r>
              <a:rPr lang="de-DE" dirty="0"/>
              <a:t>, </a:t>
            </a:r>
            <a:r>
              <a:rPr lang="de-DE" i="1" dirty="0"/>
              <a:t>n</a:t>
            </a:r>
            <a:r>
              <a:rPr lang="de-DE" dirty="0"/>
              <a:t>)</a:t>
            </a:r>
            <a:endParaRPr lang="fr-FR" dirty="0"/>
          </a:p>
          <a:p>
            <a:pPr lvl="3">
              <a:buNone/>
            </a:pPr>
            <a:r>
              <a:rPr lang="en-GB" dirty="0"/>
              <a:t>Begin</a:t>
            </a:r>
            <a:endParaRPr lang="fr-FR" dirty="0"/>
          </a:p>
          <a:p>
            <a:pPr lvl="3">
              <a:buNone/>
            </a:pPr>
            <a:r>
              <a:rPr lang="en-GB" dirty="0"/>
              <a:t>	If ( </a:t>
            </a:r>
            <a:r>
              <a:rPr lang="en-GB" i="1" dirty="0"/>
              <a:t>m </a:t>
            </a:r>
            <a:r>
              <a:rPr lang="en-GB" dirty="0"/>
              <a:t>= 0 ) Then </a:t>
            </a:r>
            <a:endParaRPr lang="fr-FR" dirty="0"/>
          </a:p>
          <a:p>
            <a:pPr lvl="3">
              <a:buNone/>
            </a:pPr>
            <a:r>
              <a:rPr lang="en-GB" dirty="0"/>
              <a:t>	return (n+1)</a:t>
            </a:r>
            <a:endParaRPr lang="fr-FR" dirty="0"/>
          </a:p>
          <a:p>
            <a:pPr lvl="3">
              <a:buNone/>
            </a:pPr>
            <a:r>
              <a:rPr lang="en-GB" dirty="0"/>
              <a:t>	else 	</a:t>
            </a:r>
            <a:endParaRPr lang="fr-FR" dirty="0"/>
          </a:p>
          <a:p>
            <a:pPr lvl="3">
              <a:buNone/>
            </a:pPr>
            <a:r>
              <a:rPr lang="en-GB" dirty="0"/>
              <a:t>		If (n=0) Then </a:t>
            </a:r>
            <a:endParaRPr lang="fr-FR" dirty="0"/>
          </a:p>
          <a:p>
            <a:pPr lvl="3">
              <a:buNone/>
            </a:pPr>
            <a:r>
              <a:rPr lang="en-GB" dirty="0"/>
              <a:t>			Return(Ackermann (</a:t>
            </a:r>
            <a:r>
              <a:rPr lang="en-GB" i="1" dirty="0"/>
              <a:t>m</a:t>
            </a:r>
            <a:r>
              <a:rPr lang="en-GB" dirty="0"/>
              <a:t>-1, 1))</a:t>
            </a:r>
            <a:endParaRPr lang="fr-FR" dirty="0"/>
          </a:p>
          <a:p>
            <a:pPr lvl="3">
              <a:buNone/>
            </a:pPr>
            <a:r>
              <a:rPr lang="en-GB" dirty="0"/>
              <a:t>			else </a:t>
            </a:r>
            <a:endParaRPr lang="fr-FR" dirty="0"/>
          </a:p>
          <a:p>
            <a:pPr lvl="3">
              <a:buNone/>
            </a:pPr>
            <a:r>
              <a:rPr lang="en-GB" dirty="0"/>
              <a:t>				Return (  Ackermann (</a:t>
            </a:r>
            <a:r>
              <a:rPr lang="en-GB" i="1" dirty="0"/>
              <a:t>m</a:t>
            </a:r>
            <a:r>
              <a:rPr lang="en-GB" dirty="0"/>
              <a:t>-1, Ackermann (</a:t>
            </a:r>
            <a:r>
              <a:rPr lang="en-GB" i="1" dirty="0"/>
              <a:t>m</a:t>
            </a:r>
            <a:r>
              <a:rPr lang="en-GB" dirty="0"/>
              <a:t>, </a:t>
            </a:r>
            <a:r>
              <a:rPr lang="en-GB" i="1" dirty="0"/>
              <a:t>n</a:t>
            </a:r>
            <a:r>
              <a:rPr lang="en-GB" dirty="0"/>
              <a:t>-1)) )</a:t>
            </a:r>
            <a:endParaRPr lang="fr-FR" dirty="0"/>
          </a:p>
          <a:p>
            <a:pPr lvl="3">
              <a:buNone/>
            </a:pPr>
            <a:r>
              <a:rPr lang="en-GB" dirty="0"/>
              <a:t>End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54273" name="Object 1"/>
          <p:cNvGraphicFramePr>
            <a:graphicFrameLocks noChangeAspect="1"/>
          </p:cNvGraphicFramePr>
          <p:nvPr/>
        </p:nvGraphicFramePr>
        <p:xfrm>
          <a:off x="3708400" y="2523067"/>
          <a:ext cx="5280873" cy="1097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8" name="Equation" r:id="rId3" imgW="3403600" imgH="711200" progId="Equation.DSMT4">
                  <p:embed/>
                </p:oleObj>
              </mc:Choice>
              <mc:Fallback>
                <p:oleObj name="Equation" r:id="rId3" imgW="3403600" imgH="7112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2523067"/>
                        <a:ext cx="5280873" cy="1097492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17319</TotalTime>
  <Words>1392</Words>
  <Application>Microsoft Office PowerPoint</Application>
  <PresentationFormat>Grand écran</PresentationFormat>
  <Paragraphs>437</Paragraphs>
  <Slides>21</Slides>
  <Notes>2</Notes>
  <HiddenSlides>0</HiddenSlides>
  <MMClips>0</MMClips>
  <ScaleCrop>false</ScaleCrop>
  <HeadingPairs>
    <vt:vector size="8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Century</vt:lpstr>
      <vt:lpstr>CMR10</vt:lpstr>
      <vt:lpstr>CMSY10</vt:lpstr>
      <vt:lpstr>Times New Roman</vt:lpstr>
      <vt:lpstr>Wingdings</vt:lpstr>
      <vt:lpstr>Office Theme</vt:lpstr>
      <vt:lpstr>Equation</vt:lpstr>
      <vt:lpstr>Chapitre 2    Complexité des algorithmes récursifs</vt:lpstr>
      <vt:lpstr>Plan …</vt:lpstr>
      <vt:lpstr>1. Définition et principe</vt:lpstr>
      <vt:lpstr>1. Définition et principe</vt:lpstr>
      <vt:lpstr>1. Définition et principe</vt:lpstr>
      <vt:lpstr>2. L’ordre des appels récursifs:</vt:lpstr>
      <vt:lpstr>2. L’ordre des appels récursifs:</vt:lpstr>
      <vt:lpstr>Présentation PowerPoint</vt:lpstr>
      <vt:lpstr>Présentation PowerPoint</vt:lpstr>
      <vt:lpstr>Présentation PowerPoint</vt:lpstr>
      <vt:lpstr>Présentation PowerPoint</vt:lpstr>
      <vt:lpstr>3. Récursivité simple</vt:lpstr>
      <vt:lpstr>3. Récursivité simple</vt:lpstr>
      <vt:lpstr>3. Récursivité simple</vt:lpstr>
      <vt:lpstr>3. Récursivité simple</vt:lpstr>
      <vt:lpstr>3. Récursivité simple</vt:lpstr>
      <vt:lpstr>3. Récursivité simple</vt:lpstr>
      <vt:lpstr>3. Récursivité simple</vt:lpstr>
      <vt:lpstr>4. Récursivité multiple</vt:lpstr>
      <vt:lpstr>5. Récursivité mutuelle</vt:lpstr>
      <vt:lpstr>6. Récursivité imbriquée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Oussama Jebali</dc:creator>
  <cp:lastModifiedBy>Compte Microsoft</cp:lastModifiedBy>
  <cp:revision>657</cp:revision>
  <dcterms:created xsi:type="dcterms:W3CDTF">2015-03-06T15:17:24Z</dcterms:created>
  <dcterms:modified xsi:type="dcterms:W3CDTF">2023-10-02T09:38:15Z</dcterms:modified>
</cp:coreProperties>
</file>