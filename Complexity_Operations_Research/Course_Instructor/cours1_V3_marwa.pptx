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M+mRYC/DChEUcqww2EPHMXrSE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4EB5FE-ACF2-442B-A6FD-2A29E19E9293}">
  <a:tblStyle styleId="{BF4EB5FE-ACF2-442B-A6FD-2A29E19E929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23149B8-20D5-4DEA-82EE-BA338EF78C8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8983071-16E4-43CF-85F6-2175B53A34C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7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266168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9501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4790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243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1068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6846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821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530be9afa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530be9afad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1530be9afad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8968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4322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fr-FR" sz="1200">
                <a:latin typeface="Times New Roman"/>
                <a:ea typeface="Times New Roman"/>
                <a:cs typeface="Times New Roman"/>
                <a:sym typeface="Times New Roman"/>
              </a:rPr>
              <a:t>On ne peut pas calculer la complexité exacte </a:t>
            </a:r>
            <a:r>
              <a:rPr lang="fr-FR"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T(n)</a:t>
            </a:r>
            <a:r>
              <a:rPr lang="fr-FR" sz="1200">
                <a:latin typeface="Times New Roman"/>
                <a:ea typeface="Times New Roman"/>
                <a:cs typeface="Times New Roman"/>
                <a:sym typeface="Times New Roman"/>
              </a:rPr>
              <a:t> d’un algorithme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lang="fr-FR" sz="1200">
                <a:latin typeface="Times New Roman"/>
                <a:ea typeface="Times New Roman"/>
                <a:cs typeface="Times New Roman"/>
                <a:sym typeface="Times New Roman"/>
              </a:rPr>
              <a:t>Ce qui est important, le comportement de T(n) pour les grandes valeurs de 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🡺 On cherche à encadrer le taux de croissance de T(n) pour n suffisamment grand.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4052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7192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2113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6203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0517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25248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8869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10608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889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8148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02434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67023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159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8271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45183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25035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0574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6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709939" y="2617980"/>
            <a:ext cx="9144000" cy="162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fr-FR" dirty="0" smtClean="0">
                <a:latin typeface="Times New Roman"/>
                <a:ea typeface="Times New Roman"/>
                <a:cs typeface="Times New Roman"/>
                <a:sym typeface="Times New Roman"/>
              </a:rPr>
              <a:t>Complexité appliquée à la RO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373217" y="4956313"/>
            <a:ext cx="369735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Année universitaire</a:t>
            </a:r>
            <a:r>
              <a:rPr lang="fr-FR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800" b="1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lang="fr-FR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fr-FR" sz="1800" b="1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800" b="1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fr-FR" sz="1800" b="1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lang="fr-FR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lang="fr-FR" sz="1800" b="1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752750" y="2559775"/>
            <a:ext cx="5923800" cy="26166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 intégré:</a:t>
            </a:r>
            <a:endParaRPr b="1"/>
          </a:p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Complexité des algorithmes itératifs</a:t>
            </a:r>
            <a:endParaRPr/>
          </a:p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Complexité des algorithmes récursifs</a:t>
            </a:r>
            <a:endParaRPr/>
          </a:p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dé-récursivité</a:t>
            </a:r>
            <a:endParaRPr/>
          </a:p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Complexité des algorithmes « diviser pour régner »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fr-FR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Examen: 60%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23265" y="725170"/>
            <a:ext cx="291836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AutoNum type="arabicPeriod"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Déroulement</a:t>
            </a:r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  <p:graphicFrame>
        <p:nvGraphicFramePr>
          <p:cNvPr id="99" name="Google Shape;99;p2"/>
          <p:cNvGraphicFramePr/>
          <p:nvPr/>
        </p:nvGraphicFramePr>
        <p:xfrm>
          <a:off x="2031999" y="1811710"/>
          <a:ext cx="8128050" cy="370850"/>
        </p:xfrm>
        <a:graphic>
          <a:graphicData uri="http://schemas.openxmlformats.org/drawingml/2006/table">
            <a:tbl>
              <a:tblPr firstRow="1" bandRow="1">
                <a:noFill/>
                <a:tableStyleId>{BF4EB5FE-ACF2-442B-A6FD-2A29E19E9293}</a:tableStyleId>
              </a:tblPr>
              <a:tblGrid>
                <a:gridCol w="1161150"/>
                <a:gridCol w="1161150"/>
                <a:gridCol w="1161150"/>
                <a:gridCol w="1161150"/>
                <a:gridCol w="1161150"/>
                <a:gridCol w="1161150"/>
                <a:gridCol w="11611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2"/>
          <p:cNvSpPr txBox="1"/>
          <p:nvPr/>
        </p:nvSpPr>
        <p:spPr>
          <a:xfrm>
            <a:off x="6913768" y="3710141"/>
            <a:ext cx="4743600" cy="26475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à la RO: 40%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Travailler en équipe sur le même problème</a:t>
            </a:r>
            <a:endParaRPr/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Présenter tous les algorithmes existants  permettant de résoudre le problème</a:t>
            </a:r>
            <a:endParaRPr/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Expliquer la complexité de chaque algorithme proposé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Faire une comparaison entre eux en se basant sur leurs complexités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723265" y="1379220"/>
            <a:ext cx="11245215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0" marR="0" lvl="3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0" marR="0" lvl="3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fr-FR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Pourquoi</a:t>
            </a:r>
            <a:r>
              <a:rPr lang="fr-FR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complexité?</a:t>
            </a:r>
            <a:endParaRPr/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fr-FR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représente </a:t>
            </a:r>
            <a:r>
              <a:rPr lang="fr-FR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quoi</a:t>
            </a:r>
            <a:r>
              <a:rPr lang="fr-FR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fr-FR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</a:t>
            </a:r>
            <a:r>
              <a:rPr lang="fr-FR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calculer?</a:t>
            </a:r>
            <a:endParaRPr/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fr-FR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de complexité</a:t>
            </a:r>
            <a:endParaRPr/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fr-FR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Exemple: Valeur d’un polynôme (avec 3 algorithmes)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723265" y="621665"/>
            <a:ext cx="752221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La complexité des algorithmes itératifs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/>
        </p:nvSpPr>
        <p:spPr>
          <a:xfrm>
            <a:off x="723265" y="1454145"/>
            <a:ext cx="11245200" cy="3047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58" t="-15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723265" y="621665"/>
            <a:ext cx="752221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Pourquoi 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764165" y="3679612"/>
            <a:ext cx="1159561" cy="821635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781" y="3567488"/>
            <a:ext cx="4380768" cy="1476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7" name="Google Shape;11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61173" y="2464208"/>
            <a:ext cx="2198265" cy="3924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8" name="Google Shape;118;p6"/>
          <p:cNvSpPr txBox="1"/>
          <p:nvPr/>
        </p:nvSpPr>
        <p:spPr>
          <a:xfrm>
            <a:off x="3717542" y="5312320"/>
            <a:ext cx="4043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Lequel des deux algorithmes il est bien?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/>
        </p:nvSpPr>
        <p:spPr>
          <a:xfrm>
            <a:off x="723275" y="1379225"/>
            <a:ext cx="11245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critères d’évaluation d’un  algorithme: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2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Convergence: trouver une solution</a:t>
            </a:r>
            <a:endParaRPr dirty="0"/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l’algorithme ne répond à ce critère, l’écarter</a:t>
            </a:r>
            <a:r>
              <a:rPr lang="fr-FR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fr-FR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2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Validité: La solution doit être validée</a:t>
            </a:r>
            <a:endParaRPr dirty="0"/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l’algorithme ne répond à ce critère, l’écarter</a:t>
            </a:r>
            <a:r>
              <a:rPr lang="fr-FR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371600"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2" indent="-45720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Times New Roman"/>
              <a:buAutoNum type="arabicParenR"/>
            </a:pPr>
            <a:r>
              <a:rPr lang="fr-FR" sz="2400" b="0" i="0" u="none" strike="noStrike" cap="none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Complexité: mesurer les ressources utilisées</a:t>
            </a:r>
            <a:endParaRPr dirty="0"/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Ressources spatiales: mémoire utilisée</a:t>
            </a:r>
            <a:endParaRPr dirty="0"/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urier New"/>
              <a:buChar char="o"/>
            </a:pPr>
            <a:r>
              <a:rPr lang="fr-FR" sz="24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Ressources temporelles: temps d’exécution nécessaire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23265" y="621665"/>
            <a:ext cx="752221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Pourquoi?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sp>
        <p:nvSpPr>
          <p:cNvPr id="126" name="Google Shape;126;p7"/>
          <p:cNvSpPr txBox="1"/>
          <p:nvPr/>
        </p:nvSpPr>
        <p:spPr>
          <a:xfrm>
            <a:off x="1549475" y="4354650"/>
            <a:ext cx="7856400" cy="107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/>
        </p:nvSpPr>
        <p:spPr>
          <a:xfrm>
            <a:off x="723265" y="1379220"/>
            <a:ext cx="112452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complexité est une mesure de la quantité des ressources nécessaires (le temps d’exécution et l’espace requis) à la résolution du problème.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complexité temporelle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 dépend pas de l’environnement d’exécution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</a:t>
            </a:r>
            <a:r>
              <a:rPr lang="fr-FR" sz="24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n’est pas mesuré en fonction du temps</a:t>
            </a:r>
            <a:r>
              <a:rPr lang="fr-FR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Cette mesure doit être indépendante de l’environnement d’exécution.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temps d’exécution d’un algorithme</a:t>
            </a:r>
            <a:r>
              <a:rPr lang="fr-FR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 le nombre d’opérations élémentaires (affectation, opération arithmétiques, comparaisons...) effectuées par un algorithme.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23265" y="621665"/>
            <a:ext cx="752221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Quoi 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530be9afad_0_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</a:t>
            </a:r>
            <a:r>
              <a:rPr lang="fr-FR"/>
              <a:t> </a:t>
            </a: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 temps d’exécution</a:t>
            </a:r>
            <a:endParaRPr sz="32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g1530be9afad_0_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2400" b="1"/>
              <a:t>Règles: </a:t>
            </a:r>
            <a:endParaRPr sz="24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fr-FR" sz="2400"/>
              <a:t>Chaque instruction basique/élémentaire consomme une unité de temps (affectation d’une variable, comparaison,...) 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fr-FR" sz="2400"/>
              <a:t>Chaque itération d’une boucle rajoute le nombre d’unités de temps consommées dans le corps de cette boucle 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fr-FR" sz="2400"/>
              <a:t>Chaque appel de fonction rajoute le nombre d’unités de temps consommées dans cette fonction 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fr-FR" sz="2400"/>
              <a:t>Pour avoir le nombre d’opérations effectuées par l’algorithme, on additionne le tout</a:t>
            </a:r>
            <a:endParaRPr sz="2400"/>
          </a:p>
        </p:txBody>
      </p:sp>
      <p:sp>
        <p:nvSpPr>
          <p:cNvPr id="141" name="Google Shape;141;g1530be9afad_0_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/>
        </p:nvSpPr>
        <p:spPr>
          <a:xfrm>
            <a:off x="723264" y="621665"/>
            <a:ext cx="9613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Quoi ?</a:t>
            </a: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643668" y="1995147"/>
            <a:ext cx="5338800" cy="11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int 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s=a+b;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printf(“%d”, s);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0"/>
          <p:cNvSpPr txBox="1"/>
          <p:nvPr/>
        </p:nvSpPr>
        <p:spPr>
          <a:xfrm>
            <a:off x="6547649" y="2968557"/>
            <a:ext cx="5338800" cy="2031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int s, i;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s=0;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for( i=0; i&lt;n ;i++)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s=s+tab[i];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printf(“%d”, s);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2462981" y="2109019"/>
            <a:ext cx="412954" cy="309716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2615381" y="2450843"/>
            <a:ext cx="412954" cy="309716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2</a:t>
            </a:r>
            <a:endParaRPr dirty="0"/>
          </a:p>
        </p:txBody>
      </p:sp>
      <p:sp>
        <p:nvSpPr>
          <p:cNvPr id="152" name="Google Shape;152;p10"/>
          <p:cNvSpPr/>
          <p:nvPr/>
        </p:nvSpPr>
        <p:spPr>
          <a:xfrm>
            <a:off x="2443316" y="2792667"/>
            <a:ext cx="412954" cy="309716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2256503" y="3553628"/>
            <a:ext cx="771831" cy="373211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T=4</a:t>
            </a:r>
            <a:endParaRPr dirty="0"/>
          </a:p>
        </p:txBody>
      </p:sp>
      <p:sp>
        <p:nvSpPr>
          <p:cNvPr id="154" name="Google Shape;154;p10"/>
          <p:cNvSpPr/>
          <p:nvPr/>
        </p:nvSpPr>
        <p:spPr>
          <a:xfrm>
            <a:off x="7614421" y="2947525"/>
            <a:ext cx="412954" cy="309716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8197646" y="3257241"/>
            <a:ext cx="412954" cy="309716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8925230" y="3577639"/>
            <a:ext cx="412954" cy="309716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8539315" y="5397559"/>
            <a:ext cx="1037309" cy="445005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T=4n+6</a:t>
            </a:r>
            <a:endParaRPr dirty="0"/>
          </a:p>
        </p:txBody>
      </p:sp>
      <p:sp>
        <p:nvSpPr>
          <p:cNvPr id="158" name="Google Shape;158;p10"/>
          <p:cNvSpPr/>
          <p:nvPr/>
        </p:nvSpPr>
        <p:spPr>
          <a:xfrm>
            <a:off x="8467100" y="4452287"/>
            <a:ext cx="413100" cy="3096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9576624" y="3585375"/>
            <a:ext cx="1082809" cy="309716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n+1 fois</a:t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10731848" y="3570779"/>
            <a:ext cx="1082809" cy="309716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fois</a:t>
            </a:r>
            <a:endParaRPr dirty="0"/>
          </a:p>
        </p:txBody>
      </p:sp>
      <p:sp>
        <p:nvSpPr>
          <p:cNvPr id="161" name="Google Shape;161;p10"/>
          <p:cNvSpPr/>
          <p:nvPr/>
        </p:nvSpPr>
        <p:spPr>
          <a:xfrm>
            <a:off x="8493815" y="3962454"/>
            <a:ext cx="1082809" cy="309716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n+n</a:t>
            </a: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fois</a:t>
            </a:r>
            <a:endParaRPr dirty="0"/>
          </a:p>
        </p:txBody>
      </p:sp>
      <p:sp>
        <p:nvSpPr>
          <p:cNvPr id="162" name="Google Shape;162;p10"/>
          <p:cNvSpPr txBox="1"/>
          <p:nvPr/>
        </p:nvSpPr>
        <p:spPr>
          <a:xfrm>
            <a:off x="6361350" y="2398325"/>
            <a:ext cx="5711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somme des éléments d’un tableau de taille 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595713" y="1575775"/>
            <a:ext cx="5711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somme de deux variables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La complexité d’un algorithme est une mesure de sa </a:t>
            </a:r>
            <a:r>
              <a:rPr lang="fr-FR" b="1"/>
              <a:t>performance asymptoptique</a:t>
            </a:r>
            <a:r>
              <a:rPr lang="fr-FR"/>
              <a:t> dans le pire cas</a:t>
            </a:r>
            <a:endParaRPr>
              <a:solidFill>
                <a:srgbClr val="0070C0"/>
              </a:solidFill>
            </a:endParaRPr>
          </a:p>
          <a:p>
            <a:pPr marL="22860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Pour ce faire, nous avons besoin de notations asymptotiques connues sous le nom de « notation de Landau » (Mathématicien Allemand ).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  <p:sp>
        <p:nvSpPr>
          <p:cNvPr id="173" name="Google Shape;173;p11"/>
          <p:cNvSpPr txBox="1"/>
          <p:nvPr/>
        </p:nvSpPr>
        <p:spPr>
          <a:xfrm>
            <a:off x="723264" y="621665"/>
            <a:ext cx="9613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Notations de Landau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On dit aussi que f « est dominée asymptotiquement par g »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Ou que g « est un majorant presque partout de f »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fr-FR">
                <a:solidFill>
                  <a:srgbClr val="0070C0"/>
                </a:solidFill>
              </a:rPr>
              <a:t>Exemple: </a:t>
            </a:r>
            <a:r>
              <a:rPr lang="fr-FR" i="1"/>
              <a:t>f(n)=n</a:t>
            </a:r>
            <a:r>
              <a:rPr lang="fr-FR"/>
              <a:t>+2  et  </a:t>
            </a:r>
            <a:r>
              <a:rPr lang="fr-FR" i="1"/>
              <a:t>g(n)=n    </a:t>
            </a:r>
            <a:r>
              <a:rPr lang="fr-FR"/>
              <a:t>🡺</a:t>
            </a:r>
            <a:r>
              <a:rPr lang="fr-FR" i="1"/>
              <a:t>n+2= O(n)  </a:t>
            </a:r>
            <a:r>
              <a:rPr lang="fr-FR" sz="2400"/>
              <a:t>(Il suffit de  prendre </a:t>
            </a:r>
            <a:r>
              <a:rPr lang="fr-FR" sz="2400" i="1"/>
              <a:t>n</a:t>
            </a:r>
            <a:r>
              <a:rPr lang="fr-FR" sz="2400"/>
              <a:t>0 =2 et </a:t>
            </a:r>
            <a:r>
              <a:rPr lang="fr-FR" sz="2400" i="1"/>
              <a:t>c </a:t>
            </a:r>
            <a:r>
              <a:rPr lang="fr-FR" sz="2400"/>
              <a:t>=2)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Ceci signifie que :  f « est négligeable devant g »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2" name="Google Shape;182;p12"/>
          <p:cNvGraphicFramePr/>
          <p:nvPr/>
        </p:nvGraphicFramePr>
        <p:xfrm>
          <a:off x="1176338" y="2066925"/>
          <a:ext cx="102076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r:id="rId4" imgW="10207625" imgH="441325" progId="">
                  <p:embed/>
                </p:oleObj>
              </mc:Choice>
              <mc:Fallback>
                <p:oleObj r:id="rId4" imgW="10207625" imgH="441325" progId="">
                  <p:embed/>
                  <p:pic>
                    <p:nvPicPr>
                      <p:cNvPr id="182" name="Google Shape;182;p12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176338" y="2066925"/>
                        <a:ext cx="102076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" name="Google Shape;183;p12"/>
          <p:cNvSpPr txBox="1"/>
          <p:nvPr/>
        </p:nvSpPr>
        <p:spPr>
          <a:xfrm>
            <a:off x="723264" y="621665"/>
            <a:ext cx="9613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Notations de Landau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2160103" y="1961322"/>
            <a:ext cx="9468679" cy="662601"/>
          </a:xfrm>
          <a:prstGeom prst="rect">
            <a:avLst/>
          </a:prstGeom>
          <a:noFill/>
          <a:ln w="28575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980661" y="1961322"/>
            <a:ext cx="808382" cy="662601"/>
          </a:xfrm>
          <a:prstGeom prst="rect">
            <a:avLst/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w="9525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O:</a:t>
            </a:r>
            <a:endParaRPr/>
          </a:p>
        </p:txBody>
      </p:sp>
      <p:graphicFrame>
        <p:nvGraphicFramePr>
          <p:cNvPr id="186" name="Google Shape;186;p12"/>
          <p:cNvGraphicFramePr/>
          <p:nvPr/>
        </p:nvGraphicFramePr>
        <p:xfrm>
          <a:off x="1335829" y="4770285"/>
          <a:ext cx="967972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r:id="rId6" imgW="9679728" imgH="441325" progId="">
                  <p:embed/>
                </p:oleObj>
              </mc:Choice>
              <mc:Fallback>
                <p:oleObj r:id="rId6" imgW="9679728" imgH="441325" progId="">
                  <p:embed/>
                  <p:pic>
                    <p:nvPicPr>
                      <p:cNvPr id="186" name="Google Shape;186;p12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1335829" y="4770285"/>
                        <a:ext cx="967972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" name="Google Shape;187;p12"/>
          <p:cNvSpPr/>
          <p:nvPr/>
        </p:nvSpPr>
        <p:spPr>
          <a:xfrm>
            <a:off x="2160103" y="4628441"/>
            <a:ext cx="9468679" cy="662601"/>
          </a:xfrm>
          <a:prstGeom prst="rect">
            <a:avLst/>
          </a:prstGeom>
          <a:noFill/>
          <a:ln w="28575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980661" y="4628441"/>
            <a:ext cx="808382" cy="662601"/>
          </a:xfrm>
          <a:prstGeom prst="rect">
            <a:avLst/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w="9525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o: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>
            <a:spLocks noGrp="1"/>
          </p:cNvSpPr>
          <p:nvPr>
            <p:ph type="body" idx="1"/>
          </p:nvPr>
        </p:nvSpPr>
        <p:spPr>
          <a:xfrm>
            <a:off x="838200" y="1855311"/>
            <a:ext cx="10515600" cy="432165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042" b="-70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 </a:t>
            </a:r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13"/>
          <p:cNvGraphicFramePr/>
          <p:nvPr/>
        </p:nvGraphicFramePr>
        <p:xfrm>
          <a:off x="1170463" y="2059519"/>
          <a:ext cx="5533813" cy="457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r:id="rId5" imgW="5533813" imgH="457070" progId="">
                  <p:embed/>
                </p:oleObj>
              </mc:Choice>
              <mc:Fallback>
                <p:oleObj r:id="rId5" imgW="5533813" imgH="457070" progId="">
                  <p:embed/>
                  <p:pic>
                    <p:nvPicPr>
                      <p:cNvPr id="197" name="Google Shape;197;p1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1170463" y="2059519"/>
                        <a:ext cx="5533813" cy="457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" name="Google Shape;198;p13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23264" y="621665"/>
            <a:ext cx="9613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Notations de Landau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2080592" y="1961322"/>
            <a:ext cx="5141844" cy="662601"/>
          </a:xfrm>
          <a:prstGeom prst="rect">
            <a:avLst/>
          </a:prstGeom>
          <a:noFill/>
          <a:ln w="28575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997227" y="1961321"/>
            <a:ext cx="808382" cy="662601"/>
          </a:xfrm>
          <a:prstGeom prst="rect">
            <a:avLst/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w="9525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Ω:</a:t>
            </a:r>
            <a:endParaRPr/>
          </a:p>
        </p:txBody>
      </p:sp>
      <p:graphicFrame>
        <p:nvGraphicFramePr>
          <p:cNvPr id="202" name="Google Shape;202;p13"/>
          <p:cNvGraphicFramePr/>
          <p:nvPr/>
        </p:nvGraphicFramePr>
        <p:xfrm>
          <a:off x="1196374" y="3586930"/>
          <a:ext cx="647790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r:id="rId7" imgW="6477907" imgH="469900" progId="">
                  <p:embed/>
                </p:oleObj>
              </mc:Choice>
              <mc:Fallback>
                <p:oleObj r:id="rId7" imgW="6477907" imgH="469900" progId="">
                  <p:embed/>
                  <p:pic>
                    <p:nvPicPr>
                      <p:cNvPr id="202" name="Google Shape;202;p13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1196374" y="3586930"/>
                        <a:ext cx="647790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" name="Google Shape;203;p13"/>
          <p:cNvGraphicFramePr/>
          <p:nvPr/>
        </p:nvGraphicFramePr>
        <p:xfrm>
          <a:off x="2723483" y="4074294"/>
          <a:ext cx="8182894" cy="440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r:id="rId9" imgW="8182894" imgH="440267" progId="">
                  <p:embed/>
                </p:oleObj>
              </mc:Choice>
              <mc:Fallback>
                <p:oleObj r:id="rId9" imgW="8182894" imgH="440267" progId="">
                  <p:embed/>
                  <p:pic>
                    <p:nvPicPr>
                      <p:cNvPr id="203" name="Google Shape;203;p13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2723483" y="4074294"/>
                        <a:ext cx="8182894" cy="440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Google Shape;204;p13"/>
          <p:cNvSpPr/>
          <p:nvPr/>
        </p:nvSpPr>
        <p:spPr>
          <a:xfrm>
            <a:off x="2087219" y="3478698"/>
            <a:ext cx="9100926" cy="1080050"/>
          </a:xfrm>
          <a:prstGeom prst="rect">
            <a:avLst/>
          </a:prstGeom>
          <a:noFill/>
          <a:ln w="28575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1003855" y="3438941"/>
            <a:ext cx="808382" cy="662601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4544"/>
            </a:stretch>
          </a:blip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/>
        </p:nvSpPr>
        <p:spPr>
          <a:xfrm>
            <a:off x="2407920" y="2081351"/>
            <a:ext cx="9560558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Négliger les constantes additionnelles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T(n) = c+n</a:t>
            </a:r>
            <a:r>
              <a:rPr lang="fr-FR" sz="18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O(n</a:t>
            </a:r>
            <a:r>
              <a:rPr lang="fr-FR" sz="18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R" startAt="2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Négliger les constantes multiplicatives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T(n) = c*n</a:t>
            </a:r>
            <a:r>
              <a:rPr lang="fr-FR" sz="18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O(n</a:t>
            </a:r>
            <a:r>
              <a:rPr lang="fr-FR" sz="18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R" startAt="3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Négliger les termes d’ordre inférieur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T(n) = c1*n</a:t>
            </a:r>
            <a:r>
              <a:rPr lang="fr-FR" sz="18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c2*n = O(n</a:t>
            </a:r>
            <a:r>
              <a:rPr lang="fr-FR" sz="18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O(n) = O(n</a:t>
            </a:r>
            <a:r>
              <a:rPr lang="fr-FR" sz="18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R" startAt="4"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cas de multiplication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</a:t>
            </a:r>
            <a:r>
              <a:rPr lang="fr-FR" sz="18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* O(n</a:t>
            </a:r>
            <a:r>
              <a:rPr lang="fr-FR" sz="18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O(n</a:t>
            </a:r>
            <a:r>
              <a:rPr lang="fr-FR" sz="1800" baseline="30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fr-FR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1282065" y="972185"/>
            <a:ext cx="1048321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Quelques règles à appliquer pour déterminer la complexité </a:t>
            </a:r>
            <a:r>
              <a:rPr lang="fr-FR" sz="2400" b="1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fr-FR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d’un algorithme à partir du nombre d’exécution des opérations </a:t>
            </a:r>
            <a:r>
              <a:rPr lang="fr-FR" sz="2400" b="1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T(n)</a:t>
            </a:r>
            <a:endParaRPr sz="2400" b="1" i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/>
          <p:nvPr/>
        </p:nvSpPr>
        <p:spPr>
          <a:xfrm>
            <a:off x="723264" y="621665"/>
            <a:ext cx="9613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Notations de Landau: Exemple</a:t>
            </a: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13</a:t>
            </a:fld>
            <a:endParaRPr/>
          </a:p>
        </p:txBody>
      </p:sp>
      <p:sp>
        <p:nvSpPr>
          <p:cNvPr id="219" name="Google Shape;219;p15"/>
          <p:cNvSpPr/>
          <p:nvPr/>
        </p:nvSpPr>
        <p:spPr>
          <a:xfrm>
            <a:off x="2256503" y="3553628"/>
            <a:ext cx="771900" cy="3732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T=3</a:t>
            </a:r>
            <a:endParaRPr/>
          </a:p>
        </p:txBody>
      </p:sp>
      <p:sp>
        <p:nvSpPr>
          <p:cNvPr id="220" name="Google Shape;220;p15"/>
          <p:cNvSpPr/>
          <p:nvPr/>
        </p:nvSpPr>
        <p:spPr>
          <a:xfrm>
            <a:off x="8539315" y="5397559"/>
            <a:ext cx="1037400" cy="4449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T=3n+7</a:t>
            </a: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3246783" y="3566957"/>
            <a:ext cx="1175100" cy="3954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</a:t>
            </a:r>
            <a:r>
              <a:rPr lang="fr-FR" sz="1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O(1)</a:t>
            </a:r>
            <a:endParaRPr/>
          </a:p>
        </p:txBody>
      </p:sp>
      <p:sp>
        <p:nvSpPr>
          <p:cNvPr id="222" name="Google Shape;222;p15"/>
          <p:cNvSpPr/>
          <p:nvPr/>
        </p:nvSpPr>
        <p:spPr>
          <a:xfrm>
            <a:off x="9749087" y="5422312"/>
            <a:ext cx="1175100" cy="3954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</a:t>
            </a:r>
            <a:r>
              <a:rPr lang="fr-FR" sz="1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O(n)</a:t>
            </a:r>
            <a:endParaRPr/>
          </a:p>
        </p:txBody>
      </p:sp>
      <p:sp>
        <p:nvSpPr>
          <p:cNvPr id="223" name="Google Shape;223;p15"/>
          <p:cNvSpPr txBox="1"/>
          <p:nvPr/>
        </p:nvSpPr>
        <p:spPr>
          <a:xfrm>
            <a:off x="643668" y="1995147"/>
            <a:ext cx="5338800" cy="113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int 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s=a+b;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printf(“%d”, s);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5"/>
          <p:cNvSpPr txBox="1"/>
          <p:nvPr/>
        </p:nvSpPr>
        <p:spPr>
          <a:xfrm>
            <a:off x="6547649" y="2968557"/>
            <a:ext cx="5338800" cy="2031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int s, i;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s=0;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for( i=0; i&lt;n ;i++)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s=s+tab[i];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printf(“%d”, s);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2462981" y="2109019"/>
            <a:ext cx="413100" cy="3096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2615381" y="2450843"/>
            <a:ext cx="413100" cy="3096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2</a:t>
            </a:r>
            <a:endParaRPr dirty="0"/>
          </a:p>
        </p:txBody>
      </p:sp>
      <p:sp>
        <p:nvSpPr>
          <p:cNvPr id="227" name="Google Shape;227;p15"/>
          <p:cNvSpPr/>
          <p:nvPr/>
        </p:nvSpPr>
        <p:spPr>
          <a:xfrm>
            <a:off x="2443316" y="2792667"/>
            <a:ext cx="413100" cy="3096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8" name="Google Shape;228;p15"/>
          <p:cNvSpPr/>
          <p:nvPr/>
        </p:nvSpPr>
        <p:spPr>
          <a:xfrm>
            <a:off x="2256503" y="3553628"/>
            <a:ext cx="771900" cy="3732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T=4</a:t>
            </a:r>
            <a:endParaRPr dirty="0"/>
          </a:p>
        </p:txBody>
      </p:sp>
      <p:sp>
        <p:nvSpPr>
          <p:cNvPr id="229" name="Google Shape;229;p15"/>
          <p:cNvSpPr/>
          <p:nvPr/>
        </p:nvSpPr>
        <p:spPr>
          <a:xfrm>
            <a:off x="7614421" y="2947525"/>
            <a:ext cx="413100" cy="3096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30" name="Google Shape;230;p15"/>
          <p:cNvSpPr/>
          <p:nvPr/>
        </p:nvSpPr>
        <p:spPr>
          <a:xfrm>
            <a:off x="8197646" y="3257241"/>
            <a:ext cx="413100" cy="3096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8925230" y="3577639"/>
            <a:ext cx="413100" cy="3096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8539315" y="5397559"/>
            <a:ext cx="1037400" cy="4449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T=4n+6</a:t>
            </a:r>
            <a:endParaRPr dirty="0"/>
          </a:p>
        </p:txBody>
      </p:sp>
      <p:sp>
        <p:nvSpPr>
          <p:cNvPr id="233" name="Google Shape;233;p15"/>
          <p:cNvSpPr/>
          <p:nvPr/>
        </p:nvSpPr>
        <p:spPr>
          <a:xfrm>
            <a:off x="8467100" y="4452287"/>
            <a:ext cx="413100" cy="3096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9576624" y="3585375"/>
            <a:ext cx="1082700" cy="3096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n+1 fois</a:t>
            </a: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10731848" y="3570779"/>
            <a:ext cx="1082700" cy="3096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fois</a:t>
            </a:r>
            <a:endParaRPr dirty="0"/>
          </a:p>
        </p:txBody>
      </p:sp>
      <p:sp>
        <p:nvSpPr>
          <p:cNvPr id="236" name="Google Shape;236;p15"/>
          <p:cNvSpPr/>
          <p:nvPr/>
        </p:nvSpPr>
        <p:spPr>
          <a:xfrm>
            <a:off x="8493815" y="3962454"/>
            <a:ext cx="1082700" cy="30960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12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2n 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fois</a:t>
            </a:r>
            <a:endParaRPr dirty="0"/>
          </a:p>
        </p:txBody>
      </p:sp>
      <p:sp>
        <p:nvSpPr>
          <p:cNvPr id="237" name="Google Shape;237;p15"/>
          <p:cNvSpPr txBox="1"/>
          <p:nvPr/>
        </p:nvSpPr>
        <p:spPr>
          <a:xfrm>
            <a:off x="6361350" y="2398325"/>
            <a:ext cx="5711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somme des éléments d’un tableau de taille 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595713" y="1575775"/>
            <a:ext cx="5711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somme de deux variables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 txBox="1"/>
          <p:nvPr/>
        </p:nvSpPr>
        <p:spPr>
          <a:xfrm>
            <a:off x="723264" y="1853382"/>
            <a:ext cx="11245215" cy="286232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58" t="-212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723264" y="621665"/>
            <a:ext cx="9613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Notations de Landau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14</a:t>
            </a:fld>
            <a:endParaRPr/>
          </a:p>
        </p:txBody>
      </p:sp>
      <p:cxnSp>
        <p:nvCxnSpPr>
          <p:cNvPr id="246" name="Google Shape;246;p14"/>
          <p:cNvCxnSpPr/>
          <p:nvPr/>
        </p:nvCxnSpPr>
        <p:spPr>
          <a:xfrm>
            <a:off x="1885257" y="3368709"/>
            <a:ext cx="977213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7" name="Google Shape;247;p14"/>
          <p:cNvSpPr txBox="1"/>
          <p:nvPr/>
        </p:nvSpPr>
        <p:spPr>
          <a:xfrm>
            <a:off x="2892684" y="3122214"/>
            <a:ext cx="791446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 une borne supérieure 🡪</a:t>
            </a:r>
            <a:r>
              <a:rPr lang="fr-FR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Majoration du pire des cas</a:t>
            </a:r>
            <a:endParaRPr/>
          </a:p>
        </p:txBody>
      </p:sp>
      <p:cxnSp>
        <p:nvCxnSpPr>
          <p:cNvPr id="248" name="Google Shape;248;p14"/>
          <p:cNvCxnSpPr/>
          <p:nvPr/>
        </p:nvCxnSpPr>
        <p:spPr>
          <a:xfrm>
            <a:off x="1891885" y="3746393"/>
            <a:ext cx="99708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9" name="Google Shape;249;p14"/>
          <p:cNvSpPr txBox="1"/>
          <p:nvPr/>
        </p:nvSpPr>
        <p:spPr>
          <a:xfrm>
            <a:off x="2899311" y="3499898"/>
            <a:ext cx="77951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 une borne inférieure🡪 </a:t>
            </a:r>
            <a:r>
              <a:rPr lang="fr-FR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Minoration du meilleur des cas</a:t>
            </a:r>
            <a:endParaRPr/>
          </a:p>
        </p:txBody>
      </p:sp>
      <p:cxnSp>
        <p:nvCxnSpPr>
          <p:cNvPr id="250" name="Google Shape;250;p14"/>
          <p:cNvCxnSpPr/>
          <p:nvPr/>
        </p:nvCxnSpPr>
        <p:spPr>
          <a:xfrm>
            <a:off x="1885261" y="4097574"/>
            <a:ext cx="1016965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1" name="Google Shape;251;p14"/>
          <p:cNvSpPr txBox="1"/>
          <p:nvPr/>
        </p:nvSpPr>
        <p:spPr>
          <a:xfrm>
            <a:off x="2912562" y="3908908"/>
            <a:ext cx="929295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 une borne exacte🡪 </a:t>
            </a:r>
            <a:r>
              <a:rPr lang="fr-FR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Plus précise que les précédentes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923" y="3549090"/>
            <a:ext cx="4000161" cy="22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6"/>
          <p:cNvSpPr txBox="1"/>
          <p:nvPr/>
        </p:nvSpPr>
        <p:spPr>
          <a:xfrm>
            <a:off x="723265" y="1379220"/>
            <a:ext cx="11245215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 1:  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Rechercher un élément </a:t>
            </a:r>
            <a:r>
              <a:rPr lang="fr-FR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dans un tableau </a:t>
            </a:r>
            <a:r>
              <a:rPr lang="fr-FR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 trié 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taille 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723264" y="621665"/>
            <a:ext cx="9613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 ?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15</a:t>
            </a:fld>
            <a:endParaRPr dirty="0"/>
          </a:p>
        </p:txBody>
      </p:sp>
      <p:graphicFrame>
        <p:nvGraphicFramePr>
          <p:cNvPr id="260" name="Google Shape;260;p16"/>
          <p:cNvGraphicFramePr/>
          <p:nvPr/>
        </p:nvGraphicFramePr>
        <p:xfrm>
          <a:off x="1585247" y="2354669"/>
          <a:ext cx="8128050" cy="37085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1354675"/>
                <a:gridCol w="1354675"/>
                <a:gridCol w="1354675"/>
                <a:gridCol w="1354675"/>
                <a:gridCol w="1354675"/>
                <a:gridCol w="13546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……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61" name="Google Shape;261;p16"/>
          <p:cNvSpPr txBox="1"/>
          <p:nvPr/>
        </p:nvSpPr>
        <p:spPr>
          <a:xfrm>
            <a:off x="1908313" y="2718048"/>
            <a:ext cx="874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0</a:t>
            </a:r>
            <a:endParaRPr/>
          </a:p>
        </p:txBody>
      </p:sp>
      <p:sp>
        <p:nvSpPr>
          <p:cNvPr id="262" name="Google Shape;262;p16"/>
          <p:cNvSpPr txBox="1"/>
          <p:nvPr/>
        </p:nvSpPr>
        <p:spPr>
          <a:xfrm>
            <a:off x="8610600" y="2725509"/>
            <a:ext cx="10104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n-1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975352" y="2333327"/>
            <a:ext cx="35780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1723313" y="4401900"/>
            <a:ext cx="1285461" cy="278295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 txBox="1"/>
          <p:nvPr/>
        </p:nvSpPr>
        <p:spPr>
          <a:xfrm>
            <a:off x="3153109" y="4356381"/>
            <a:ext cx="14312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Comparaison</a:t>
            </a:r>
            <a:endParaRPr/>
          </a:p>
        </p:txBody>
      </p:sp>
      <p:cxnSp>
        <p:nvCxnSpPr>
          <p:cNvPr id="266" name="Google Shape;266;p16"/>
          <p:cNvCxnSpPr/>
          <p:nvPr/>
        </p:nvCxnSpPr>
        <p:spPr>
          <a:xfrm rot="10800000" flipH="1">
            <a:off x="5135218" y="3504476"/>
            <a:ext cx="1752000" cy="10923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7" name="Google Shape;267;p16"/>
          <p:cNvCxnSpPr/>
          <p:nvPr/>
        </p:nvCxnSpPr>
        <p:spPr>
          <a:xfrm>
            <a:off x="5141843" y="4599399"/>
            <a:ext cx="1752000" cy="1172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8" name="Google Shape;268;p16"/>
          <p:cNvSpPr txBox="1"/>
          <p:nvPr/>
        </p:nvSpPr>
        <p:spPr>
          <a:xfrm>
            <a:off x="6893738" y="3094456"/>
            <a:ext cx="507474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j’ai de la chance: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x se trouve dans la première case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(1 seule comparaison</a:t>
            </a:r>
            <a:r>
              <a:rPr lang="fr-FR" sz="1800" b="1" dirty="0" smtClean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fr-FR" dirty="0">
              <a:ea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800" b="1" dirty="0" smtClean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fr-FR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Complexité au meilleure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1585247" y="2333328"/>
            <a:ext cx="1369988" cy="400110"/>
          </a:xfrm>
          <a:prstGeom prst="rect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16"/>
          <p:cNvCxnSpPr/>
          <p:nvPr/>
        </p:nvCxnSpPr>
        <p:spPr>
          <a:xfrm>
            <a:off x="6003235" y="4583524"/>
            <a:ext cx="890503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1" name="Google Shape;271;p16"/>
          <p:cNvSpPr txBox="1"/>
          <p:nvPr/>
        </p:nvSpPr>
        <p:spPr>
          <a:xfrm>
            <a:off x="6893738" y="4344735"/>
            <a:ext cx="5278382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je n’ai pas de la chance: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x se trouve dans la dernière case </a:t>
            </a:r>
            <a:r>
              <a:rPr lang="fr-FR" sz="1800" b="1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(n comparaisons)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x ne se trouve pas dans le tableau </a:t>
            </a:r>
            <a:r>
              <a:rPr lang="fr-FR" sz="1800" b="1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(n comparaisons)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 smtClean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fr-FR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Complexité au pire des cas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8343261" y="2340034"/>
            <a:ext cx="1369988" cy="400110"/>
          </a:xfrm>
          <a:prstGeom prst="rect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6977898" y="5706038"/>
            <a:ext cx="527838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x se trouve au milieu </a:t>
            </a:r>
            <a:r>
              <a:rPr lang="fr-FR" sz="1800" b="1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(n/2 comparaisons</a:t>
            </a:r>
            <a:r>
              <a:rPr lang="fr-FR" sz="1800" b="1" dirty="0" smtClean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fr-FR" dirty="0">
              <a:ea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800" b="1" dirty="0" smtClean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fr-FR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Complexité au moyenne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7274256" y="5454941"/>
            <a:ext cx="2511187" cy="293876"/>
          </a:xfrm>
          <a:prstGeom prst="rect">
            <a:avLst/>
          </a:prstGeom>
          <a:noFill/>
          <a:ln w="28575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778128" y="3172968"/>
            <a:ext cx="4153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Prog 1: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recherche séquentielle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7"/>
          <p:cNvPicPr preferRelativeResize="0"/>
          <p:nvPr/>
        </p:nvPicPr>
        <p:blipFill rotWithShape="1">
          <a:blip r:embed="rId3">
            <a:alphaModFix/>
          </a:blip>
          <a:srcRect l="22825" t="38062" r="57370" b="40666"/>
          <a:stretch/>
        </p:blipFill>
        <p:spPr>
          <a:xfrm>
            <a:off x="561889" y="3727777"/>
            <a:ext cx="4207179" cy="254063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7"/>
          <p:cNvSpPr txBox="1"/>
          <p:nvPr/>
        </p:nvSpPr>
        <p:spPr>
          <a:xfrm>
            <a:off x="723265" y="1379220"/>
            <a:ext cx="11245215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 2:  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Rechercher un élément </a:t>
            </a:r>
            <a:r>
              <a:rPr lang="fr-FR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dans un tableau </a:t>
            </a:r>
            <a:r>
              <a:rPr lang="fr-FR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trié 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taille 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723264" y="621665"/>
            <a:ext cx="9613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 ? </a:t>
            </a: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16</a:t>
            </a:fld>
            <a:endParaRPr/>
          </a:p>
        </p:txBody>
      </p:sp>
      <p:graphicFrame>
        <p:nvGraphicFramePr>
          <p:cNvPr id="284" name="Google Shape;284;p17"/>
          <p:cNvGraphicFramePr/>
          <p:nvPr/>
        </p:nvGraphicFramePr>
        <p:xfrm>
          <a:off x="1585247" y="2354669"/>
          <a:ext cx="8128050" cy="37085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1354675"/>
                <a:gridCol w="1354675"/>
                <a:gridCol w="1354675"/>
                <a:gridCol w="1354675"/>
                <a:gridCol w="1354675"/>
                <a:gridCol w="13546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……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100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85" name="Google Shape;285;p17"/>
          <p:cNvSpPr txBox="1"/>
          <p:nvPr/>
        </p:nvSpPr>
        <p:spPr>
          <a:xfrm>
            <a:off x="1908313" y="2718048"/>
            <a:ext cx="874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0</a:t>
            </a:r>
            <a:endParaRPr/>
          </a:p>
        </p:txBody>
      </p:sp>
      <p:sp>
        <p:nvSpPr>
          <p:cNvPr id="286" name="Google Shape;286;p17"/>
          <p:cNvSpPr txBox="1"/>
          <p:nvPr/>
        </p:nvSpPr>
        <p:spPr>
          <a:xfrm>
            <a:off x="8610600" y="2725509"/>
            <a:ext cx="10104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n-1</a:t>
            </a:r>
            <a:endParaRPr/>
          </a:p>
        </p:txBody>
      </p:sp>
      <p:sp>
        <p:nvSpPr>
          <p:cNvPr id="287" name="Google Shape;287;p17"/>
          <p:cNvSpPr txBox="1"/>
          <p:nvPr/>
        </p:nvSpPr>
        <p:spPr>
          <a:xfrm>
            <a:off x="975352" y="2333327"/>
            <a:ext cx="35780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</p:txBody>
      </p:sp>
      <p:sp>
        <p:nvSpPr>
          <p:cNvPr id="288" name="Google Shape;288;p17"/>
          <p:cNvSpPr txBox="1"/>
          <p:nvPr/>
        </p:nvSpPr>
        <p:spPr>
          <a:xfrm>
            <a:off x="723264" y="3429000"/>
            <a:ext cx="4153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Prog 2: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recherche dichotomique</a:t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1995523" y="5243785"/>
            <a:ext cx="919955" cy="234995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3239197" y="5176616"/>
            <a:ext cx="14312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Comparaison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6003031" y="4280607"/>
            <a:ext cx="415353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Combien de fois je peux exécuter le traitement du boucle ‘</a:t>
            </a:r>
            <a:r>
              <a:rPr lang="fr-F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8"/>
          <p:cNvPicPr preferRelativeResize="0"/>
          <p:nvPr/>
        </p:nvPicPr>
        <p:blipFill rotWithShape="1">
          <a:blip r:embed="rId3">
            <a:alphaModFix/>
          </a:blip>
          <a:srcRect l="22825" t="38062" r="57370" b="40666"/>
          <a:stretch/>
        </p:blipFill>
        <p:spPr>
          <a:xfrm>
            <a:off x="561889" y="3727777"/>
            <a:ext cx="4207179" cy="254063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8"/>
          <p:cNvSpPr txBox="1"/>
          <p:nvPr/>
        </p:nvSpPr>
        <p:spPr>
          <a:xfrm>
            <a:off x="723265" y="1379220"/>
            <a:ext cx="112452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 2:  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Rechercher un élément </a:t>
            </a:r>
            <a:r>
              <a:rPr lang="fr-FR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dans un tableau </a:t>
            </a:r>
            <a:r>
              <a:rPr lang="fr-FR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trié 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taille 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18"/>
          <p:cNvSpPr txBox="1"/>
          <p:nvPr/>
        </p:nvSpPr>
        <p:spPr>
          <a:xfrm>
            <a:off x="723264" y="621665"/>
            <a:ext cx="9613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 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17</a:t>
            </a:fld>
            <a:endParaRPr/>
          </a:p>
        </p:txBody>
      </p:sp>
      <p:graphicFrame>
        <p:nvGraphicFramePr>
          <p:cNvPr id="300" name="Google Shape;300;p18"/>
          <p:cNvGraphicFramePr/>
          <p:nvPr/>
        </p:nvGraphicFramePr>
        <p:xfrm>
          <a:off x="1585247" y="2354669"/>
          <a:ext cx="8128050" cy="37085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1354675"/>
                <a:gridCol w="1354675"/>
                <a:gridCol w="1354675"/>
                <a:gridCol w="1354675"/>
                <a:gridCol w="1354675"/>
                <a:gridCol w="13546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……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100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01" name="Google Shape;301;p18"/>
          <p:cNvSpPr txBox="1"/>
          <p:nvPr/>
        </p:nvSpPr>
        <p:spPr>
          <a:xfrm>
            <a:off x="1908313" y="2718048"/>
            <a:ext cx="874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0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8610600" y="2725509"/>
            <a:ext cx="10104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n-1</a:t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975352" y="2333327"/>
            <a:ext cx="35780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</p:txBody>
      </p:sp>
      <p:sp>
        <p:nvSpPr>
          <p:cNvPr id="304" name="Google Shape;304;p18"/>
          <p:cNvSpPr txBox="1"/>
          <p:nvPr/>
        </p:nvSpPr>
        <p:spPr>
          <a:xfrm>
            <a:off x="723264" y="3429000"/>
            <a:ext cx="4153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Prog 2: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recherche dichotomique</a:t>
            </a:r>
            <a:endParaRPr/>
          </a:p>
        </p:txBody>
      </p:sp>
      <p:sp>
        <p:nvSpPr>
          <p:cNvPr id="305" name="Google Shape;305;p18"/>
          <p:cNvSpPr txBox="1"/>
          <p:nvPr/>
        </p:nvSpPr>
        <p:spPr>
          <a:xfrm>
            <a:off x="8288050" y="3507071"/>
            <a:ext cx="322594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Itération 1 </a:t>
            </a: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   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n/2 = n/2</a:t>
            </a:r>
            <a:r>
              <a:rPr lang="fr-FR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Itération 2 </a:t>
            </a: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    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n/4 = n/2</a:t>
            </a:r>
            <a:r>
              <a:rPr lang="fr-FR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itération 3 </a:t>
            </a: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    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n/8 = n/2</a:t>
            </a:r>
            <a:r>
              <a:rPr lang="fr-FR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Itération 4 </a:t>
            </a: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    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n/16 = n/2</a:t>
            </a:r>
            <a:r>
              <a:rPr lang="fr-FR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…….             </a:t>
            </a: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     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Itération q  </a:t>
            </a:r>
            <a:r>
              <a:rPr lang="fr-FR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    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n/2</a:t>
            </a:r>
            <a:r>
              <a:rPr lang="fr-FR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fr-F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30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q = log</a:t>
            </a:r>
            <a:r>
              <a:rPr lang="fr-FR" sz="1800" b="1" baseline="-250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fr-FR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(n)</a:t>
            </a:r>
            <a:endParaRPr sz="18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8"/>
          <p:cNvCxnSpPr>
            <a:stCxn id="307" idx="3"/>
          </p:cNvCxnSpPr>
          <p:nvPr/>
        </p:nvCxnSpPr>
        <p:spPr>
          <a:xfrm rot="10800000" flipH="1">
            <a:off x="9289773" y="5490635"/>
            <a:ext cx="423600" cy="323100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7" name="Google Shape;307;p18"/>
          <p:cNvSpPr txBox="1"/>
          <p:nvPr/>
        </p:nvSpPr>
        <p:spPr>
          <a:xfrm>
            <a:off x="5216784" y="5490569"/>
            <a:ext cx="4072989" cy="64633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fr-F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est le nombre max (au pire) d’exécution de l’opération de base: comparaison </a:t>
            </a:r>
            <a:endParaRPr/>
          </a:p>
        </p:txBody>
      </p:sp>
      <p:sp>
        <p:nvSpPr>
          <p:cNvPr id="308" name="Google Shape;308;p18"/>
          <p:cNvSpPr/>
          <p:nvPr/>
        </p:nvSpPr>
        <p:spPr>
          <a:xfrm>
            <a:off x="1995523" y="5243785"/>
            <a:ext cx="919955" cy="234995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3239197" y="5176616"/>
            <a:ext cx="14312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Comparaison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/>
        </p:nvSpPr>
        <p:spPr>
          <a:xfrm>
            <a:off x="723265" y="1379220"/>
            <a:ext cx="11245215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 2:  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Rechercher un élément </a:t>
            </a:r>
            <a:r>
              <a:rPr lang="fr-FR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dans un tableau </a:t>
            </a:r>
            <a:r>
              <a:rPr lang="fr-FR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trié 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taille 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723264" y="266820"/>
            <a:ext cx="9613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 ?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  <p:graphicFrame>
        <p:nvGraphicFramePr>
          <p:cNvPr id="317" name="Google Shape;317;p19"/>
          <p:cNvGraphicFramePr/>
          <p:nvPr/>
        </p:nvGraphicFramePr>
        <p:xfrm>
          <a:off x="423008" y="2013514"/>
          <a:ext cx="8128050" cy="37085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1354675"/>
                <a:gridCol w="1354675"/>
                <a:gridCol w="1354675"/>
                <a:gridCol w="1354675"/>
                <a:gridCol w="1354675"/>
                <a:gridCol w="13546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……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100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18" name="Google Shape;318;p19"/>
          <p:cNvSpPr txBox="1"/>
          <p:nvPr/>
        </p:nvSpPr>
        <p:spPr>
          <a:xfrm>
            <a:off x="625417" y="2385706"/>
            <a:ext cx="874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0</a:t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7361777" y="2396002"/>
            <a:ext cx="10104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n-1</a:t>
            </a:r>
            <a:endParaRPr/>
          </a:p>
        </p:txBody>
      </p:sp>
      <p:sp>
        <p:nvSpPr>
          <p:cNvPr id="320" name="Google Shape;320;p19"/>
          <p:cNvSpPr txBox="1"/>
          <p:nvPr/>
        </p:nvSpPr>
        <p:spPr>
          <a:xfrm>
            <a:off x="78851" y="1951529"/>
            <a:ext cx="35780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527674" y="2808878"/>
            <a:ext cx="544376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n = 100 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🡺 </a:t>
            </a:r>
            <a:r>
              <a:rPr lang="fr-FR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Nombre de comparaisons ?</a:t>
            </a:r>
            <a:endParaRPr sz="24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2" name="Google Shape;322;p19"/>
          <p:cNvGraphicFramePr/>
          <p:nvPr/>
        </p:nvGraphicFramePr>
        <p:xfrm>
          <a:off x="223521" y="3390182"/>
          <a:ext cx="9066275" cy="64009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1020075"/>
                <a:gridCol w="2761500"/>
                <a:gridCol w="528470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Prog1: Recherche séquentielle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Prog2: Recherche dichotomique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pSp>
        <p:nvGrpSpPr>
          <p:cNvPr id="323" name="Google Shape;323;p19"/>
          <p:cNvGrpSpPr/>
          <p:nvPr/>
        </p:nvGrpSpPr>
        <p:grpSpPr>
          <a:xfrm>
            <a:off x="8700037" y="1006724"/>
            <a:ext cx="3457940" cy="2458815"/>
            <a:chOff x="1843" y="790"/>
            <a:chExt cx="9636" cy="5899"/>
          </a:xfrm>
        </p:grpSpPr>
        <p:cxnSp>
          <p:nvCxnSpPr>
            <p:cNvPr id="324" name="Google Shape;324;p19"/>
            <p:cNvCxnSpPr/>
            <p:nvPr/>
          </p:nvCxnSpPr>
          <p:spPr>
            <a:xfrm rot="10800000" flipH="1">
              <a:off x="2371" y="790"/>
              <a:ext cx="1" cy="5899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5" name="Google Shape;325;p19"/>
            <p:cNvSpPr/>
            <p:nvPr/>
          </p:nvSpPr>
          <p:spPr>
            <a:xfrm>
              <a:off x="2710" y="5362"/>
              <a:ext cx="7803" cy="901"/>
            </a:xfrm>
            <a:custGeom>
              <a:avLst/>
              <a:gdLst/>
              <a:ahLst/>
              <a:cxnLst/>
              <a:rect l="l" t="t" r="r" b="b"/>
              <a:pathLst>
                <a:path w="7803" h="2278" extrusionOk="0">
                  <a:moveTo>
                    <a:pt x="0" y="2278"/>
                  </a:moveTo>
                  <a:cubicBezTo>
                    <a:pt x="871" y="1589"/>
                    <a:pt x="1743" y="901"/>
                    <a:pt x="3043" y="521"/>
                  </a:cubicBezTo>
                  <a:cubicBezTo>
                    <a:pt x="4343" y="141"/>
                    <a:pt x="6073" y="70"/>
                    <a:pt x="7803" y="0"/>
                  </a:cubicBezTo>
                </a:path>
              </a:pathLst>
            </a:custGeom>
            <a:noFill/>
            <a:ln w="38100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6" name="Google Shape;326;p19"/>
            <p:cNvCxnSpPr/>
            <p:nvPr/>
          </p:nvCxnSpPr>
          <p:spPr>
            <a:xfrm rot="10800000" flipH="1">
              <a:off x="2744" y="2897"/>
              <a:ext cx="4795" cy="3092"/>
            </a:xfrm>
            <a:prstGeom prst="straightConnector1">
              <a:avLst/>
            </a:pr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19"/>
            <p:cNvCxnSpPr/>
            <p:nvPr/>
          </p:nvCxnSpPr>
          <p:spPr>
            <a:xfrm>
              <a:off x="1843" y="6297"/>
              <a:ext cx="9061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8" name="Google Shape;328;p19"/>
            <p:cNvSpPr txBox="1"/>
            <p:nvPr/>
          </p:nvSpPr>
          <p:spPr>
            <a:xfrm>
              <a:off x="10504" y="5637"/>
              <a:ext cx="975" cy="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9"/>
            <p:cNvSpPr txBox="1"/>
            <p:nvPr/>
          </p:nvSpPr>
          <p:spPr>
            <a:xfrm>
              <a:off x="2473" y="892"/>
              <a:ext cx="1175" cy="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T(n)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9"/>
            <p:cNvSpPr txBox="1"/>
            <p:nvPr/>
          </p:nvSpPr>
          <p:spPr>
            <a:xfrm>
              <a:off x="8966" y="4673"/>
              <a:ext cx="1581" cy="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Log(n)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9"/>
            <p:cNvSpPr txBox="1"/>
            <p:nvPr/>
          </p:nvSpPr>
          <p:spPr>
            <a:xfrm>
              <a:off x="7555" y="2590"/>
              <a:ext cx="119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32" name="Google Shape;332;p19"/>
          <p:cNvGraphicFramePr/>
          <p:nvPr/>
        </p:nvGraphicFramePr>
        <p:xfrm>
          <a:off x="223521" y="5328608"/>
          <a:ext cx="9066275" cy="37085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1002475"/>
                <a:gridCol w="2773250"/>
                <a:gridCol w="52905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n = 200</a:t>
                      </a:r>
                      <a:endParaRPr sz="18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200 comparaisons</a:t>
                      </a:r>
                      <a:endParaRPr sz="18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9 comparaisons</a:t>
                      </a:r>
                      <a:endParaRPr sz="18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333" name="Google Shape;333;p19"/>
          <p:cNvGraphicFramePr/>
          <p:nvPr>
            <p:extLst>
              <p:ext uri="{D42A27DB-BD31-4B8C-83A1-F6EECF244321}">
                <p14:modId xmlns:p14="http://schemas.microsoft.com/office/powerpoint/2010/main" val="668212308"/>
              </p:ext>
            </p:extLst>
          </p:nvPr>
        </p:nvGraphicFramePr>
        <p:xfrm>
          <a:off x="223521" y="4085075"/>
          <a:ext cx="9066275" cy="121921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1020075"/>
                <a:gridCol w="2761500"/>
                <a:gridCol w="528470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n = 100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100 comparaisons</a:t>
                      </a:r>
                      <a:endParaRPr sz="18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/>
                        <a:t>n = 100 </a:t>
                      </a:r>
                      <a:r>
                        <a:rPr lang="fr-FR" sz="1400" dirty="0" smtClean="0"/>
                        <a:t>-&gt;1 </a:t>
                      </a:r>
                      <a:r>
                        <a:rPr lang="fr-FR" sz="1400" dirty="0"/>
                        <a:t>comparaison, n </a:t>
                      </a:r>
                      <a:r>
                        <a:rPr lang="fr-FR" sz="1400" dirty="0" smtClean="0"/>
                        <a:t>-&gt; </a:t>
                      </a:r>
                      <a:r>
                        <a:rPr lang="fr-FR" sz="1400" dirty="0"/>
                        <a:t>50 🡺 1 comparaison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/>
                        <a:t>n = 25 </a:t>
                      </a:r>
                      <a:r>
                        <a:rPr lang="fr-FR" sz="1400" dirty="0" smtClean="0"/>
                        <a:t>-&gt;1 </a:t>
                      </a:r>
                      <a:r>
                        <a:rPr lang="fr-FR" sz="1400" dirty="0"/>
                        <a:t>comparaison, n = 13 </a:t>
                      </a:r>
                      <a:r>
                        <a:rPr lang="fr-FR" sz="1400" dirty="0" smtClean="0"/>
                        <a:t>-&gt;1 </a:t>
                      </a:r>
                      <a:r>
                        <a:rPr lang="fr-FR" sz="1400" dirty="0"/>
                        <a:t>comparaison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/>
                        <a:t>n = 7 </a:t>
                      </a:r>
                      <a:r>
                        <a:rPr lang="fr-FR" sz="1400" dirty="0" smtClean="0"/>
                        <a:t>-&gt;1 </a:t>
                      </a:r>
                      <a:r>
                        <a:rPr lang="fr-FR" sz="1400" dirty="0"/>
                        <a:t>comparaison, n = 4 </a:t>
                      </a:r>
                      <a:r>
                        <a:rPr lang="fr-FR" sz="1400" dirty="0" smtClean="0"/>
                        <a:t>-&gt; </a:t>
                      </a:r>
                      <a:r>
                        <a:rPr lang="fr-FR" sz="1400" dirty="0"/>
                        <a:t>1 comparaison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/>
                        <a:t>n = 2 </a:t>
                      </a:r>
                      <a:r>
                        <a:rPr lang="fr-FR" sz="1400" dirty="0" smtClean="0"/>
                        <a:t>-&gt; </a:t>
                      </a:r>
                      <a:r>
                        <a:rPr lang="fr-FR" sz="1400" dirty="0"/>
                        <a:t>1 comparaison n = 1 </a:t>
                      </a:r>
                      <a:r>
                        <a:rPr lang="fr-FR" sz="1400" dirty="0" smtClean="0"/>
                        <a:t>-&gt; </a:t>
                      </a:r>
                      <a:r>
                        <a:rPr lang="fr-FR" sz="1400" dirty="0"/>
                        <a:t>1 comparaison     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(En total 8 comparaisons)</a:t>
                      </a:r>
                      <a:endParaRPr sz="1800" dirty="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334" name="Google Shape;334;p19"/>
          <p:cNvGraphicFramePr/>
          <p:nvPr/>
        </p:nvGraphicFramePr>
        <p:xfrm>
          <a:off x="223521" y="5754261"/>
          <a:ext cx="9066275" cy="37085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1001775"/>
                <a:gridCol w="2761500"/>
                <a:gridCol w="530300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n = 400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400 comparaisons</a:t>
                      </a:r>
                      <a:endParaRPr sz="18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10 comparaisons</a:t>
                      </a:r>
                      <a:endParaRPr sz="18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335" name="Google Shape;335;p19"/>
          <p:cNvGraphicFramePr/>
          <p:nvPr/>
        </p:nvGraphicFramePr>
        <p:xfrm>
          <a:off x="223519" y="6184650"/>
          <a:ext cx="9066250" cy="37085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1016425"/>
                <a:gridCol w="2750050"/>
                <a:gridCol w="52997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n = 6400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6400 comparaisons</a:t>
                      </a:r>
                      <a:endParaRPr sz="18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14 comparaisons</a:t>
                      </a:r>
                      <a:endParaRPr sz="18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"/>
          <p:cNvSpPr txBox="1"/>
          <p:nvPr/>
        </p:nvSpPr>
        <p:spPr>
          <a:xfrm>
            <a:off x="723264" y="266820"/>
            <a:ext cx="961343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de complexité (1/3)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19</a:t>
            </a:fld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723262" y="1582341"/>
            <a:ext cx="11316338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algorithmes usuels peuvent être classés en un certain nombre de grandes classes de complexité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lang="fr-FR" sz="2400" b="1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O(log(n))</a:t>
            </a:r>
            <a:r>
              <a:rPr lang="fr-FR" sz="2400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Les algorithmes sub-linéaires dont la complexité est en général en </a:t>
            </a:r>
            <a:r>
              <a:rPr lang="fr-FR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(log(</a:t>
            </a:r>
            <a:r>
              <a:rPr lang="fr-FR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n)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lang="fr-FR" sz="2400" b="1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O(n) 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Les algorithmes linéaires en complexité </a:t>
            </a:r>
            <a:r>
              <a:rPr lang="fr-FR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fr-FR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lang="fr-FR" sz="2400" b="1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O(nlog(n))</a:t>
            </a:r>
            <a:r>
              <a:rPr lang="fr-FR" sz="2400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et ceux en complexité en </a:t>
            </a:r>
            <a:r>
              <a:rPr lang="fr-FR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fr-FR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log(</a:t>
            </a:r>
            <a:r>
              <a:rPr lang="fr-FR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n)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lang="fr-FR" sz="2400" b="1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fr-FR" sz="24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fr-FR" sz="2400" b="1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fr-FR" sz="2400" b="1" i="1" baseline="30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fr-FR" sz="24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fr-FR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Les algorithmes polynomiaux en </a:t>
            </a:r>
            <a:r>
              <a:rPr lang="fr-FR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fr-FR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fr-FR" sz="2400" i="1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pour </a:t>
            </a:r>
            <a:r>
              <a:rPr lang="fr-FR" sz="24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1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lang="fr-FR" sz="2400" b="1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O(a</a:t>
            </a:r>
            <a:r>
              <a:rPr lang="fr-FR" sz="2400" b="1" i="1" baseline="30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fr-FR" sz="2400" b="1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fr-FR" sz="2400" i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Les algorithmes exponentiels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trois premières classes sont considérées rapides alors que la quatrième est considérée lente et la cinquième classe est considérée impraticable.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"/>
          <p:cNvSpPr txBox="1"/>
          <p:nvPr/>
        </p:nvSpPr>
        <p:spPr>
          <a:xfrm>
            <a:off x="723264" y="293324"/>
            <a:ext cx="961343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de complexité (2/3)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20</a:t>
            </a:fld>
            <a:endParaRPr/>
          </a:p>
        </p:txBody>
      </p:sp>
      <p:graphicFrame>
        <p:nvGraphicFramePr>
          <p:cNvPr id="349" name="Google Shape;349;p21"/>
          <p:cNvGraphicFramePr/>
          <p:nvPr/>
        </p:nvGraphicFramePr>
        <p:xfrm>
          <a:off x="2912898" y="999072"/>
          <a:ext cx="7738525" cy="5706350"/>
        </p:xfrm>
        <a:graphic>
          <a:graphicData uri="http://schemas.openxmlformats.org/drawingml/2006/table">
            <a:tbl>
              <a:tblPr>
                <a:noFill/>
                <a:tableStyleId>{98983071-16E4-43CF-85F6-2175B53A34CB}</a:tableStyleId>
              </a:tblPr>
              <a:tblGrid>
                <a:gridCol w="947575"/>
                <a:gridCol w="947575"/>
                <a:gridCol w="947575"/>
                <a:gridCol w="947575"/>
                <a:gridCol w="947575"/>
                <a:gridCol w="947575"/>
                <a:gridCol w="947575"/>
                <a:gridCol w="1105500"/>
              </a:tblGrid>
              <a:tr h="24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log</a:t>
                      </a:r>
                      <a:r>
                        <a:rPr lang="fr-FR" sz="1200" b="1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fr-FR" sz="1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(n)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nlog</a:t>
                      </a:r>
                      <a:r>
                        <a:rPr lang="fr-FR" sz="1200" b="1" baseline="-250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fr-FR" sz="1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(n)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fr-FR" sz="1200" b="1" baseline="300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fr-FR" sz="1200" b="1" baseline="300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fr-FR" sz="1200" b="1" baseline="300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exp(n)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0,00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0,00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1,00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2,00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1,58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4,75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81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2,00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8,00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256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55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2,32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11,61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125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625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148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2,58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15,51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216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1296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403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2,81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19,65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343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2401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1097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3,00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24,00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512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4096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2981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3,17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28,53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81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729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6561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8103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3,32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33,22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10000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22026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3,46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38,05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121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1331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14641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59874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3,58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43,02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144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1728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20736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162755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3,70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48,11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169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2197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28561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442413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3,81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53,30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196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2744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38416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1202604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3,91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58,60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225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3375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50625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3269017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4,00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64,00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256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4096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65536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8886111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4,09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69,49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289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4913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83521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24154953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4,17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75,06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324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5832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104976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65659969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62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4,25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80,71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361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6859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130321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178482301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62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4,32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86,44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8000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160000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485165195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425" marR="39425" marT="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50" name="Google Shape;350;p21"/>
          <p:cNvSpPr/>
          <p:nvPr/>
        </p:nvSpPr>
        <p:spPr>
          <a:xfrm>
            <a:off x="2912898" y="6238853"/>
            <a:ext cx="7738536" cy="466748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2912898" y="1237883"/>
            <a:ext cx="7738536" cy="261733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"/>
          <p:cNvSpPr txBox="1"/>
          <p:nvPr/>
        </p:nvSpPr>
        <p:spPr>
          <a:xfrm>
            <a:off x="723264" y="293324"/>
            <a:ext cx="961343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de complexité (3/3)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21</a:t>
            </a:fld>
            <a:endParaRPr/>
          </a:p>
        </p:txBody>
      </p:sp>
      <p:sp>
        <p:nvSpPr>
          <p:cNvPr id="358" name="Google Shape;358;p2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p22"/>
          <p:cNvGrpSpPr/>
          <p:nvPr/>
        </p:nvGrpSpPr>
        <p:grpSpPr>
          <a:xfrm>
            <a:off x="1252299" y="829224"/>
            <a:ext cx="10146780" cy="5923495"/>
            <a:chOff x="1843" y="125"/>
            <a:chExt cx="9129" cy="6564"/>
          </a:xfrm>
        </p:grpSpPr>
        <p:cxnSp>
          <p:nvCxnSpPr>
            <p:cNvPr id="360" name="Google Shape;360;p22"/>
            <p:cNvCxnSpPr/>
            <p:nvPr/>
          </p:nvCxnSpPr>
          <p:spPr>
            <a:xfrm rot="10800000" flipH="1">
              <a:off x="2371" y="790"/>
              <a:ext cx="1" cy="5899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1" name="Google Shape;361;p22"/>
            <p:cNvSpPr/>
            <p:nvPr/>
          </p:nvSpPr>
          <p:spPr>
            <a:xfrm>
              <a:off x="2710" y="5362"/>
              <a:ext cx="7803" cy="901"/>
            </a:xfrm>
            <a:custGeom>
              <a:avLst/>
              <a:gdLst/>
              <a:ahLst/>
              <a:cxnLst/>
              <a:rect l="l" t="t" r="r" b="b"/>
              <a:pathLst>
                <a:path w="7803" h="2278" extrusionOk="0">
                  <a:moveTo>
                    <a:pt x="0" y="2278"/>
                  </a:moveTo>
                  <a:cubicBezTo>
                    <a:pt x="871" y="1589"/>
                    <a:pt x="1743" y="901"/>
                    <a:pt x="3043" y="521"/>
                  </a:cubicBezTo>
                  <a:cubicBezTo>
                    <a:pt x="4343" y="141"/>
                    <a:pt x="6073" y="70"/>
                    <a:pt x="7803" y="0"/>
                  </a:cubicBezTo>
                </a:path>
              </a:pathLst>
            </a:custGeom>
            <a:noFill/>
            <a:ln w="38100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2" name="Google Shape;362;p22"/>
            <p:cNvCxnSpPr/>
            <p:nvPr/>
          </p:nvCxnSpPr>
          <p:spPr>
            <a:xfrm rot="10800000" flipH="1">
              <a:off x="2744" y="2897"/>
              <a:ext cx="4795" cy="3092"/>
            </a:xfrm>
            <a:prstGeom prst="straightConnector1">
              <a:avLst/>
            </a:pr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3" name="Google Shape;363;p22"/>
            <p:cNvSpPr/>
            <p:nvPr/>
          </p:nvSpPr>
          <p:spPr>
            <a:xfrm>
              <a:off x="2404" y="1011"/>
              <a:ext cx="3740" cy="4487"/>
            </a:xfrm>
            <a:custGeom>
              <a:avLst/>
              <a:gdLst/>
              <a:ahLst/>
              <a:cxnLst/>
              <a:rect l="l" t="t" r="r" b="b"/>
              <a:pathLst>
                <a:path w="3740" h="4488" extrusionOk="0">
                  <a:moveTo>
                    <a:pt x="0" y="4488"/>
                  </a:moveTo>
                  <a:cubicBezTo>
                    <a:pt x="513" y="4301"/>
                    <a:pt x="1026" y="4114"/>
                    <a:pt x="1649" y="3366"/>
                  </a:cubicBezTo>
                  <a:cubicBezTo>
                    <a:pt x="2272" y="2618"/>
                    <a:pt x="3006" y="1309"/>
                    <a:pt x="3740" y="0"/>
                  </a:cubicBezTo>
                </a:path>
              </a:pathLst>
            </a:custGeom>
            <a:noFill/>
            <a:ln w="38100" cap="flat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2659" y="2167"/>
              <a:ext cx="4624" cy="3807"/>
            </a:xfrm>
            <a:custGeom>
              <a:avLst/>
              <a:gdLst/>
              <a:ahLst/>
              <a:cxnLst/>
              <a:rect l="l" t="t" r="r" b="b"/>
              <a:pathLst>
                <a:path w="4692" h="3468" extrusionOk="0">
                  <a:moveTo>
                    <a:pt x="0" y="3468"/>
                  </a:moveTo>
                  <a:cubicBezTo>
                    <a:pt x="272" y="3204"/>
                    <a:pt x="544" y="2941"/>
                    <a:pt x="1326" y="2363"/>
                  </a:cubicBezTo>
                  <a:cubicBezTo>
                    <a:pt x="2108" y="1785"/>
                    <a:pt x="3400" y="892"/>
                    <a:pt x="4692" y="0"/>
                  </a:cubicBezTo>
                </a:path>
              </a:pathLst>
            </a:custGeom>
            <a:noFill/>
            <a:ln w="38100" cap="flat" cmpd="sng">
              <a:solidFill>
                <a:srgbClr val="33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2387" y="756"/>
              <a:ext cx="2958" cy="4708"/>
            </a:xfrm>
            <a:custGeom>
              <a:avLst/>
              <a:gdLst/>
              <a:ahLst/>
              <a:cxnLst/>
              <a:rect l="l" t="t" r="r" b="b"/>
              <a:pathLst>
                <a:path w="3740" h="4488" extrusionOk="0">
                  <a:moveTo>
                    <a:pt x="0" y="4488"/>
                  </a:moveTo>
                  <a:cubicBezTo>
                    <a:pt x="513" y="4301"/>
                    <a:pt x="1026" y="4114"/>
                    <a:pt x="1649" y="3366"/>
                  </a:cubicBezTo>
                  <a:cubicBezTo>
                    <a:pt x="2272" y="2618"/>
                    <a:pt x="3006" y="1309"/>
                    <a:pt x="3740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2422" y="567"/>
              <a:ext cx="1240" cy="4829"/>
            </a:xfrm>
            <a:custGeom>
              <a:avLst/>
              <a:gdLst/>
              <a:ahLst/>
              <a:cxnLst/>
              <a:rect l="l" t="t" r="r" b="b"/>
              <a:pathLst>
                <a:path w="3740" h="4488" extrusionOk="0">
                  <a:moveTo>
                    <a:pt x="0" y="4488"/>
                  </a:moveTo>
                  <a:cubicBezTo>
                    <a:pt x="513" y="4301"/>
                    <a:pt x="1026" y="4114"/>
                    <a:pt x="1649" y="3366"/>
                  </a:cubicBezTo>
                  <a:cubicBezTo>
                    <a:pt x="2272" y="2618"/>
                    <a:pt x="3006" y="1309"/>
                    <a:pt x="3740" y="0"/>
                  </a:cubicBezTo>
                </a:path>
              </a:pathLst>
            </a:custGeom>
            <a:noFill/>
            <a:ln w="38100" cap="flat" cmpd="sng">
              <a:solidFill>
                <a:srgbClr val="FF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7" name="Google Shape;367;p22"/>
            <p:cNvCxnSpPr/>
            <p:nvPr/>
          </p:nvCxnSpPr>
          <p:spPr>
            <a:xfrm>
              <a:off x="1843" y="6297"/>
              <a:ext cx="9061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8" name="Google Shape;368;p22"/>
            <p:cNvSpPr txBox="1"/>
            <p:nvPr/>
          </p:nvSpPr>
          <p:spPr>
            <a:xfrm>
              <a:off x="10446" y="5890"/>
              <a:ext cx="526" cy="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2"/>
            <p:cNvSpPr txBox="1"/>
            <p:nvPr/>
          </p:nvSpPr>
          <p:spPr>
            <a:xfrm>
              <a:off x="2473" y="892"/>
              <a:ext cx="849" cy="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T(n)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2"/>
            <p:cNvSpPr txBox="1"/>
            <p:nvPr/>
          </p:nvSpPr>
          <p:spPr>
            <a:xfrm>
              <a:off x="8966" y="4871"/>
              <a:ext cx="119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Log(n)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2"/>
            <p:cNvSpPr txBox="1"/>
            <p:nvPr/>
          </p:nvSpPr>
          <p:spPr>
            <a:xfrm>
              <a:off x="7300" y="1689"/>
              <a:ext cx="1513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n.Log(n)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2"/>
            <p:cNvSpPr txBox="1"/>
            <p:nvPr/>
          </p:nvSpPr>
          <p:spPr>
            <a:xfrm>
              <a:off x="7555" y="2590"/>
              <a:ext cx="119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2"/>
            <p:cNvSpPr txBox="1"/>
            <p:nvPr/>
          </p:nvSpPr>
          <p:spPr>
            <a:xfrm>
              <a:off x="5957" y="618"/>
              <a:ext cx="68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fr-FR" sz="1100" b="0" i="0" u="none" strike="noStrike" cap="none" baseline="30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2"/>
            <p:cNvSpPr txBox="1"/>
            <p:nvPr/>
          </p:nvSpPr>
          <p:spPr>
            <a:xfrm>
              <a:off x="5056" y="448"/>
              <a:ext cx="68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fr-FR" sz="1100" b="0" i="0" u="none" strike="noStrike" cap="none" baseline="30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2"/>
            <p:cNvSpPr txBox="1"/>
            <p:nvPr/>
          </p:nvSpPr>
          <p:spPr>
            <a:xfrm>
              <a:off x="3628" y="125"/>
              <a:ext cx="68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lang="fr-FR" sz="1100" b="0" i="0" u="none" strike="noStrike" cap="none" baseline="30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2"/>
            <p:cNvSpPr txBox="1"/>
            <p:nvPr/>
          </p:nvSpPr>
          <p:spPr>
            <a:xfrm>
              <a:off x="6236" y="677"/>
              <a:ext cx="2499" cy="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Quadratique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2"/>
            <p:cNvSpPr txBox="1"/>
            <p:nvPr/>
          </p:nvSpPr>
          <p:spPr>
            <a:xfrm>
              <a:off x="2793" y="170"/>
              <a:ext cx="1036" cy="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fr-FR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Exponentielle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"/>
          <p:cNvSpPr txBox="1"/>
          <p:nvPr/>
        </p:nvSpPr>
        <p:spPr>
          <a:xfrm>
            <a:off x="723264" y="293324"/>
            <a:ext cx="961343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 : Valeur d’un polynôme (1/3)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22</a:t>
            </a:fld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723264" y="918958"/>
            <a:ext cx="10991658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voudrait élaborer un algorithme permettant de calculer pour une valeur X donnée de type REAL la valeur numérique d'un polynôme de degré n: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P(X) = a</a:t>
            </a:r>
            <a:r>
              <a:rPr lang="fr-FR" sz="18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lang="fr-FR" sz="18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... + a</a:t>
            </a:r>
            <a:r>
              <a:rPr lang="fr-FR" sz="18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+ a</a:t>
            </a:r>
            <a:r>
              <a:rPr lang="fr-FR" sz="18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4"/>
          <p:cNvSpPr txBox="1"/>
          <p:nvPr/>
        </p:nvSpPr>
        <p:spPr>
          <a:xfrm>
            <a:off x="735491" y="2807560"/>
            <a:ext cx="3637726" cy="2031325"/>
          </a:xfrm>
          <a:prstGeom prst="rect">
            <a:avLst/>
          </a:prstGeom>
          <a:solidFill>
            <a:srgbClr val="F7CAA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Algo1(a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x, 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P=0 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for k=0 to n 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 = P+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*Puissance (x, k)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endfor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 txBox="1"/>
          <p:nvPr/>
        </p:nvSpPr>
        <p:spPr>
          <a:xfrm>
            <a:off x="715615" y="2266122"/>
            <a:ext cx="293535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Algorithme 1 (trivial)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735491" y="4996136"/>
            <a:ext cx="3637726" cy="1754326"/>
          </a:xfrm>
          <a:prstGeom prst="rect">
            <a:avLst/>
          </a:prstGeom>
          <a:solidFill>
            <a:srgbClr val="F7CAA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Puissance (x, k)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P=1 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for j=1 to k do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= P*x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endfor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9" name="Google Shape;389;p24"/>
          <p:cNvGraphicFramePr/>
          <p:nvPr/>
        </p:nvGraphicFramePr>
        <p:xfrm>
          <a:off x="6079362" y="1865740"/>
          <a:ext cx="4283775" cy="36577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1427925"/>
                <a:gridCol w="1427925"/>
                <a:gridCol w="1427925"/>
              </a:tblGrid>
              <a:tr h="237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(+)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(*)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Puissance (*)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390" name="Google Shape;390;p24"/>
          <p:cNvGraphicFramePr/>
          <p:nvPr/>
        </p:nvGraphicFramePr>
        <p:xfrm>
          <a:off x="5143497" y="2310689"/>
          <a:ext cx="5219625" cy="37085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957275"/>
                <a:gridCol w="1385875"/>
                <a:gridCol w="1443050"/>
                <a:gridCol w="143342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k = 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391" name="Google Shape;391;p24"/>
          <p:cNvGraphicFramePr/>
          <p:nvPr/>
        </p:nvGraphicFramePr>
        <p:xfrm>
          <a:off x="5143489" y="2754637"/>
          <a:ext cx="5219625" cy="37085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942975"/>
                <a:gridCol w="1385900"/>
                <a:gridCol w="1485900"/>
                <a:gridCol w="14048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k = 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392" name="Google Shape;392;p24"/>
          <p:cNvGraphicFramePr/>
          <p:nvPr/>
        </p:nvGraphicFramePr>
        <p:xfrm>
          <a:off x="5143489" y="3190924"/>
          <a:ext cx="5219625" cy="37085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957275"/>
                <a:gridCol w="1371600"/>
                <a:gridCol w="1500175"/>
                <a:gridCol w="13905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k = 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393" name="Google Shape;393;p24"/>
          <p:cNvGraphicFramePr/>
          <p:nvPr/>
        </p:nvGraphicFramePr>
        <p:xfrm>
          <a:off x="5143487" y="3634870"/>
          <a:ext cx="5219650" cy="37085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943000"/>
                <a:gridCol w="1371600"/>
                <a:gridCol w="1500200"/>
                <a:gridCol w="14048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k = 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394" name="Google Shape;394;p24"/>
          <p:cNvGraphicFramePr/>
          <p:nvPr/>
        </p:nvGraphicFramePr>
        <p:xfrm>
          <a:off x="5143485" y="4363534"/>
          <a:ext cx="5219650" cy="37085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914425"/>
                <a:gridCol w="1385900"/>
                <a:gridCol w="1528750"/>
                <a:gridCol w="1390575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k = 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n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95" name="Google Shape;395;p24"/>
          <p:cNvSpPr txBox="1"/>
          <p:nvPr/>
        </p:nvSpPr>
        <p:spPr>
          <a:xfrm rot="5400000">
            <a:off x="5416114" y="4062104"/>
            <a:ext cx="3708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aphicFrame>
        <p:nvGraphicFramePr>
          <p:cNvPr id="396" name="Google Shape;396;p24"/>
          <p:cNvGraphicFramePr/>
          <p:nvPr/>
        </p:nvGraphicFramePr>
        <p:xfrm>
          <a:off x="5143485" y="4830189"/>
          <a:ext cx="5229225" cy="640090"/>
        </p:xfrm>
        <a:graphic>
          <a:graphicData uri="http://schemas.openxmlformats.org/drawingml/2006/table">
            <a:tbl>
              <a:tblPr firstRow="1" bandRow="1">
                <a:noFill/>
                <a:tableStyleId>{823149B8-20D5-4DEA-82EE-BA338EF78C8E}</a:tableStyleId>
              </a:tblPr>
              <a:tblGrid>
                <a:gridCol w="901775"/>
                <a:gridCol w="1402750"/>
                <a:gridCol w="1531575"/>
                <a:gridCol w="1393125"/>
              </a:tblGrid>
              <a:tr h="59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En total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n+1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n+1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97" name="Google Shape;397;p24"/>
          <p:cNvSpPr txBox="1"/>
          <p:nvPr/>
        </p:nvSpPr>
        <p:spPr>
          <a:xfrm rot="5400000">
            <a:off x="6711518" y="4071624"/>
            <a:ext cx="3708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 rot="5400000">
            <a:off x="8005257" y="4071409"/>
            <a:ext cx="3708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399" name="Google Shape;399;p24"/>
          <p:cNvSpPr txBox="1"/>
          <p:nvPr/>
        </p:nvSpPr>
        <p:spPr>
          <a:xfrm rot="5400000">
            <a:off x="9419905" y="4059134"/>
            <a:ext cx="3708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1645920" y="3945812"/>
            <a:ext cx="2468881" cy="306148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 txBox="1"/>
          <p:nvPr/>
        </p:nvSpPr>
        <p:spPr>
          <a:xfrm>
            <a:off x="10409301" y="2716120"/>
            <a:ext cx="1666875" cy="19816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1845" b="-18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02" name="Google Shape;402;p24"/>
          <p:cNvSpPr txBox="1"/>
          <p:nvPr/>
        </p:nvSpPr>
        <p:spPr>
          <a:xfrm>
            <a:off x="8162290" y="5972417"/>
            <a:ext cx="7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O(n</a:t>
            </a:r>
            <a:r>
              <a:rPr lang="fr-FR" sz="2000" b="1" baseline="30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fr-FR" sz="2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cxnSp>
        <p:nvCxnSpPr>
          <p:cNvPr id="403" name="Google Shape;403;p24"/>
          <p:cNvCxnSpPr>
            <a:endCxn id="401" idx="0"/>
          </p:cNvCxnSpPr>
          <p:nvPr/>
        </p:nvCxnSpPr>
        <p:spPr>
          <a:xfrm rot="-5400000">
            <a:off x="9602938" y="3485920"/>
            <a:ext cx="2409600" cy="870000"/>
          </a:xfrm>
          <a:prstGeom prst="bentConnector4">
            <a:avLst>
              <a:gd name="adj1" fmla="val 4"/>
              <a:gd name="adj2" fmla="val -2"/>
            </a:avLst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4" name="Google Shape;404;p24"/>
          <p:cNvSpPr/>
          <p:nvPr/>
        </p:nvSpPr>
        <p:spPr>
          <a:xfrm>
            <a:off x="7661391" y="6041522"/>
            <a:ext cx="344700" cy="261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2706250" y="6350275"/>
            <a:ext cx="607800" cy="3651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O(k)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"/>
          <p:cNvSpPr txBox="1"/>
          <p:nvPr/>
        </p:nvSpPr>
        <p:spPr>
          <a:xfrm>
            <a:off x="723264" y="293324"/>
            <a:ext cx="961343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 3: Valeur d’un polynôme (2/3)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23</a:t>
            </a:fld>
            <a:endParaRPr/>
          </a:p>
        </p:txBody>
      </p:sp>
      <p:sp>
        <p:nvSpPr>
          <p:cNvPr id="412" name="Google Shape;412;p2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723264" y="918958"/>
            <a:ext cx="10991658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voudrait élaborer un algorithme permettant de calculer pour une valeur X donnée de type REAL la valeur numérique d'un polynôme de degré n: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P(X) = a</a:t>
            </a:r>
            <a:r>
              <a:rPr lang="fr-FR" sz="18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lang="fr-FR" sz="18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... + a</a:t>
            </a:r>
            <a:r>
              <a:rPr lang="fr-FR" sz="18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+ a</a:t>
            </a:r>
            <a:r>
              <a:rPr lang="fr-FR" sz="18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5"/>
          <p:cNvSpPr txBox="1"/>
          <p:nvPr/>
        </p:nvSpPr>
        <p:spPr>
          <a:xfrm>
            <a:off x="471290" y="3335979"/>
            <a:ext cx="3637726" cy="2308324"/>
          </a:xfrm>
          <a:prstGeom prst="rect">
            <a:avLst/>
          </a:prstGeom>
          <a:solidFill>
            <a:srgbClr val="F7CAA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Algo2(a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x, 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P0=1 ; P =0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for K=0 to n 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 = P+ P0*a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P0 = P0 * 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endfor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 txBox="1"/>
          <p:nvPr/>
        </p:nvSpPr>
        <p:spPr>
          <a:xfrm>
            <a:off x="715614" y="2266122"/>
            <a:ext cx="339340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Algorithme 2 (sans puissance)</a:t>
            </a:r>
            <a:endParaRPr/>
          </a:p>
        </p:txBody>
      </p:sp>
      <p:sp>
        <p:nvSpPr>
          <p:cNvPr id="416" name="Google Shape;416;p25"/>
          <p:cNvSpPr/>
          <p:nvPr/>
        </p:nvSpPr>
        <p:spPr>
          <a:xfrm>
            <a:off x="1282770" y="4457876"/>
            <a:ext cx="1460431" cy="283288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</a:t>
            </a:r>
            <a:endParaRPr/>
          </a:p>
        </p:txBody>
      </p:sp>
      <p:sp>
        <p:nvSpPr>
          <p:cNvPr id="417" name="Google Shape;417;p25"/>
          <p:cNvSpPr txBox="1"/>
          <p:nvPr/>
        </p:nvSpPr>
        <p:spPr>
          <a:xfrm>
            <a:off x="5238417" y="3725501"/>
            <a:ext cx="1961351" cy="10156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(n+1)         (+ 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(n+1)         (*)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(n+1)         (*)</a:t>
            </a:r>
            <a:endParaRPr/>
          </a:p>
        </p:txBody>
      </p:sp>
      <p:sp>
        <p:nvSpPr>
          <p:cNvPr id="418" name="Google Shape;418;p25"/>
          <p:cNvSpPr txBox="1"/>
          <p:nvPr/>
        </p:nvSpPr>
        <p:spPr>
          <a:xfrm>
            <a:off x="7792610" y="3725500"/>
            <a:ext cx="3417934" cy="10156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O(n)       (+)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O(n)       (*)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O(n)      (*)</a:t>
            </a:r>
            <a:endParaRPr sz="20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9089689" y="3716432"/>
            <a:ext cx="369332" cy="907255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 txBox="1"/>
          <p:nvPr/>
        </p:nvSpPr>
        <p:spPr>
          <a:xfrm>
            <a:off x="9515670" y="3989635"/>
            <a:ext cx="169487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O(3n) ≈ O(n)</a:t>
            </a:r>
            <a:endParaRPr sz="2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 txBox="1"/>
          <p:nvPr/>
        </p:nvSpPr>
        <p:spPr>
          <a:xfrm>
            <a:off x="686688" y="2679976"/>
            <a:ext cx="47997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Mémoriser l’ancienne valeur de la puissance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6"/>
          <p:cNvSpPr txBox="1"/>
          <p:nvPr/>
        </p:nvSpPr>
        <p:spPr>
          <a:xfrm>
            <a:off x="723264" y="293324"/>
            <a:ext cx="961343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 : Valeur d’un polynôme (3/3)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24</a:t>
            </a:fld>
            <a:endParaRPr/>
          </a:p>
        </p:txBody>
      </p:sp>
      <p:sp>
        <p:nvSpPr>
          <p:cNvPr id="428" name="Google Shape;428;p2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723264" y="918958"/>
            <a:ext cx="10991658" cy="320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voudrait élaborer un algorithme permettant de calculer pour une valeur X donnée de type REAL la valeur numérique d'un polynôme de degré n: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P(X) = a</a:t>
            </a:r>
            <a:r>
              <a:rPr lang="fr-FR" sz="18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lang="fr-FR" sz="18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... + a</a:t>
            </a:r>
            <a:r>
              <a:rPr lang="fr-FR" sz="18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+ a</a:t>
            </a:r>
            <a:r>
              <a:rPr lang="fr-FR" sz="18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…. Peut-on faire mieux 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fr-F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6"/>
          <p:cNvSpPr txBox="1"/>
          <p:nvPr/>
        </p:nvSpPr>
        <p:spPr>
          <a:xfrm>
            <a:off x="7896097" y="2261362"/>
            <a:ext cx="3637726" cy="2031325"/>
          </a:xfrm>
          <a:prstGeom prst="rect">
            <a:avLst/>
          </a:prstGeom>
          <a:solidFill>
            <a:srgbClr val="F7CAA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Algo3(a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x, 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= a</a:t>
            </a:r>
            <a:r>
              <a:rPr lang="fr-FR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k = n-1 to 0 step –1 do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 = P*X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endfor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 txBox="1"/>
          <p:nvPr/>
        </p:nvSpPr>
        <p:spPr>
          <a:xfrm>
            <a:off x="715614" y="2719561"/>
            <a:ext cx="401861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Algorithme 3 (schéma de Horner)</a:t>
            </a:r>
            <a:endParaRPr/>
          </a:p>
        </p:txBody>
      </p:sp>
      <p:sp>
        <p:nvSpPr>
          <p:cNvPr id="432" name="Google Shape;432;p26"/>
          <p:cNvSpPr txBox="1"/>
          <p:nvPr/>
        </p:nvSpPr>
        <p:spPr>
          <a:xfrm>
            <a:off x="574899" y="3202382"/>
            <a:ext cx="9308633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= n      🡺  P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= n-1   🡺  P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fr-FR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*x + a</a:t>
            </a:r>
            <a:r>
              <a:rPr lang="fr-FR" sz="1800" baseline="-250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= n-2  🡺   P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=(a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 </a:t>
            </a:r>
            <a:r>
              <a:rPr lang="fr-FR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*x+a</a:t>
            </a:r>
            <a:r>
              <a:rPr lang="fr-FR" sz="1800" baseline="-250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n-2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= n-3  🡺   P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n-2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fr-FR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*x+a</a:t>
            </a:r>
            <a:r>
              <a:rPr lang="fr-FR" sz="1800" baseline="-250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n-3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n-2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= 0      🡺   P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=(a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n-2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n-2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n-3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……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fr-FR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*x+a</a:t>
            </a:r>
            <a:r>
              <a:rPr lang="fr-FR" sz="1800" baseline="-250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fr-FR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n-2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fr-FR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n-2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……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+ a</a:t>
            </a:r>
            <a:r>
              <a:rPr lang="fr-F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 txBox="1"/>
          <p:nvPr/>
        </p:nvSpPr>
        <p:spPr>
          <a:xfrm rot="5400000">
            <a:off x="823885" y="5146152"/>
            <a:ext cx="5597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…….</a:t>
            </a:r>
            <a:endParaRPr/>
          </a:p>
        </p:txBody>
      </p:sp>
      <p:sp>
        <p:nvSpPr>
          <p:cNvPr id="434" name="Google Shape;434;p26"/>
          <p:cNvSpPr txBox="1"/>
          <p:nvPr/>
        </p:nvSpPr>
        <p:spPr>
          <a:xfrm>
            <a:off x="8555404" y="4595658"/>
            <a:ext cx="3417934" cy="70788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O(n)       (+)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O(n)       (*)</a:t>
            </a:r>
            <a:endParaRPr/>
          </a:p>
        </p:txBody>
      </p:sp>
      <p:sp>
        <p:nvSpPr>
          <p:cNvPr id="435" name="Google Shape;435;p26"/>
          <p:cNvSpPr/>
          <p:nvPr/>
        </p:nvSpPr>
        <p:spPr>
          <a:xfrm>
            <a:off x="9714960" y="4611697"/>
            <a:ext cx="351597" cy="675807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6"/>
          <p:cNvSpPr txBox="1"/>
          <p:nvPr/>
        </p:nvSpPr>
        <p:spPr>
          <a:xfrm>
            <a:off x="10101434" y="4728005"/>
            <a:ext cx="161348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O(2n) ≈ O(n)</a:t>
            </a:r>
            <a:endParaRPr sz="2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3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9"/>
          <p:cNvSpPr txBox="1"/>
          <p:nvPr/>
        </p:nvSpPr>
        <p:spPr>
          <a:xfrm>
            <a:off x="723265" y="1379220"/>
            <a:ext cx="112452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complexité des algorithmes est une technique pour comparer l’efficacité des </a:t>
            </a:r>
            <a:r>
              <a:rPr lang="fr-FR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algorithmes    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permet de choisir le meilleur algorithme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complexité des algorithmes permet de classifier les problèmes en fonction des performances des meilleurs algorithmes connus qui le résolvent.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peut calculer le coût d’un algorithme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 pire des cas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 meilleur cas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fr-F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 moyen cas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9"/>
          <p:cNvSpPr txBox="1"/>
          <p:nvPr/>
        </p:nvSpPr>
        <p:spPr>
          <a:xfrm>
            <a:off x="723264" y="621665"/>
            <a:ext cx="9613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25</a:t>
            </a:fld>
            <a:endParaRPr/>
          </a:p>
        </p:txBody>
      </p:sp>
      <p:cxnSp>
        <p:nvCxnSpPr>
          <p:cNvPr id="3" name="Connecteur droit avec flèche 2"/>
          <p:cNvCxnSpPr/>
          <p:nvPr/>
        </p:nvCxnSpPr>
        <p:spPr>
          <a:xfrm>
            <a:off x="2743201" y="2021305"/>
            <a:ext cx="2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4322</TotalTime>
  <Words>1724</Words>
  <Application>Microsoft Office PowerPoint</Application>
  <PresentationFormat>Grand écran</PresentationFormat>
  <Paragraphs>604</Paragraphs>
  <Slides>25</Slides>
  <Notes>25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0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Courier New</vt:lpstr>
      <vt:lpstr>Noto Sans Symbols</vt:lpstr>
      <vt:lpstr>Times New Roman</vt:lpstr>
      <vt:lpstr>Office Theme</vt:lpstr>
      <vt:lpstr>Complexité appliquée à la RO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Calcul du temps d’exécution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RO Complexité</dc:title>
  <dc:creator>HP</dc:creator>
  <cp:lastModifiedBy>Compte Microsoft</cp:lastModifiedBy>
  <cp:revision>11</cp:revision>
  <dcterms:created xsi:type="dcterms:W3CDTF">2020-10-10T17:56:00Z</dcterms:created>
  <dcterms:modified xsi:type="dcterms:W3CDTF">2023-11-02T08:21:30Z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1036-11.2.0.9684</vt:lpwstr>
  </property>
</Properties>
</file>