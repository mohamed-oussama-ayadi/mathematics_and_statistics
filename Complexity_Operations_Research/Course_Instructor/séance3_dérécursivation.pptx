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" roundtripDataSignature="AMtx7miA7NTprU1XyGDmzOtOI5ek/ROb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22646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1785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8703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9664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2450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8406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7593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7879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title"/>
          </p:nvPr>
        </p:nvSpPr>
        <p:spPr>
          <a:xfrm>
            <a:off x="1202266" y="365125"/>
            <a:ext cx="101515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400"/>
              <a:buFont typeface="Calibri"/>
              <a:buNone/>
              <a:defRPr b="1">
                <a:solidFill>
                  <a:srgbClr val="CC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C:\Users\esprit\Downloads\logo-esprit--new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492" y="0"/>
            <a:ext cx="1726510" cy="12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"/>
          <p:cNvSpPr txBox="1">
            <a:spLocks noGrp="1"/>
          </p:cNvSpPr>
          <p:nvPr>
            <p:ph type="title"/>
          </p:nvPr>
        </p:nvSpPr>
        <p:spPr>
          <a:xfrm>
            <a:off x="1021080" y="2255520"/>
            <a:ext cx="10515600" cy="2270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ct val="100000"/>
              <a:buFont typeface="Calibri"/>
              <a:buNone/>
            </a:pPr>
            <a:r>
              <a:rPr lang="fr-FR" sz="4000" b="1"/>
              <a:t>Chapitre</a:t>
            </a:r>
            <a:r>
              <a:rPr lang="fr-FR" sz="4000"/>
              <a:t> 3</a:t>
            </a:r>
            <a:r>
              <a:rPr lang="fr-FR" sz="4000" b="1"/>
              <a:t> </a:t>
            </a:r>
            <a:br>
              <a:rPr lang="fr-FR" sz="4000" b="1"/>
            </a:br>
            <a:r>
              <a:rPr lang="fr-FR" sz="6000" b="1"/>
              <a:t/>
            </a:r>
            <a:br>
              <a:rPr lang="fr-FR" sz="6000" b="1"/>
            </a:br>
            <a:r>
              <a:rPr lang="fr-FR" sz="6000" b="1"/>
              <a:t> Complexité des algorithmes récursifs et la dérécursivation</a:t>
            </a:r>
            <a:endParaRPr sz="6000" b="1"/>
          </a:p>
        </p:txBody>
      </p:sp>
      <p:sp>
        <p:nvSpPr>
          <p:cNvPr id="91" name="Google Shape;91;p1"/>
          <p:cNvSpPr txBox="1">
            <a:spLocks noGrp="1"/>
          </p:cNvSpPr>
          <p:nvPr>
            <p:ph type="sldNum" idx="12"/>
          </p:nvPr>
        </p:nvSpPr>
        <p:spPr>
          <a:xfrm>
            <a:off x="7443216" y="6118606"/>
            <a:ext cx="422452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</a:rPr>
              <a:t>Année universitaire :2020/2021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xfrm>
            <a:off x="1202266" y="365125"/>
            <a:ext cx="1015153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400"/>
              <a:buFont typeface="Calibri"/>
              <a:buNone/>
            </a:pPr>
            <a:r>
              <a:rPr lang="fr-FR"/>
              <a:t>Plan …</a:t>
            </a:r>
            <a:endParaRPr/>
          </a:p>
        </p:txBody>
      </p:sp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2804160" y="1825625"/>
            <a:ext cx="85496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fr-FR"/>
              <a:t>Dérécursivation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fr-FR"/>
              <a:t>Récursivité terminale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fr-FR"/>
              <a:t>Récursivité non terminale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fr-FR"/>
              <a:t>Complexité des algorithmes récursifs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fr-FR"/>
              <a:t>Récursivité simple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fr-FR"/>
              <a:t>Récursivité multiple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98" name="Google Shape;9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2000" b="1">
                <a:solidFill>
                  <a:schemeClr val="dk1"/>
                </a:solidFill>
              </a:rPr>
              <a:t>3</a:t>
            </a:fld>
            <a:endParaRPr sz="2000" b="1">
              <a:solidFill>
                <a:schemeClr val="dk1"/>
              </a:solidFill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title"/>
          </p:nvPr>
        </p:nvSpPr>
        <p:spPr>
          <a:xfrm>
            <a:off x="1164772" y="365125"/>
            <a:ext cx="1018902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fr-FR" b="1" i="1">
                <a:solidFill>
                  <a:srgbClr val="C00000"/>
                </a:solidFill>
              </a:rPr>
              <a:t>1. Définition et principe</a:t>
            </a:r>
            <a:endParaRPr b="1">
              <a:solidFill>
                <a:srgbClr val="2E75B5"/>
              </a:solidFill>
            </a:endParaRPr>
          </a:p>
        </p:txBody>
      </p:sp>
      <p:sp>
        <p:nvSpPr>
          <p:cNvPr id="106" name="Google Shape;10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1164772" y="2247204"/>
            <a:ext cx="10463348" cy="1449826"/>
          </a:xfrm>
          <a:prstGeom prst="rect">
            <a:avLst/>
          </a:prstGeom>
          <a:noFill/>
          <a:ln w="2857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Dérécursiver, c’est transformer un algorithme récursif en un algorithme équivalent ne contenant pas d’appels récursifs.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1188720" y="365125"/>
            <a:ext cx="10165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fr-FR" i="1">
                <a:solidFill>
                  <a:srgbClr val="C00000"/>
                </a:solidFill>
              </a:rPr>
              <a:t>2</a:t>
            </a:r>
            <a:r>
              <a:rPr lang="fr-FR" b="1" i="1">
                <a:solidFill>
                  <a:srgbClr val="C00000"/>
                </a:solidFill>
              </a:rPr>
              <a:t>. Dérécursivation (récursivité terminale)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80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 b="1"/>
              <a:t>L’algorithme récursif terminal s’écrit : </a:t>
            </a:r>
            <a:endParaRPr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2000"/>
              <a:t>Algorithme P(U)</a:t>
            </a:r>
            <a:endParaRPr sz="2000"/>
          </a:p>
          <a:p>
            <a:pPr marL="22860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2000"/>
              <a:t>If ( </a:t>
            </a:r>
            <a:r>
              <a:rPr lang="fr-FR" sz="2000" i="1"/>
              <a:t>Condition(U) ) </a:t>
            </a:r>
            <a:r>
              <a:rPr lang="fr-FR" sz="2000"/>
              <a:t>Then </a:t>
            </a:r>
            <a:endParaRPr sz="2000"/>
          </a:p>
          <a:p>
            <a:pPr marL="90678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2000" i="1"/>
              <a:t>Traitement_base (U)</a:t>
            </a:r>
            <a:r>
              <a:rPr lang="fr-FR" sz="2000"/>
              <a:t>;</a:t>
            </a:r>
            <a:endParaRPr/>
          </a:p>
          <a:p>
            <a:pPr marL="906780" lvl="1" indent="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2000"/>
              <a:t>P(α(</a:t>
            </a:r>
            <a:r>
              <a:rPr lang="fr-FR" sz="2000" i="1"/>
              <a:t>U</a:t>
            </a:r>
            <a:r>
              <a:rPr lang="fr-FR" sz="2000"/>
              <a:t>)) ;</a:t>
            </a:r>
            <a:endParaRPr sz="2000"/>
          </a:p>
          <a:p>
            <a:pPr marL="44958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2000"/>
              <a:t>Else</a:t>
            </a:r>
            <a:endParaRPr sz="2000"/>
          </a:p>
          <a:p>
            <a:pPr marL="44958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2000" i="1"/>
              <a:t>Traitement_terminaison(U);</a:t>
            </a:r>
            <a:endParaRPr sz="200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2000" i="1"/>
              <a:t>     Endif</a:t>
            </a:r>
            <a:endParaRPr sz="2000"/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fr-FR" sz="2000" i="1"/>
              <a:t>End_Algorithme</a:t>
            </a:r>
            <a:endParaRPr sz="2000"/>
          </a:p>
        </p:txBody>
      </p:sp>
      <p:sp>
        <p:nvSpPr>
          <p:cNvPr id="115" name="Google Shape;11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286000" y="2180432"/>
            <a:ext cx="304800" cy="288448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2948940" y="2029722"/>
            <a:ext cx="25908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Liste des paramètres</a:t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463040" y="2566703"/>
            <a:ext cx="1386840" cy="288447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45720" y="2946806"/>
            <a:ext cx="139827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Condition portant sur U</a:t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2011680" y="3252503"/>
            <a:ext cx="579120" cy="288447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2979420" y="3383893"/>
            <a:ext cx="189738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Transformation des paramètres</a:t>
            </a:r>
            <a:endParaRPr/>
          </a:p>
        </p:txBody>
      </p:sp>
      <p:cxnSp>
        <p:nvCxnSpPr>
          <p:cNvPr id="123" name="Google Shape;123;p4"/>
          <p:cNvCxnSpPr/>
          <p:nvPr/>
        </p:nvCxnSpPr>
        <p:spPr>
          <a:xfrm rot="10800000" flipH="1">
            <a:off x="2613660" y="2229547"/>
            <a:ext cx="365760" cy="14422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4" name="Google Shape;124;p4"/>
          <p:cNvCxnSpPr/>
          <p:nvPr/>
        </p:nvCxnSpPr>
        <p:spPr>
          <a:xfrm flipH="1">
            <a:off x="990600" y="2883184"/>
            <a:ext cx="472440" cy="1929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5" name="Google Shape;125;p4"/>
          <p:cNvCxnSpPr/>
          <p:nvPr/>
        </p:nvCxnSpPr>
        <p:spPr>
          <a:xfrm>
            <a:off x="2613660" y="3540950"/>
            <a:ext cx="518160" cy="2233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6" name="Google Shape;126;p4"/>
          <p:cNvSpPr/>
          <p:nvPr/>
        </p:nvSpPr>
        <p:spPr>
          <a:xfrm>
            <a:off x="5334000" y="3454637"/>
            <a:ext cx="502920" cy="4001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633343" y="2102270"/>
            <a:ext cx="28563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Algorithme P’(</a:t>
            </a: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5983863" y="2527306"/>
            <a:ext cx="375134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( </a:t>
            </a: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Condition(U) ) </a:t>
            </a: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934200" y="3709512"/>
            <a:ext cx="125335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End_while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223130" y="2969666"/>
            <a:ext cx="232640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Traitement_base(U)</a:t>
            </a:r>
            <a:r>
              <a:rPr lang="fr-FR" sz="2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sz="20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331720" y="3354978"/>
            <a:ext cx="20665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U🡨 </a:t>
            </a:r>
            <a:r>
              <a:rPr lang="fr-FR" sz="20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α(</a:t>
            </a:r>
            <a:r>
              <a:rPr lang="fr-FR" sz="2000" b="0" i="1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fr-FR" sz="20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061576" y="4184295"/>
            <a:ext cx="368459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Traitement_terminaison;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693313" y="4707345"/>
            <a:ext cx="278422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End_Algorithme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4855113" y="3924956"/>
            <a:ext cx="17183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Dérécursiver P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990600" y="5597800"/>
            <a:ext cx="616450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🡺 L’algorithme P’ non récursif équivaut à l’algorithme P.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>
            <a:spLocks noGrp="1"/>
          </p:cNvSpPr>
          <p:nvPr>
            <p:ph type="title"/>
          </p:nvPr>
        </p:nvSpPr>
        <p:spPr>
          <a:xfrm>
            <a:off x="1188720" y="365125"/>
            <a:ext cx="10165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fr-FR" i="1">
                <a:solidFill>
                  <a:srgbClr val="C00000"/>
                </a:solidFill>
              </a:rPr>
              <a:t>2</a:t>
            </a:r>
            <a:r>
              <a:rPr lang="fr-FR" b="1" i="1">
                <a:solidFill>
                  <a:srgbClr val="C00000"/>
                </a:solidFill>
              </a:rPr>
              <a:t>. Dérécursivation (récursivité terminale)</a:t>
            </a:r>
            <a:endParaRPr/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80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400"/>
              <a:buChar char="•"/>
            </a:pPr>
            <a:r>
              <a:rPr lang="fr-FR" sz="2400" b="1" dirty="0">
                <a:solidFill>
                  <a:srgbClr val="2E75B5"/>
                </a:solidFill>
              </a:rPr>
              <a:t>Exemple 1: Est-ce que a est diviseur de b ?</a:t>
            </a:r>
            <a:endParaRPr dirty="0"/>
          </a:p>
        </p:txBody>
      </p:sp>
      <p:sp>
        <p:nvSpPr>
          <p:cNvPr id="143" name="Google Shape;14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334000" y="3454637"/>
            <a:ext cx="502920" cy="4001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633343" y="2102270"/>
            <a:ext cx="378497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Diviseur (int a, int b)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6455787" y="2527306"/>
            <a:ext cx="28075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44958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</a:t>
            </a:r>
            <a:r>
              <a:rPr lang="fr-FR" sz="18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&lt;=0) then Erreur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934200" y="3709512"/>
            <a:ext cx="125335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End_while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963720" y="2969425"/>
            <a:ext cx="192873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While (a&lt;b</a:t>
            </a:r>
            <a:r>
              <a:rPr lang="fr-FR" sz="2000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fr-F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6331720" y="3354978"/>
            <a:ext cx="188545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Calibri"/>
              <a:buNone/>
            </a:pPr>
            <a:r>
              <a:rPr lang="fr-FR" sz="2000" i="1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fr-FR" sz="2000" i="1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lang="fr-FR" sz="2000" b="0" i="1" u="none" strike="noStrike" cap="none" dirty="0" smtClean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2000" b="0" i="1" u="none" strike="noStrike" cap="none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b-a</a:t>
            </a:r>
            <a:endParaRPr dirty="0"/>
          </a:p>
        </p:txBody>
      </p:sp>
      <p:sp>
        <p:nvSpPr>
          <p:cNvPr id="151" name="Google Shape;151;p5"/>
          <p:cNvSpPr/>
          <p:nvPr/>
        </p:nvSpPr>
        <p:spPr>
          <a:xfrm>
            <a:off x="6061576" y="4184295"/>
            <a:ext cx="260417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Return (a==b);</a:t>
            </a:r>
            <a:endParaRPr sz="20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693313" y="4707345"/>
            <a:ext cx="245240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End_Diviseur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4855113" y="3924956"/>
            <a:ext cx="171831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Dérécursiver la fonction Diviseur</a:t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777751" y="2217694"/>
            <a:ext cx="4077362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Diviseur (</a:t>
            </a: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8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fr-FR" sz="18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44958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</a:t>
            </a:r>
            <a:r>
              <a:rPr lang="fr-FR" sz="1800" i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&lt;=0) </a:t>
            </a: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Erreur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9580" marR="0" lvl="0" indent="44958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49580" marR="0" lvl="0" indent="44958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(a&gt;=b) return (a==b)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99160" marR="0" lvl="0" indent="449579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99160" marR="0" lvl="0" indent="449579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Return (Diviseur (</a:t>
            </a:r>
            <a:r>
              <a:rPr lang="fr-FR" sz="1800" i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fr-FR" sz="1800" i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fr-FR" sz="1800" i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fr-F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)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End_Diviseur</a:t>
            </a: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1188720" y="5369361"/>
            <a:ext cx="30704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580" lvl="0" indent="449580" algn="just"/>
            <a:r>
              <a:rPr lang="en-US" dirty="0">
                <a:solidFill>
                  <a:schemeClr val="dk1"/>
                </a:solidFill>
              </a:rPr>
              <a:t>If (</a:t>
            </a:r>
            <a:r>
              <a:rPr lang="en-US" dirty="0" smtClean="0">
                <a:solidFill>
                  <a:schemeClr val="dk1"/>
                </a:solidFill>
              </a:rPr>
              <a:t>a&lt;b</a:t>
            </a:r>
            <a:r>
              <a:rPr lang="en-US" dirty="0">
                <a:solidFill>
                  <a:schemeClr val="dk1"/>
                </a:solidFill>
              </a:rPr>
              <a:t>) </a:t>
            </a:r>
            <a:endParaRPr lang="en-US" dirty="0" smtClean="0">
              <a:solidFill>
                <a:schemeClr val="dk1"/>
              </a:solidFill>
            </a:endParaRPr>
          </a:p>
          <a:p>
            <a:pPr marL="449580" indent="449580" algn="just"/>
            <a:r>
              <a:rPr lang="en-US" dirty="0">
                <a:solidFill>
                  <a:schemeClr val="dk1"/>
                </a:solidFill>
              </a:rPr>
              <a:t>Return (</a:t>
            </a:r>
            <a:r>
              <a:rPr lang="en-US" dirty="0" err="1">
                <a:solidFill>
                  <a:schemeClr val="dk1"/>
                </a:solidFill>
              </a:rPr>
              <a:t>Diviseur</a:t>
            </a:r>
            <a:r>
              <a:rPr lang="en-US" dirty="0">
                <a:solidFill>
                  <a:schemeClr val="dk1"/>
                </a:solidFill>
              </a:rPr>
              <a:t> (</a:t>
            </a:r>
            <a:r>
              <a:rPr lang="en-US" i="1" dirty="0" err="1">
                <a:solidFill>
                  <a:schemeClr val="dk1"/>
                </a:solidFill>
              </a:rPr>
              <a:t>a</a:t>
            </a:r>
            <a:r>
              <a:rPr lang="en-US" dirty="0" err="1">
                <a:solidFill>
                  <a:schemeClr val="dk1"/>
                </a:solidFill>
              </a:rPr>
              <a:t>,</a:t>
            </a:r>
            <a:r>
              <a:rPr lang="en-US" i="1" dirty="0" err="1">
                <a:solidFill>
                  <a:schemeClr val="dk1"/>
                </a:solidFill>
              </a:rPr>
              <a:t>b</a:t>
            </a:r>
            <a:r>
              <a:rPr lang="en-US" dirty="0">
                <a:solidFill>
                  <a:schemeClr val="dk1"/>
                </a:solidFill>
              </a:rPr>
              <a:t>-</a:t>
            </a:r>
            <a:r>
              <a:rPr lang="en-US" i="1" dirty="0">
                <a:solidFill>
                  <a:schemeClr val="dk1"/>
                </a:solidFill>
              </a:rPr>
              <a:t>a</a:t>
            </a:r>
            <a:r>
              <a:rPr lang="en-US" dirty="0">
                <a:solidFill>
                  <a:schemeClr val="dk1"/>
                </a:solidFill>
              </a:rPr>
              <a:t>) )</a:t>
            </a:r>
          </a:p>
          <a:p>
            <a:pPr marL="449580" lvl="0" indent="449580" algn="just"/>
            <a:r>
              <a:rPr lang="en-US" dirty="0" smtClean="0">
                <a:solidFill>
                  <a:schemeClr val="dk1"/>
                </a:solidFill>
              </a:rPr>
              <a:t>else</a:t>
            </a:r>
          </a:p>
          <a:p>
            <a:pPr marL="449580" lvl="0" indent="449580" algn="just"/>
            <a:r>
              <a:rPr lang="en-US" dirty="0" smtClean="0">
                <a:solidFill>
                  <a:schemeClr val="dk1"/>
                </a:solidFill>
              </a:rPr>
              <a:t>return </a:t>
            </a:r>
            <a:r>
              <a:rPr lang="en-US" dirty="0">
                <a:solidFill>
                  <a:schemeClr val="dk1"/>
                </a:solidFill>
              </a:rPr>
              <a:t>(a==b)</a:t>
            </a:r>
          </a:p>
          <a:p>
            <a:pPr marL="899160" lvl="0" indent="449579" algn="just"/>
            <a:endParaRPr lang="en-US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body" idx="1"/>
          </p:nvPr>
        </p:nvSpPr>
        <p:spPr>
          <a:xfrm>
            <a:off x="838200" y="1690688"/>
            <a:ext cx="10515600" cy="480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 b="1"/>
              <a:t>récursif non terminal s’écrit : </a:t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-190500" y="2303402"/>
            <a:ext cx="6096000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Algorithme Q(U)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 </a:t>
            </a: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) Then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Traitement_A</a:t>
            </a: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Q(α(</a:t>
            </a: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));	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Traitement_B(</a:t>
            </a: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Else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Traitement_terminaison</a:t>
            </a: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Endif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End_Algorithme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>
            <a:spLocks noGrp="1"/>
          </p:cNvSpPr>
          <p:nvPr>
            <p:ph type="title"/>
          </p:nvPr>
        </p:nvSpPr>
        <p:spPr>
          <a:xfrm>
            <a:off x="1188720" y="365125"/>
            <a:ext cx="10165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fr-FR" i="1">
                <a:solidFill>
                  <a:srgbClr val="C00000"/>
                </a:solidFill>
              </a:rPr>
              <a:t>2</a:t>
            </a:r>
            <a:r>
              <a:rPr lang="fr-FR" b="1" i="1">
                <a:solidFill>
                  <a:srgbClr val="C00000"/>
                </a:solidFill>
              </a:rPr>
              <a:t>. Dérécursivation (récursivité non terminale)</a:t>
            </a:r>
            <a:endParaRPr/>
          </a:p>
        </p:txBody>
      </p:sp>
      <p:sp>
        <p:nvSpPr>
          <p:cNvPr id="163" name="Google Shape;16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313378" y="3210383"/>
            <a:ext cx="502920" cy="4001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816298" y="1461871"/>
            <a:ext cx="354113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Algorithme Q’(</a:t>
            </a: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6108511" y="1826853"/>
            <a:ext cx="20794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None/>
            </a:pPr>
            <a:r>
              <a:rPr lang="fr-FR" sz="20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Pile.init()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7150190" y="3982325"/>
            <a:ext cx="125335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End_while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7043095" y="2282680"/>
            <a:ext cx="263886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While(Condition (U)) do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430731" y="2729144"/>
            <a:ext cx="284577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Traitement_A(U)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155670" y="4435175"/>
            <a:ext cx="406451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Traitement_terminaison (U);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867892" y="6383812"/>
            <a:ext cx="278422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End_Algorithme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4853118" y="3680556"/>
            <a:ext cx="171831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Dérécursiver P</a:t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282003" y="5807111"/>
            <a:ext cx="354323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🡺 L’algorithme Q’ non récursif équivaut à l’algorithme Q.</a:t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479728" y="3566878"/>
            <a:ext cx="20665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U🡨 </a:t>
            </a:r>
            <a:r>
              <a:rPr lang="fr-FR" sz="20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α(</a:t>
            </a:r>
            <a:r>
              <a:rPr lang="fr-FR" sz="2000" b="0" i="1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lang="fr-FR" sz="2000" b="0" i="0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0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461697" y="3139085"/>
            <a:ext cx="241123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None/>
            </a:pPr>
            <a:r>
              <a:rPr lang="fr-FR" sz="20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Pile.push(U)</a:t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7043095" y="4874471"/>
            <a:ext cx="28093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</a:t>
            </a:r>
            <a:r>
              <a:rPr lang="fr-FR" sz="20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Pile.empty</a:t>
            </a: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570102" y="5272909"/>
            <a:ext cx="230864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None/>
            </a:pPr>
            <a:r>
              <a:rPr lang="fr-FR" sz="20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Pile.pop(U)</a:t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6521274" y="5657675"/>
            <a:ext cx="283616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Traitement_B(U)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7134950" y="5994005"/>
            <a:ext cx="125335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End_while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"/>
          <p:cNvSpPr txBox="1">
            <a:spLocks noGrp="1"/>
          </p:cNvSpPr>
          <p:nvPr>
            <p:ph type="body" idx="1"/>
          </p:nvPr>
        </p:nvSpPr>
        <p:spPr>
          <a:xfrm>
            <a:off x="838188" y="244726"/>
            <a:ext cx="10515600" cy="48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fr-FR" sz="2400" b="1"/>
              <a:t>récursif non terminal s’écrit : </a:t>
            </a:r>
            <a:endParaRPr/>
          </a:p>
        </p:txBody>
      </p:sp>
      <p:sp>
        <p:nvSpPr>
          <p:cNvPr id="187" name="Google Shape;187;p7"/>
          <p:cNvSpPr txBox="1">
            <a:spLocks noGrp="1"/>
          </p:cNvSpPr>
          <p:nvPr>
            <p:ph type="title"/>
          </p:nvPr>
        </p:nvSpPr>
        <p:spPr>
          <a:xfrm>
            <a:off x="1188720" y="365125"/>
            <a:ext cx="1016508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fr-FR" i="1">
                <a:solidFill>
                  <a:srgbClr val="C00000"/>
                </a:solidFill>
              </a:rPr>
              <a:t>2</a:t>
            </a:r>
            <a:r>
              <a:rPr lang="fr-FR" b="1" i="1">
                <a:solidFill>
                  <a:srgbClr val="C00000"/>
                </a:solidFill>
              </a:rPr>
              <a:t>. Dérécursivation (récursivité non terminale)</a:t>
            </a:r>
            <a:endParaRPr/>
          </a:p>
        </p:txBody>
      </p:sp>
      <p:sp>
        <p:nvSpPr>
          <p:cNvPr id="188" name="Google Shape;18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5313378" y="3210383"/>
            <a:ext cx="502920" cy="40011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C0000"/>
          </a:solidFill>
          <a:ln w="1270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5836726" y="1752222"/>
            <a:ext cx="3541137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Factoriel (int </a:t>
            </a: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fr-FR"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6220296" y="2160000"/>
            <a:ext cx="207941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None/>
            </a:pPr>
            <a:r>
              <a:rPr lang="fr-FR" sz="20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Pile.init()</a:t>
            </a:r>
            <a:endParaRPr sz="20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7174670" y="3919431"/>
            <a:ext cx="125335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End_while</a:t>
            </a:r>
            <a:endParaRPr sz="2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F=1</a:t>
            </a:r>
            <a:endParaRPr sz="2000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148218" y="2649433"/>
            <a:ext cx="182453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(n &gt; 1) do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867892" y="6383812"/>
            <a:ext cx="278422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End_Algorithme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4853118" y="3680556"/>
            <a:ext cx="171831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Dérécursiver la fonction Factoriel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6571428" y="3564765"/>
            <a:ext cx="185659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n = n-1</a:t>
            </a:r>
            <a:endParaRPr sz="2000" b="0" i="0" u="none" strike="noStrike" cap="non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541271" y="3109929"/>
            <a:ext cx="239841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None/>
            </a:pPr>
            <a:r>
              <a:rPr lang="fr-FR" sz="20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Pile.Push(</a:t>
            </a:r>
            <a:r>
              <a:rPr lang="fr-FR" sz="2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fr-FR" sz="20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7118396" y="4478520"/>
            <a:ext cx="28093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</a:t>
            </a:r>
            <a:r>
              <a:rPr lang="fr-FR" sz="20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Pile.empty</a:t>
            </a: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603436" y="4874261"/>
            <a:ext cx="22740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Calibri"/>
              <a:buNone/>
            </a:pPr>
            <a:r>
              <a:rPr lang="fr-FR" sz="2000" b="1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Pile.Pop(n)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6615355" y="5291564"/>
            <a:ext cx="191751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lang="fr-FR" sz="20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 = F*n;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113406" y="5637145"/>
            <a:ext cx="125335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End_while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184542" y="2491695"/>
            <a:ext cx="4674804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Factoriel (int n)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If ( n == 0)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Return 1 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Else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Return n*Factoriel (n-1) ;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End_Factoriel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079146" y="6010228"/>
            <a:ext cx="112300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Return F;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1652</TotalTime>
  <Words>348</Words>
  <Application>Microsoft Office PowerPoint</Application>
  <PresentationFormat>Grand écran</PresentationFormat>
  <Paragraphs>115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Courier New</vt:lpstr>
      <vt:lpstr>Noto Sans Symbols</vt:lpstr>
      <vt:lpstr>Office Theme</vt:lpstr>
      <vt:lpstr>Chapitre 3    Complexité des algorithmes récursifs et la dérécursivation</vt:lpstr>
      <vt:lpstr>Plan …</vt:lpstr>
      <vt:lpstr>1. Définition et principe</vt:lpstr>
      <vt:lpstr>2. Dérécursivation (récursivité terminale)</vt:lpstr>
      <vt:lpstr>2. Dérécursivation (récursivité terminale)</vt:lpstr>
      <vt:lpstr>2. Dérécursivation (récursivité non terminale)</vt:lpstr>
      <vt:lpstr>2. Dérécursivation (récursivité non terminale)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3    Complexité des algorithmes récursifs et la dérécursivation</dc:title>
  <dc:creator>Oussama Jebali</dc:creator>
  <cp:lastModifiedBy>user</cp:lastModifiedBy>
  <cp:revision>2</cp:revision>
  <dcterms:created xsi:type="dcterms:W3CDTF">2015-03-06T15:17:24Z</dcterms:created>
  <dcterms:modified xsi:type="dcterms:W3CDTF">2022-11-17T12:42:02Z</dcterms:modified>
</cp:coreProperties>
</file>